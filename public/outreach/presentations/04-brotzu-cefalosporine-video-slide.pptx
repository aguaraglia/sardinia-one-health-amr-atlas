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79dffb8de064e59" /><Relationship Type="http://schemas.openxmlformats.org/officeDocument/2006/relationships/extended-properties" Target="/docProps/app.xml" Id="R54b9a62b38a048ed" /><Relationship Type="http://schemas.openxmlformats.org/officeDocument/2006/relationships/officeDocument" Target="/ppt/presentation.xml" Id="Ra3663897e6484de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348871377f84adc"/>
  </p:sldMasterIdLst>
  <p:notesMasterIdLst>
    <p:notesMasterId xmlns:r="http://schemas.openxmlformats.org/officeDocument/2006/relationships" r:id="Rbe5447c7e1454ced"/>
  </p:notesMasterIdLst>
  <p:sldIdLst>
    <p:sldId xmlns:r="http://schemas.openxmlformats.org/officeDocument/2006/relationships" id="256" r:id="R516e13f064d644f2"/>
    <p:sldId xmlns:r="http://schemas.openxmlformats.org/officeDocument/2006/relationships" id="257" r:id="Rdba0c5e7bf5a4dd0"/>
    <p:sldId xmlns:r="http://schemas.openxmlformats.org/officeDocument/2006/relationships" id="258" r:id="R97d3096f79db4131"/>
    <p:sldId xmlns:r="http://schemas.openxmlformats.org/officeDocument/2006/relationships" id="259" r:id="R13f7485687984178"/>
    <p:sldId xmlns:r="http://schemas.openxmlformats.org/officeDocument/2006/relationships" id="260" r:id="R29b192874d394639"/>
    <p:sldId xmlns:r="http://schemas.openxmlformats.org/officeDocument/2006/relationships" id="261" r:id="Rcdc3e2b07b504f9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1a1004ba8534f2a" /><Relationship Type="http://schemas.openxmlformats.org/officeDocument/2006/relationships/slideMaster" Target="/ppt/slideMasters/slideMaster1.xml" Id="R1348871377f84adc" /><Relationship Type="http://schemas.openxmlformats.org/officeDocument/2006/relationships/notesMaster" Target="/ppt/notesMasters/notesMaster1.xml" Id="Rbe5447c7e1454ced" /><Relationship Type="http://schemas.openxmlformats.org/officeDocument/2006/relationships/presProps" Target="/ppt/presProps.xml" Id="R8a7592e4dd534295" /><Relationship Type="http://schemas.openxmlformats.org/officeDocument/2006/relationships/tableStyles" Target="/ppt/tableStyles.xml" Id="Rfbd111453d6840f8" /><Relationship Type="http://schemas.openxmlformats.org/officeDocument/2006/relationships/slide" Target="/ppt/slides/slide1.xml" Id="R516e13f064d644f2" /><Relationship Type="http://schemas.openxmlformats.org/officeDocument/2006/relationships/slide" Target="/ppt/slides/slide2.xml" Id="Rdba0c5e7bf5a4dd0" /><Relationship Type="http://schemas.openxmlformats.org/officeDocument/2006/relationships/slide" Target="/ppt/slides/slide3.xml" Id="R97d3096f79db4131" /><Relationship Type="http://schemas.openxmlformats.org/officeDocument/2006/relationships/slide" Target="/ppt/slides/slide4.xml" Id="R13f7485687984178" /><Relationship Type="http://schemas.openxmlformats.org/officeDocument/2006/relationships/slide" Target="/ppt/slides/slide5.xml" Id="R29b192874d394639" /><Relationship Type="http://schemas.openxmlformats.org/officeDocument/2006/relationships/slide" Target="/ppt/slides/slide6.xml" Id="Rcdc3e2b07b504f9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3241680fa948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de091fbde90402b" /><Relationship Type="http://schemas.openxmlformats.org/officeDocument/2006/relationships/notesMaster" Target="/ppt/notesMasters/notesMaster1.xml" Id="R9bc98fbc5bf447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ed831833a34125" /><Relationship Type="http://schemas.openxmlformats.org/officeDocument/2006/relationships/notesMaster" Target="/ppt/notesMasters/notesMaster1.xml" Id="Rced061b6dcee48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1f03378fe9446c6" /><Relationship Type="http://schemas.openxmlformats.org/officeDocument/2006/relationships/notesMaster" Target="/ppt/notesMasters/notesMaster1.xml" Id="Rc5dca25df5bd43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c232076cdd5491e" /><Relationship Type="http://schemas.openxmlformats.org/officeDocument/2006/relationships/notesMaster" Target="/ppt/notesMasters/notesMaster1.xml" Id="R2f9d02a988ee4ba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3e5b928da374301" /><Relationship Type="http://schemas.openxmlformats.org/officeDocument/2006/relationships/notesMaster" Target="/ppt/notesMasters/notesMaster1.xml" Id="Rda9e573bd18049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dc25f7e52bf49ea" /><Relationship Type="http://schemas.openxmlformats.org/officeDocument/2006/relationships/notesMaster" Target="/ppt/notesMasters/notesMaster1.xml" Id="R4ec838dac86049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Una storia sarda che collega curiosità scientifica e salute globale. Introduci il tema con una domanda semplice e collega l’illustrazione al messaggio principale.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Spiega il concetto centrale: Le osservazioni di Brotzu aprirono una lunga ricerca sulle cefalosporine.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Svela i tre punti uno alla volta. Riprendi: Le osservazioni di Brotzu aprirono una lunga ricerca sulle cefalosporine. Una scoperta non diventa subito una terapia: servono isolamento, sviluppo, sperimentazione e uso responsabile. La storia celebra la ricerca, non giustifica l’uso improprio degli antibiotici.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Contrasta interpretazione corretta e scorciatoia da evitare. Enfatizza che il contesto è parte del dato.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Concludi con un’azione concreta: Conservare l’efficacia delle terapie è il modo contemporaneo di onorare quella ricerca.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Mostra le fonti cliccabili e invita a verificare il contesto originale prima di riutilizzare un dato.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566105999a4a7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7c110b2b6243a2" /><Relationship Type="http://schemas.openxmlformats.org/officeDocument/2006/relationships/slideLayout" Target="/ppt/slideLayouts/slideLayout1.xml" Id="R3882d58bfae3463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882d58bfae346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98dbb727b149ae" /><Relationship Type="http://schemas.openxmlformats.org/officeDocument/2006/relationships/image" Target="/ppt/media/image.png" Id="Rb761854945144e7b" /><Relationship Type="http://schemas.openxmlformats.org/officeDocument/2006/relationships/notesSlide" Target="/ppt/notesSlides/notesSlide1.xml" Id="Re21586ef035f457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e45f0c3ad84f0b" /><Relationship Type="http://schemas.openxmlformats.org/officeDocument/2006/relationships/notesSlide" Target="/ppt/notesSlides/notesSlide2.xml" Id="R283261dcdc264e9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0e89792e694ecd" /><Relationship Type="http://schemas.openxmlformats.org/officeDocument/2006/relationships/notesSlide" Target="/ppt/notesSlides/notesSlide3.xml" Id="R9eb52272227c4d9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fd3a5b7dec4b3c" /><Relationship Type="http://schemas.openxmlformats.org/officeDocument/2006/relationships/notesSlide" Target="/ppt/notesSlides/notesSlide4.xml" Id="R7cdc104730e3498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8d7c19bdec4943" /><Relationship Type="http://schemas.openxmlformats.org/officeDocument/2006/relationships/hyperlink" Target="https://aguaraglia.github.io/sardinia-one-health-amr-atlas/" TargetMode="External" Id="R196d54d098784ba8" /><Relationship Type="http://schemas.openxmlformats.org/officeDocument/2006/relationships/notesSlide" Target="/ppt/notesSlides/notesSlide5.xml" Id="R6b7441b08d8f45d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cbf3ec01334a4f" /><Relationship Type="http://schemas.openxmlformats.org/officeDocument/2006/relationships/hyperlink" Target="https://www.treccani.it/enciclopedia/giuseppe-brotzu/" TargetMode="External" Id="Rff3726a0061f461c" /><Relationship Type="http://schemas.openxmlformats.org/officeDocument/2006/relationships/hyperlink" Target="https://www.treccani.it/enciclopedia/giuseppe-brotzu/" TargetMode="External" Id="Rd4405e627bc84e42" /><Relationship Type="http://schemas.openxmlformats.org/officeDocument/2006/relationships/notesSlide" Target="/ppt/notesSlides/notesSlide6.xml" Id="R076c54eaabcb42c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61854945144e7b"/>
          <a:srcRect xmlns:a="http://schemas.openxmlformats.org/drawingml/2006/main" l="0" t="12222" r="0" b="12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235A65-B4AE-4A57-B6B9-4A0305C17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2C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977DC3-8D2F-4EAC-A55E-BC7F8F0BF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4668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49C8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5A5991-7402-4404-9846-8199E7D1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85800"/>
            <a:ext cx="1257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333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62C56"/>
                </a:solidFill>
              </a:defRPr>
            </a:pPr>
            <a:r>
              <a:rPr sz="900" b="1">
                <a:solidFill>
                  <a:srgbClr val="062C56"/>
                </a:solidFill>
              </a:rPr>
              <a:t>MODULO 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4A5897-3251-4F57-A56F-619B1EF9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38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2901"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Giuseppe Brotzu e le cefalosporine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40E0C6-1A53-433A-A427-9531B85D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81375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D6EDF3"/>
                </a:solidFill>
              </a:defRPr>
            </a:pPr>
            <a:r>
              <a:rPr sz="1725" b="0">
                <a:solidFill>
                  <a:srgbClr val="D6EDF3"/>
                </a:solidFill>
              </a:rPr>
              <a:t>Una storia sarda che collega curiosità scientifica e salute globale.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71782-8A95-4784-8762-5E3D11B3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91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61905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49C8DB"/>
                </a:solidFill>
              </a:defRPr>
            </a:pPr>
            <a:r>
              <a:rPr sz="1050" b="1">
                <a:solidFill>
                  <a:srgbClr val="49C8DB"/>
                </a:solidFill>
              </a:rPr>
              <a:t>Video-slide divulgativo · Sardinia One Health AMR Atlas</a:t>
            </a:r>
          </a:p>
        </p:txBody>
      </p:sp>
    </p:spTree>
    <p:extLst>
      <p:ext uri="{BB962C8B-B14F-4D97-AF65-F5344CB8AC3E}">
        <p14:creationId xmlns:p14="http://schemas.microsoft.com/office/powerpoint/2010/main" val="9750364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2FFB2F-2267-4D34-8919-EED1D41FC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4456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2C56"/>
                </a:solidFill>
              </a:defRPr>
            </a:pPr>
            <a:r>
              <a:rPr sz="3150" b="1">
                <a:solidFill>
                  <a:srgbClr val="062C56"/>
                </a:solidFill>
              </a:rPr>
              <a:t>Una storia sarda che collega curiosità scientifica e salute globale.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A1D38E-1A0A-4077-99C1-38FD1E0D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16F24"/>
                </a:solidFill>
              </a:defRPr>
            </a:pPr>
            <a:r>
              <a:rPr sz="1350" b="1">
                <a:solidFill>
                  <a:srgbClr val="C16F24"/>
                </a:solidFill>
              </a:rPr>
              <a:t>La domanda che guida questo modulo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10FCAD-FA53-4374-A863-571C405E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953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D21458-A541-4086-BFD9-DC92E147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19375"/>
            <a:ext cx="10096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62C56"/>
                </a:solidFill>
              </a:defRPr>
            </a:pPr>
            <a:r>
              <a:rPr sz="2325" b="1">
                <a:solidFill>
                  <a:srgbClr val="062C56"/>
                </a:solidFill>
              </a:rPr>
              <a:t>Le osservazioni di Brotzu aprirono una lunga ricerca sulle cefalosporine.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4FA9F0-35D9-424B-A808-070136B70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0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1465F"/>
                </a:solidFill>
              </a:defRPr>
            </a:pPr>
            <a:r>
              <a:rPr sz="1350" b="0">
                <a:solidFill>
                  <a:srgbClr val="31465F"/>
                </a:solidFill>
              </a:rPr>
              <a:t>Partiamo da un concetto chiaro, poi vediamo come usarlo nella vita reale.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EFC984-73F5-4121-9EAC-BC462168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B0A889-9DB2-474C-B9E9-42C075A2F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04 · SLIDE</a:t>
            </a:r>
          </a:p>
        </p:txBody>
      </p:sp>
    </p:spTree>
    <p:extLst>
      <p:ext uri="{BB962C8B-B14F-4D97-AF65-F5344CB8AC3E}">
        <p14:creationId xmlns:p14="http://schemas.microsoft.com/office/powerpoint/2010/main" val="17984808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80845D-FF54-4401-8553-93E9140BE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2C56"/>
                </a:solidFill>
              </a:defRPr>
            </a:pPr>
            <a:r>
              <a:rPr sz="3000" b="1">
                <a:solidFill>
                  <a:srgbClr val="062C56"/>
                </a:solidFill>
              </a:rPr>
              <a:t>Tre idee da portare con sé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94BB55-C51C-4F35-832C-4405D7095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49C8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DCA6C8-DAA7-44B9-918D-DAC5614D4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4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62C56"/>
                </a:solidFill>
              </a:defRPr>
            </a:pPr>
            <a:r>
              <a:rPr sz="1875" b="1">
                <a:solidFill>
                  <a:srgbClr val="062C56"/>
                </a:solidFill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E9932B-41AF-435C-94F6-67E1FBC85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43075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62C56"/>
                </a:solidFill>
              </a:defRPr>
            </a:pPr>
            <a:r>
              <a:rPr sz="1875" b="1">
                <a:solidFill>
                  <a:srgbClr val="062C56"/>
                </a:solidFill>
              </a:rPr>
              <a:t>Le osservazioni di Brotzu aprirono una lunga ricerca sulle cefalosporine.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F1A24C-1FD3-4527-A4A4-3E060435F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D11E06-DE7B-4C82-9A07-72FEBDE4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992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4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62C56"/>
                </a:solidFill>
              </a:defRPr>
            </a:pPr>
            <a:r>
              <a:rPr sz="1875" b="1">
                <a:solidFill>
                  <a:srgbClr val="062C56"/>
                </a:solidFill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BE3C4E-BB56-4688-88DD-BF3FF2EC8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76575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62C56"/>
                </a:solidFill>
              </a:defRPr>
            </a:pPr>
            <a:r>
              <a:rPr sz="1875" b="0">
                <a:solidFill>
                  <a:srgbClr val="062C56"/>
                </a:solidFill>
              </a:rPr>
              <a:t>Una scoperta non diventa subito una terapia: servono isolamento, sviluppo, sperimentazione e uso responsabile.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245640-B6DC-44BD-A68D-D3A6C335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8D394D-20FE-493E-93D3-0AE0EB98F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4342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4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62C56"/>
                </a:solidFill>
              </a:defRPr>
            </a:pPr>
            <a:r>
              <a:rPr sz="1875" b="1">
                <a:solidFill>
                  <a:srgbClr val="062C56"/>
                </a:solidFill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D8A46E-D5FE-4EF9-8840-E70C1CF8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10075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62C56"/>
                </a:solidFill>
              </a:defRPr>
            </a:pPr>
            <a:r>
              <a:rPr sz="1875" b="0">
                <a:solidFill>
                  <a:srgbClr val="062C56"/>
                </a:solidFill>
              </a:rPr>
              <a:t>La storia celebra la ricerca, non giustifica l’uso improprio degli antibiotici.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C3ECDB-F4AE-4F46-A020-0ECAFBBB8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6ED400-AD6A-4B41-8FAF-3DF39E75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04 · SLIDE</a:t>
            </a:r>
          </a:p>
        </p:txBody>
      </p:sp>
    </p:spTree>
    <p:extLst>
      <p:ext uri="{BB962C8B-B14F-4D97-AF65-F5344CB8AC3E}">
        <p14:creationId xmlns:p14="http://schemas.microsoft.com/office/powerpoint/2010/main" val="2756294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F7634A-80EA-46ED-BD0B-DFBE48EB1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2C56"/>
                </a:solidFill>
              </a:defRPr>
            </a:pPr>
            <a:r>
              <a:rPr sz="3000" b="1">
                <a:solidFill>
                  <a:srgbClr val="062C56"/>
                </a:solidFill>
              </a:rPr>
              <a:t>Una lettura responsabile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F2C1E5-0D16-41A1-951A-FFF85B463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000625" cy="323850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761BA6-DB2F-40E7-8FA3-33E074F1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57350"/>
            <a:ext cx="5448300" cy="323850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062C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715445-F3E0-4382-ADFF-E60B6542A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3835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666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16F24"/>
                </a:solidFill>
              </a:defRPr>
            </a:pPr>
            <a:r>
              <a:rPr sz="1500" b="1">
                <a:solidFill>
                  <a:srgbClr val="C16F24"/>
                </a:solidFill>
              </a:rPr>
              <a:t>Cosa possiamo dire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2F162D-DCBD-45ED-9483-5CB2696B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71750"/>
            <a:ext cx="4000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62C56"/>
                </a:solidFill>
              </a:defRPr>
            </a:pPr>
            <a:r>
              <a:rPr sz="2025" b="1">
                <a:solidFill>
                  <a:srgbClr val="062C56"/>
                </a:solidFill>
              </a:rPr>
              <a:t>Una scoperta non diventa subito una terapia: servono isolamento, sviluppo, sperimentazione e uso responsabile.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E302CF-A24D-4FFC-97B4-36D99211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383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666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49C8DB"/>
                </a:solidFill>
              </a:defRPr>
            </a:pPr>
            <a:r>
              <a:rPr sz="1500" b="1">
                <a:solidFill>
                  <a:srgbClr val="49C8DB"/>
                </a:solidFill>
              </a:rPr>
              <a:t>Cosa non possiamo concludere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6866F0-E753-4742-851D-4847E8A32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71750"/>
            <a:ext cx="42862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La storia celebra la ricerca, non giustifica l’uso improprio degli antibiotici.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19D9A4-4C1D-4138-8A78-456DB3E02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36604D-24E7-4D56-89EB-479A3B16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04 · SLIDE</a:t>
            </a:r>
          </a:p>
        </p:txBody>
      </p:sp>
    </p:spTree>
    <p:extLst>
      <p:ext uri="{BB962C8B-B14F-4D97-AF65-F5344CB8AC3E}">
        <p14:creationId xmlns:p14="http://schemas.microsoft.com/office/powerpoint/2010/main" val="3292395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786CE7-ADD5-441D-80D8-1A99FE47A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2C56"/>
                </a:solidFill>
              </a:defRPr>
            </a:pPr>
            <a:r>
              <a:rPr sz="3000" b="1">
                <a:solidFill>
                  <a:srgbClr val="062C56"/>
                </a:solidFill>
              </a:rPr>
              <a:t>Dalla conoscenza all’azione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26C26B-7011-4B17-ACCE-80B0E4630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347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62C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BA447C-3AD4-4925-9FAC-BAD0F1605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86000"/>
            <a:ext cx="1000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7312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Conservare l’efficacia delle terapie è il modo contemporaneo di onorare quella ricerca.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85BFBF-542F-4A16-84E4-4F8F5153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16F24"/>
                </a:solidFill>
              </a:defRPr>
            </a:pPr>
            <a:r>
              <a:rPr sz="1350" b="1">
                <a:solidFill>
                  <a:srgbClr val="C16F24"/>
                </a:solidFill>
              </a:rPr>
              <a:t>Approfondisci nel cruscotto pubblico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A8E4E9-6BDE-4F74-BDF6-23631F7F2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6E8B"/>
                </a:solidFill>
              </a:defRPr>
            </a:pPr>
            <a:r>
              <a:rPr sz="1800" b="1">
                <a:solidFill>
                  <a:srgbClr val="176E8B"/>
                </a:solidFill>
                <a:hlinkClick xmlns:r="http://schemas.openxmlformats.org/officeDocument/2006/relationships" r:id="R196d54d098784ba8"/>
              </a:rPr>
              <a:t>Apri il Sardinia One Health AMR Atlas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F41179-E2D5-42E9-9355-CD3722484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3617C9-D6E5-49DD-82FD-ADF23EFA7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04 · SLIDE</a:t>
            </a:r>
          </a:p>
        </p:txBody>
      </p:sp>
    </p:spTree>
    <p:extLst>
      <p:ext uri="{BB962C8B-B14F-4D97-AF65-F5344CB8AC3E}">
        <p14:creationId xmlns:p14="http://schemas.microsoft.com/office/powerpoint/2010/main" val="12914041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2C5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246D4C-1554-4EB5-808C-521EB8209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Fonti e approfondimenti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26C389-A2E7-4D8C-9B19-E50079CFD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428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49C8DB"/>
                </a:solidFill>
              </a:defRPr>
            </a:pPr>
            <a:r>
              <a:rPr sz="1350" b="1">
                <a:solidFill>
                  <a:srgbClr val="49C8DB"/>
                </a:solidFill>
              </a:rPr>
              <a:t>Fonte essenziale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26232F-014B-4EA7-88F6-4320E89B6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4615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  <a:hlinkClick xmlns:r="http://schemas.openxmlformats.org/officeDocument/2006/relationships" r:id="Rff3726a0061f461c"/>
              </a:rPr>
              <a:t>Treccani · Giuseppe Brotzu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3D45E1-68DE-408B-8F54-8C3AC356B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14625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C4D7E6"/>
                </a:solidFill>
              </a:defRPr>
            </a:pPr>
            <a:r>
              <a:rPr sz="1350" b="0">
                <a:solidFill>
                  <a:srgbClr val="C4D7E6"/>
                </a:solidFill>
                <a:hlinkClick xmlns:r="http://schemas.openxmlformats.org/officeDocument/2006/relationships" r:id="Rd4405e627bc84e42"/>
              </a:rPr>
              <a:t>https://www.treccani.it/enciclopedia/giuseppe-brotzu/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FE64C2-9D60-4971-A1EB-DC5A70A3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57625"/>
            <a:ext cx="10810875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D40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3E1D3E-93D8-4661-B23D-80E09A067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4815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Questo modulo è divulgativo: non sostituisce indicazioni cliniche, veterinarie o regolatorie.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B0BDB7-DF89-4779-A7A4-638881D32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91250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C4D7E6"/>
                </a:solidFill>
              </a:defRPr>
            </a:pPr>
            <a:r>
              <a:rPr sz="825" b="1">
                <a:solidFill>
                  <a:srgbClr val="C4D7E6"/>
                </a:solidFill>
              </a:rPr>
              <a:t>Materiale prodotto per Sardinia One Health AMR Atlas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FA32F1-4472-4096-B677-1753AB9BB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96A8A4-2134-4BA5-9F0B-ED156BB6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04 · SLIDE</a:t>
            </a:r>
          </a:p>
        </p:txBody>
      </p:sp>
    </p:spTree>
    <p:extLst>
      <p:ext uri="{BB962C8B-B14F-4D97-AF65-F5344CB8AC3E}">
        <p14:creationId xmlns:p14="http://schemas.microsoft.com/office/powerpoint/2010/main" val="16979580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2026-07-19T00:16:52.0130000Z</dcterms:created>
  <dcterms:modified xsi:type="dcterms:W3CDTF">2026-07-19T00:16:52.0130000Z</dcterms:modified>
</coreProperties>
</file>