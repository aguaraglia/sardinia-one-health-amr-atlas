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UN LUOGO DI RICERCA
La storia delle cefalosporine passa dalla Sardegna
Tra il 1943 e il 1945, all’Istituto di Igiene dell’Università di Cagliari, Brotzu e il collaboratore Antonio Spanedda studiarono le acque costiere di Su Siccu, nel porto di Cagliari, vicino a uno scarico fognario. L’aneddoto da cui partirono era sorprendente: nonostante quelle acque contaminate, le persone che vi facevano il bagno non sembravano sviluppare epidemie intestinali. Da un campione fu isolato il fungo Cephalosporium acremonium, oggi Acremonium chrysogenum, produttore di sostanze antibatteriche.
Giuseppe Brotzu · ritratto storico
Su Siccu
porto di Cagliari · acque costiere presso uno scarico fognario
osservazione epidemiologica
→
campione d’acqua
→
Cephalosporium
→
attività antibatterica
Il passaggio decisivo: Brotzu inviò poi una coltura e i risultati a Oxford, dove il gruppo di Florey e Abraham poté isolare e caratterizzare le cefalosporine.
i
La scoperta nacque da un’osservazione locale e da un campione ambientale, ma diventò terapia solo attraverso isolamento, chimica, verifiche e sviluppo internazionale.
Fonti della scheda
Treccani · Giuseppe Brotzu ↗
Abraham · Cephalosporins 1945–1986 ↗
AIFA · Storia degli antibiotici ↗
Bo · Brotzu and the discovery of cephalosporins ↗
Wikimedia Commons · Ritratto di Brotzu ↗</a:t>
            </a:r>
          </a:p>
          <a:p>
            <a:endParaRPr lang="it-IT"/>
          </a:p>
          <a:p>
            <a:r>
              <a:rPr lang="it-IT"/>
              <a:t>Fonti cliccabili:</a:t>
            </a:r>
          </a:p>
          <a:p>
            <a:r>
              <a:rPr lang="it-IT"/>
              <a:t>Treccani · Giuseppe Brotzu ↗: https://www.treccani.it/enciclopedia/giuseppe-brotzu/</a:t>
            </a:r>
          </a:p>
          <a:p>
            <a:r>
              <a:rPr lang="it-IT"/>
              <a:t>Abraham · Cephalosporins 1945–1986 ↗: https://pubmed.ncbi.nlm.nih.gov/3319494/</a:t>
            </a:r>
          </a:p>
          <a:p>
            <a:r>
              <a:rPr lang="it-IT"/>
              <a:t>AIFA · Storia degli antibiotici ↗: https://www.aifa.gov.it/-/storia-dei-farmaci-la-scoperta-degli-antibiotici/1000</a:t>
            </a:r>
          </a:p>
          <a:p>
            <a:r>
              <a:rPr lang="it-IT"/>
              <a:t>Bo · Brotzu and the discovery of cephalosporins ↗: https://www.sciencedirect.com/science/article/pii/S1198743X15302664</a:t>
            </a:r>
          </a:p>
          <a:p>
            <a:r>
              <a:rPr lang="it-IT"/>
              <a:t>Wikimedia Commons · Ritratto di Brotzu ↗: https://commons.wikimedia.org/wiki/File:Giuseppebrotzu.gif</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DALLA OSSERVAZIONE
Una molecola promettente non è ancora una terapia
Tra osservazione, isolamento, caratterizzazione, sviluppo industriale, studi clinici e autorizzazione esiste una lunga catena di verifiche.
OSSERVAZIONE
→
MOLECOLA
→
SVILUPPO
→
STUDI
→
USO CLINICO
i
La traduzione dalla ricerca alla cura richiede prove progressive e valutazioni indipendenti.
Fonti della scheda
EMA · Medicines development ↗</a:t>
            </a:r>
          </a:p>
          <a:p>
            <a:endParaRPr lang="it-IT"/>
          </a:p>
          <a:p>
            <a:r>
              <a:rPr lang="it-IT"/>
              <a:t>Fonti cliccabili:</a:t>
            </a:r>
          </a:p>
          <a:p>
            <a:r>
              <a:rPr lang="it-IT"/>
              <a:t>EMA · Medicines development ↗: https://www.ema.europa.eu/en/human-regulatory-overview/research-development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CHE COSA SONO
Le cefalosporine sono una famiglia di antibiotici
Le cefalosporine appartengono ai beta-lattamici e interferiscono con la costruzione della parete batterica. Le generazioni hanno spettri e profili diversi.
I
PRIMA GENERAZIONE
Spettro e indicazioni specifiche.
II
SECONDA
Profilo diverso, non “migliore” in assoluto.
III–IV
GENERAZIONI SUCCESSIVE
Scelte guidate da contesto e resistenze.
V
NUOVE MOLECOLE
Uso mirato e sorveglianza.
i
“Generazione” non è una classifica universale: indica differenze farmacologiche e microbiologiche.
Fonti della scheda
WHO · AWaRe antibiotic book ↗
Merck Manual · Cephalosporins ↗</a:t>
            </a:r>
          </a:p>
          <a:p>
            <a:endParaRPr lang="it-IT"/>
          </a:p>
          <a:p>
            <a:r>
              <a:rPr lang="it-IT"/>
              <a:t>Fonti cliccabili:</a:t>
            </a:r>
          </a:p>
          <a:p>
            <a:r>
              <a:rPr lang="it-IT"/>
              <a:t>WHO · AWaRe antibiotic book ↗: https://www.who.int/publications/i/item/9789240061829</a:t>
            </a:r>
          </a:p>
          <a:p>
            <a:r>
              <a:rPr lang="it-IT"/>
              <a:t>Merck Manual · Cephalosporins ↗: https://www.merckmanuals.com/professional/infectious-diseases/bacteria-and-antibacterial-medications/cephalosporins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PONTE SCIENTIFICO
La scoperta è diventata conoscenza condivisa
La storia delle cefalosporine mostra il valore di campioni ambientali, microbiologia, chimica, farmacologia e clinica che lavorano in sequenza.
MICROBIOLOGIA
CHIMICA
FARMACOLOGIA
CLINICA
evidenza
i
La ricerca di base e la ricerca clinica si sostengono a vicenda, ma rispondono a domande diverse.
Fonti della scheda
WHO · Research and development ↗</a:t>
            </a:r>
          </a:p>
          <a:p>
            <a:endParaRPr lang="it-IT"/>
          </a:p>
          <a:p>
            <a:r>
              <a:rPr lang="it-IT"/>
              <a:t>Fonti cliccabili:</a:t>
            </a:r>
          </a:p>
          <a:p>
            <a:r>
              <a:rPr lang="it-IT"/>
              <a:t>WHO · Research and development ↗: https://www.who.int/teams/antimicrobial-resistance/research-and-development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LA CAUTELA
La storia non prescrive il farmaco
La scelta di un antibiotico dipende da diagnosi, sede dell’infezione, sensibilità, allergie, funzione d’organo e linee guida aggiornate.
01
Diagnosi
Quale infezione?
→
02
Test
Quale sensibilità?
→
03
Decisione
Quale rapporto beneficio-rischio?
i
Il riferimento storico è culturale; la terapia è una decisione clinica attuale.
Fonti della scheda
AIFA · Uso consapevole degli antibiotici ↗</a:t>
            </a:r>
          </a:p>
          <a:p>
            <a:endParaRPr lang="it-IT"/>
          </a:p>
          <a:p>
            <a:r>
              <a:rPr lang="it-IT"/>
              <a:t>Fonti cliccabili:</a:t>
            </a:r>
          </a:p>
          <a:p>
            <a:r>
              <a:rPr lang="it-IT"/>
              <a:t>AIFA · Uso consapevole degli antibiotici ↗: https://www.aifa.gov.it/campagna-sull-uso-consapevole-degli-antibiotici-2025</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EREDITÀ
Il contributo sardo vive nella cultura della prova
Brotzu ricorda che osservazioni locali possono aprire strade internazionali, se documentate, replicate e trasformate in evidenza.
Osservare
un fenomeno nel territorio
Verificare
con metodi, controlli e confronto
Condividere
risultati, limiti e responsabilità
i
La migliore eredità della ricerca è il metodo: curiosità, rigore e trasparenza.
Fonti della scheda
Treccani · Giuseppe Brotzu ↗</a:t>
            </a:r>
          </a:p>
          <a:p>
            <a:endParaRPr lang="it-IT"/>
          </a:p>
          <a:p>
            <a:r>
              <a:rPr lang="it-IT"/>
              <a:t>Fonti cliccabili:</a:t>
            </a:r>
          </a:p>
          <a:p>
            <a:r>
              <a:rPr lang="it-IT"/>
              <a:t>Treccani · Giuseppe Brotzu ↗: https://www.treccani.it/enciclopedia/giuseppe-brotzu/</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commons.wikimedia.org/wiki/File:Giuseppebrotzu.gif" TargetMode="External"/><Relationship Id="rId3" Type="http://schemas.openxmlformats.org/officeDocument/2006/relationships/image" Target="../media/image1.png"/><Relationship Id="rId7" Type="http://schemas.openxmlformats.org/officeDocument/2006/relationships/hyperlink" Target="https://www.sciencedirect.com/science/article/pii/S1198743X15302664"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aifa.gov.it/-/storia-dei-farmaci-la-scoperta-degli-antibiotici/1000" TargetMode="External"/><Relationship Id="rId5" Type="http://schemas.openxmlformats.org/officeDocument/2006/relationships/hyperlink" Target="https://pubmed.ncbi.nlm.nih.gov/3319494/" TargetMode="External"/><Relationship Id="rId4" Type="http://schemas.openxmlformats.org/officeDocument/2006/relationships/hyperlink" Target="https://www.treccani.it/enciclopedia/giuseppe-brotzu/"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www.ema.europa.eu/en/human-regulatory-overview/research-developmen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www.merckmanuals.com/professional/infectious-diseases/bacteria-and-antibacterial-medications/cephalosporins" TargetMode="External"/><Relationship Id="rId4" Type="http://schemas.openxmlformats.org/officeDocument/2006/relationships/hyperlink" Target="https://www.who.int/publications/i/item/9789240061829"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who.int/teams/antimicrobial-resistance/research-and-developmen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www.aifa.gov.it/campagna-sull-uso-consapevole-degli-antibiotici-2025"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www.treccani.it/enciclopedia/giuseppe-brotz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1728716" y="0"/>
            <a:ext cx="8734567" cy="6858000"/>
          </a:xfrm>
          <a:prstGeom prst="rect">
            <a:avLst/>
          </a:prstGeom>
        </p:spPr>
      </p:pic>
      <p:sp>
        <p:nvSpPr>
          <p:cNvPr id="3" name="SourceLink_1_34" descr="Treccani · Giuseppe Brotzu ↗">
            <a:hlinkClick r:id="rId4"/>
            <a:extLst>
              <a:ext uri="{FF2B5EF4-FFF2-40B4-BE49-F238E27FC236}">
                <a16:creationId xmlns:a16="http://schemas.microsoft.com/office/drawing/2014/main" id="{4321700C-FBE7-AE0A-F253-97D80AFB6027}"/>
              </a:ext>
            </a:extLst>
          </p:cNvPr>
          <p:cNvSpPr/>
          <p:nvPr/>
        </p:nvSpPr>
        <p:spPr>
          <a:xfrm>
            <a:off x="2918097" y="6444835"/>
            <a:ext cx="1040216" cy="105450"/>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SourceLink_1_35" descr="Abraham · Cephalosporins 1945–1986 ↗">
            <a:hlinkClick r:id="rId5"/>
            <a:extLst>
              <a:ext uri="{FF2B5EF4-FFF2-40B4-BE49-F238E27FC236}">
                <a16:creationId xmlns:a16="http://schemas.microsoft.com/office/drawing/2014/main" id="{AB569702-5FD2-D9F0-6920-24F536896643}"/>
              </a:ext>
            </a:extLst>
          </p:cNvPr>
          <p:cNvSpPr/>
          <p:nvPr/>
        </p:nvSpPr>
        <p:spPr>
          <a:xfrm>
            <a:off x="4045637" y="6444835"/>
            <a:ext cx="1420434" cy="105450"/>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SourceLink_1_36" descr="AIFA · Storia degli antibiotici ↗">
            <a:hlinkClick r:id="rId6"/>
            <a:extLst>
              <a:ext uri="{FF2B5EF4-FFF2-40B4-BE49-F238E27FC236}">
                <a16:creationId xmlns:a16="http://schemas.microsoft.com/office/drawing/2014/main" id="{84A32A6C-6D2A-C829-BF55-111909BBBF82}"/>
              </a:ext>
            </a:extLst>
          </p:cNvPr>
          <p:cNvSpPr/>
          <p:nvPr/>
        </p:nvSpPr>
        <p:spPr>
          <a:xfrm>
            <a:off x="5553395" y="6444835"/>
            <a:ext cx="1067937" cy="105450"/>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SourceLink_1_37" descr="Bo · Brotzu and the discovery of cephalosporins ↗">
            <a:hlinkClick r:id="rId7"/>
            <a:extLst>
              <a:ext uri="{FF2B5EF4-FFF2-40B4-BE49-F238E27FC236}">
                <a16:creationId xmlns:a16="http://schemas.microsoft.com/office/drawing/2014/main" id="{EDD71ABF-C906-2E1A-AA6B-BB0870E6C50A}"/>
              </a:ext>
            </a:extLst>
          </p:cNvPr>
          <p:cNvSpPr/>
          <p:nvPr/>
        </p:nvSpPr>
        <p:spPr>
          <a:xfrm>
            <a:off x="6708656" y="6444835"/>
            <a:ext cx="1786044" cy="105450"/>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SourceLink_1_38" descr="Wikimedia Commons · Ritratto di Brotzu ↗">
            <a:hlinkClick r:id="rId8"/>
            <a:extLst>
              <a:ext uri="{FF2B5EF4-FFF2-40B4-BE49-F238E27FC236}">
                <a16:creationId xmlns:a16="http://schemas.microsoft.com/office/drawing/2014/main" id="{226DB563-4589-0CDC-67F6-C3ED33F41819}"/>
              </a:ext>
            </a:extLst>
          </p:cNvPr>
          <p:cNvSpPr/>
          <p:nvPr/>
        </p:nvSpPr>
        <p:spPr>
          <a:xfrm>
            <a:off x="2165445" y="6588457"/>
            <a:ext cx="1486966" cy="105450"/>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65555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2_39" descr="EMA · Medicines development ↗">
            <a:hlinkClick r:id="rId4"/>
            <a:extLst>
              <a:ext uri="{FF2B5EF4-FFF2-40B4-BE49-F238E27FC236}">
                <a16:creationId xmlns:a16="http://schemas.microsoft.com/office/drawing/2014/main" id="{1005F5C3-A6BC-81F0-017E-41F7B1509147}"/>
              </a:ext>
            </a:extLst>
          </p:cNvPr>
          <p:cNvSpPr/>
          <p:nvPr/>
        </p:nvSpPr>
        <p:spPr>
          <a:xfrm>
            <a:off x="1660178" y="5349180"/>
            <a:ext cx="1611957"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563435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3_40" descr="WHO · AWaRe antibiotic book ↗">
            <a:hlinkClick r:id="rId4"/>
            <a:extLst>
              <a:ext uri="{FF2B5EF4-FFF2-40B4-BE49-F238E27FC236}">
                <a16:creationId xmlns:a16="http://schemas.microsoft.com/office/drawing/2014/main" id="{FD708A4A-9A0E-7A88-9AF9-D201DDBB4CF5}"/>
              </a:ext>
            </a:extLst>
          </p:cNvPr>
          <p:cNvSpPr/>
          <p:nvPr/>
        </p:nvSpPr>
        <p:spPr>
          <a:xfrm>
            <a:off x="1660178" y="5101530"/>
            <a:ext cx="1571029"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SourceLink_3_41" descr="Merck Manual · Cephalosporins ↗">
            <a:hlinkClick r:id="rId5"/>
            <a:extLst>
              <a:ext uri="{FF2B5EF4-FFF2-40B4-BE49-F238E27FC236}">
                <a16:creationId xmlns:a16="http://schemas.microsoft.com/office/drawing/2014/main" id="{32FD1BDA-BF8F-50CC-7FBE-A5477FEB879D}"/>
              </a:ext>
            </a:extLst>
          </p:cNvPr>
          <p:cNvSpPr/>
          <p:nvPr/>
        </p:nvSpPr>
        <p:spPr>
          <a:xfrm>
            <a:off x="3353098" y="5101530"/>
            <a:ext cx="1679525"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439652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4_42" descr="WHO · Research and development ↗">
            <a:hlinkClick r:id="rId4"/>
            <a:extLst>
              <a:ext uri="{FF2B5EF4-FFF2-40B4-BE49-F238E27FC236}">
                <a16:creationId xmlns:a16="http://schemas.microsoft.com/office/drawing/2014/main" id="{2338AF6C-A5F2-0E72-13B0-03F376C8FDDC}"/>
              </a:ext>
            </a:extLst>
          </p:cNvPr>
          <p:cNvSpPr/>
          <p:nvPr/>
        </p:nvSpPr>
        <p:spPr>
          <a:xfrm>
            <a:off x="1660178" y="4864596"/>
            <a:ext cx="1812280"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38780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5_43" descr="AIFA · Uso consapevole degli antibiotici ↗">
            <a:hlinkClick r:id="rId4"/>
            <a:extLst>
              <a:ext uri="{FF2B5EF4-FFF2-40B4-BE49-F238E27FC236}">
                <a16:creationId xmlns:a16="http://schemas.microsoft.com/office/drawing/2014/main" id="{DCE6866F-4224-FF53-B92E-5D9ADE934261}"/>
              </a:ext>
            </a:extLst>
          </p:cNvPr>
          <p:cNvSpPr/>
          <p:nvPr/>
        </p:nvSpPr>
        <p:spPr>
          <a:xfrm>
            <a:off x="1660178" y="4864596"/>
            <a:ext cx="2058442" cy="147191"/>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685502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3"/>
          <a:stretch/>
        </p:blipFill>
        <p:spPr>
          <a:xfrm>
            <a:off x="0" y="0"/>
            <a:ext cx="12192000" cy="6858000"/>
          </a:xfrm>
          <a:prstGeom prst="rect">
            <a:avLst/>
          </a:prstGeom>
        </p:spPr>
      </p:pic>
      <p:sp>
        <p:nvSpPr>
          <p:cNvPr id="3" name="SourceLink_6_44" descr="Treccani · Giuseppe Brotzu ↗">
            <a:hlinkClick r:id="rId4"/>
            <a:extLst>
              <a:ext uri="{FF2B5EF4-FFF2-40B4-BE49-F238E27FC236}">
                <a16:creationId xmlns:a16="http://schemas.microsoft.com/office/drawing/2014/main" id="{32FF9835-EE0F-250C-0FB6-4368989F89E4}"/>
              </a:ext>
            </a:extLst>
          </p:cNvPr>
          <p:cNvSpPr/>
          <p:nvPr/>
        </p:nvSpPr>
        <p:spPr>
          <a:xfrm>
            <a:off x="1660178" y="5162996"/>
            <a:ext cx="1451967" cy="147192"/>
          </a:xfrm>
          <a:prstGeom prst="rect">
            <a:avLst/>
          </a:prstGeom>
          <a:solidFill>
            <a:srgbClr val="FFFFFF">
              <a:alpha val="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1171548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975</Words>
  <Application>Microsoft Office PowerPoint</Application>
  <DocSecurity>0</DocSecurity>
  <PresentationFormat>Widescreen</PresentationFormat>
  <Paragraphs>29</Paragraphs>
  <Slides>6</Slides>
  <Notes>6</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6</vt:i4>
      </vt:variant>
    </vt:vector>
  </HeadingPairs>
  <TitlesOfParts>
    <vt:vector size="8" baseType="lpstr">
      <vt:lpstr>Calibri</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GUARAGLIA Alessandro</cp:lastModifiedBy>
  <cp:revision>1</cp:revision>
  <dcterms:created xsi:type="dcterms:W3CDTF">2026-07-23T19:03:35Z</dcterms:created>
  <dcterms:modified xsi:type="dcterms:W3CDTF">2026-07-23T19:04:46Z</dcterms:modified>
</cp:coreProperties>
</file>