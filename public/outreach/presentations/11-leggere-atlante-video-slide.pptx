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59f28df33f4951" /><Relationship Type="http://schemas.openxmlformats.org/officeDocument/2006/relationships/extended-properties" Target="/docProps/app.xml" Id="R0288c9f3824f4fa4" /><Relationship Type="http://schemas.openxmlformats.org/officeDocument/2006/relationships/officeDocument" Target="/ppt/presentation.xml" Id="Rbb94a2334ab047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c2d9eaaa1d4442"/>
  </p:sldMasterIdLst>
  <p:notesMasterIdLst>
    <p:notesMasterId xmlns:r="http://schemas.openxmlformats.org/officeDocument/2006/relationships" r:id="R62a2d492a8d24547"/>
  </p:notesMasterIdLst>
  <p:sldIdLst>
    <p:sldId xmlns:r="http://schemas.openxmlformats.org/officeDocument/2006/relationships" id="256" r:id="Rfea861842ab041a4"/>
    <p:sldId xmlns:r="http://schemas.openxmlformats.org/officeDocument/2006/relationships" id="257" r:id="R508098ec47574d54"/>
    <p:sldId xmlns:r="http://schemas.openxmlformats.org/officeDocument/2006/relationships" id="258" r:id="Rd47c07f293d14f18"/>
    <p:sldId xmlns:r="http://schemas.openxmlformats.org/officeDocument/2006/relationships" id="259" r:id="R35d81030ee5f455f"/>
    <p:sldId xmlns:r="http://schemas.openxmlformats.org/officeDocument/2006/relationships" id="260" r:id="R265aa637913649fd"/>
    <p:sldId xmlns:r="http://schemas.openxmlformats.org/officeDocument/2006/relationships" id="261" r:id="R94841568e0df4e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edfb38a0bf45ea" /><Relationship Type="http://schemas.openxmlformats.org/officeDocument/2006/relationships/slideMaster" Target="/ppt/slideMasters/slideMaster1.xml" Id="R0dc2d9eaaa1d4442" /><Relationship Type="http://schemas.openxmlformats.org/officeDocument/2006/relationships/notesMaster" Target="/ppt/notesMasters/notesMaster1.xml" Id="R62a2d492a8d24547" /><Relationship Type="http://schemas.openxmlformats.org/officeDocument/2006/relationships/presProps" Target="/ppt/presProps.xml" Id="R07ccce8121b347b5" /><Relationship Type="http://schemas.openxmlformats.org/officeDocument/2006/relationships/tableStyles" Target="/ppt/tableStyles.xml" Id="R1ad5007cfed3445e" /><Relationship Type="http://schemas.openxmlformats.org/officeDocument/2006/relationships/slide" Target="/ppt/slides/slide1.xml" Id="Rfea861842ab041a4" /><Relationship Type="http://schemas.openxmlformats.org/officeDocument/2006/relationships/slide" Target="/ppt/slides/slide2.xml" Id="R508098ec47574d54" /><Relationship Type="http://schemas.openxmlformats.org/officeDocument/2006/relationships/slide" Target="/ppt/slides/slide3.xml" Id="Rd47c07f293d14f18" /><Relationship Type="http://schemas.openxmlformats.org/officeDocument/2006/relationships/slide" Target="/ppt/slides/slide4.xml" Id="R35d81030ee5f455f" /><Relationship Type="http://schemas.openxmlformats.org/officeDocument/2006/relationships/slide" Target="/ppt/slides/slide5.xml" Id="R265aa637913649fd" /><Relationship Type="http://schemas.openxmlformats.org/officeDocument/2006/relationships/slide" Target="/ppt/slides/slide6.xml" Id="R94841568e0df4e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076d0fe7a44a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344b93f6844602" /><Relationship Type="http://schemas.openxmlformats.org/officeDocument/2006/relationships/notesMaster" Target="/ppt/notesMasters/notesMaster1.xml" Id="R3e3d9fae63cb4a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5e492a890b475d" /><Relationship Type="http://schemas.openxmlformats.org/officeDocument/2006/relationships/notesMaster" Target="/ppt/notesMasters/notesMaster1.xml" Id="Ra40b9d585dfa41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5bcfb2ec264025" /><Relationship Type="http://schemas.openxmlformats.org/officeDocument/2006/relationships/notesMaster" Target="/ppt/notesMasters/notesMaster1.xml" Id="R445a20b0a0bb48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de0ec2501c4ce5" /><Relationship Type="http://schemas.openxmlformats.org/officeDocument/2006/relationships/notesMaster" Target="/ppt/notesMasters/notesMaster1.xml" Id="Rf9cca14a6b5940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f9b8aeba43483c" /><Relationship Type="http://schemas.openxmlformats.org/officeDocument/2006/relationships/notesMaster" Target="/ppt/notesMasters/notesMaster1.xml" Id="R0082553cef0f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d729b4567b4e7a" /><Relationship Type="http://schemas.openxmlformats.org/officeDocument/2006/relationships/notesMaster" Target="/ppt/notesMasters/notesMaster1.xml" Id="Re7b1b52f8aa442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Un cruscotto è utile quando rende visibili anche fonti e limiti. Introduci il tema con una domanda semplice e collega l’illustrazione al messaggio principale.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Spiega il concetto centrale: Scegli una classe antimicrobica e un periodo, poi osserva quali layer sono attivi.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Svela i tre punti uno alla volta. Riprendi: Scegli una classe antimicrobica e un periodo, poi osserva quali layer sono attivi. Il contatore distingue le evidenze AMR dalle sedi di sorveglianza. Apri ogni scheda: localizzazione, periodo e fonte definiscono cosa il dato può dire.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Contrasta interpretazione corretta e scorciatoia da evitare. Enfatizza che il contesto è parte del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Concludi con un’azione concreta: Usa la mappa per esplorare evidenze, non per diagnosticare un territorio.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REGIA VIDEO: dissolvenza iniziale; fai comparire i blocchi nell’ordine di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NARRAZIONE: Mostra le fonti cliccabili e invita a verificare il contesto originale prima di riutilizzare un dato.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bdb9cc40847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ddbabc7e0e42ef" /><Relationship Type="http://schemas.openxmlformats.org/officeDocument/2006/relationships/slideLayout" Target="/ppt/slideLayouts/slideLayout1.xml" Id="Rb2a81de08cbf46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81de08cbf46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9c0242d1c4ca1" /><Relationship Type="http://schemas.openxmlformats.org/officeDocument/2006/relationships/image" Target="/ppt/media/image.png" Id="R09f549a01e884562" /><Relationship Type="http://schemas.openxmlformats.org/officeDocument/2006/relationships/notesSlide" Target="/ppt/notesSlides/notesSlide1.xml" Id="R1dc16a8d562440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6cbfa60b74798" /><Relationship Type="http://schemas.openxmlformats.org/officeDocument/2006/relationships/notesSlide" Target="/ppt/notesSlides/notesSlide2.xml" Id="Rb6e1db8e8ed54a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e5bf8f8004f4b" /><Relationship Type="http://schemas.openxmlformats.org/officeDocument/2006/relationships/notesSlide" Target="/ppt/notesSlides/notesSlide3.xml" Id="R5f951e1f749c48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b2b4800d44bdc" /><Relationship Type="http://schemas.openxmlformats.org/officeDocument/2006/relationships/notesSlide" Target="/ppt/notesSlides/notesSlide4.xml" Id="R2cf76b84cfe54c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192f2549d4c14" /><Relationship Type="http://schemas.openxmlformats.org/officeDocument/2006/relationships/hyperlink" Target="https://aguaraglia.github.io/sardinia-one-health-amr-atlas/" TargetMode="External" Id="R247b1e2b545a4509" /><Relationship Type="http://schemas.openxmlformats.org/officeDocument/2006/relationships/notesSlide" Target="/ppt/notesSlides/notesSlide5.xml" Id="R91b69abfef014f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1157772524864" /><Relationship Type="http://schemas.openxmlformats.org/officeDocument/2006/relationships/hyperlink" Target="https://aguaraglia.github.io/sardinia-one-health-amr-atlas/" TargetMode="External" Id="R77050b6eec3c4efd" /><Relationship Type="http://schemas.openxmlformats.org/officeDocument/2006/relationships/hyperlink" Target="https://aguaraglia.github.io/sardinia-one-health-amr-atlas/" TargetMode="External" Id="R8629d5ba948c4840" /><Relationship Type="http://schemas.openxmlformats.org/officeDocument/2006/relationships/notesSlide" Target="/ppt/notesSlides/notesSlide6.xml" Id="Ra188f52435fa40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549a01e884562"/>
          <a:srcRect xmlns:a="http://schemas.openxmlformats.org/drawingml/2006/main" l="0" t="12222" r="0" b="12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387F5-62B8-49B0-9682-2B95FC6C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BEEA5-B28C-43F8-ACC3-A6CAA26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2D13B-9DBD-4836-A586-C4739027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85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62C56"/>
                </a:solidFill>
              </a:defRPr>
            </a:pPr>
            <a:r>
              <a:rPr sz="900" b="1">
                <a:solidFill>
                  <a:srgbClr val="062C56"/>
                </a:solidFill>
              </a:rPr>
              <a:t>MODULO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BB547-7126-4B88-A0D5-C525F318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Leggere l’Atlante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D7ABA-FD0E-478A-AE3F-DCA3361F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EDF3"/>
                </a:solidFill>
              </a:defRPr>
            </a:pPr>
            <a:r>
              <a:rPr sz="1725" b="0">
                <a:solidFill>
                  <a:srgbClr val="D6EDF3"/>
                </a:solidFill>
              </a:rPr>
              <a:t>Un cruscotto è utile quando rende visibili anche fonti e limiti.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9835D-0BA5-4352-95CB-D3F6AD39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9C8DB"/>
                </a:solidFill>
              </a:defRPr>
            </a:pPr>
            <a:r>
              <a:rPr sz="1050" b="1">
                <a:solidFill>
                  <a:srgbClr val="49C8DB"/>
                </a:solidFill>
              </a:rPr>
              <a:t>Video-slide divulgativo · Sardinia One Health AMR Atlas</a:t>
            </a:r>
          </a:p>
        </p:txBody>
      </p:sp>
    </p:spTree>
    <p:extLst>
      <p:ext uri="{BB962C8B-B14F-4D97-AF65-F5344CB8AC3E}">
        <p14:creationId xmlns:p14="http://schemas.microsoft.com/office/powerpoint/2010/main" val="1885038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48C6E-AE34-4F9A-BF3D-BC7D5E66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62C56"/>
                </a:solidFill>
              </a:defRPr>
            </a:pPr>
            <a:r>
              <a:rPr sz="3150" b="1">
                <a:solidFill>
                  <a:srgbClr val="062C56"/>
                </a:solidFill>
              </a:rPr>
              <a:t>Un cruscotto è utile quando rende visibili anche fonti e limiti.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21095-EC6C-4767-9FF0-50FEDCFF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La domanda che guida questo modulo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0F0FC-4939-4D0F-A1C7-DF19467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5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657EC-D527-4494-A9DD-1142A263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2C56"/>
                </a:solidFill>
              </a:defRPr>
            </a:pPr>
            <a:r>
              <a:rPr sz="2325" b="1">
                <a:solidFill>
                  <a:srgbClr val="062C56"/>
                </a:solidFill>
              </a:rPr>
              <a:t>Scegli una classe antimicrobica e un periodo, poi osserva quali layer sono attivi.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65D9F-641D-4622-96D9-3CA30F42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65F"/>
                </a:solidFill>
              </a:defRPr>
            </a:pPr>
            <a:r>
              <a:rPr sz="1350" b="0">
                <a:solidFill>
                  <a:srgbClr val="31465F"/>
                </a:solidFill>
              </a:rPr>
              <a:t>Partiamo da un concetto chiaro, poi vediamo come usarlo nella vita reale.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DC273-DFAA-45CD-91AE-8D307E69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1D0FE-E404-4960-BE59-59F3C2FB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11 · SLIDE</a:t>
            </a:r>
          </a:p>
        </p:txBody>
      </p:sp>
    </p:spTree>
    <p:extLst>
      <p:ext uri="{BB962C8B-B14F-4D97-AF65-F5344CB8AC3E}">
        <p14:creationId xmlns:p14="http://schemas.microsoft.com/office/powerpoint/2010/main" val="2049373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EEA83-4D3A-4B2D-AB98-1E50A79A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Tre idee da portare con sé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67924-E698-4906-9E5A-6200F1B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9C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91D02-50FC-4329-A282-A33C3AC4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E6658-0625-42D8-B39E-6E90F3B6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Scegli una classe antimicrobica e un periodo, poi osserva quali layer sono attivi.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2C7D1-43E6-4B7D-86D3-FB825F85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4774D-31D8-4D54-8391-5E419AA5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6E8E0-F383-4606-B51B-E0C660C8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Il contatore distingue le evidenze AMR dalle sedi di sorveglianza.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810AB-08EB-4DD6-A6A0-D7BA8BD5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8412F-BB2C-44C4-89B4-86214B8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C56"/>
                </a:solidFill>
              </a:defRPr>
            </a:pPr>
            <a:r>
              <a:rPr sz="1875" b="1">
                <a:solidFill>
                  <a:srgbClr val="062C5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692DE-831B-4A06-A7B2-09B51246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62C56"/>
                </a:solidFill>
              </a:defRPr>
            </a:pPr>
            <a:r>
              <a:rPr sz="1875" b="0">
                <a:solidFill>
                  <a:srgbClr val="062C56"/>
                </a:solidFill>
              </a:rPr>
              <a:t>Apri ogni scheda: localizzazione, periodo e fonte definiscono cosa il dato può dire.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92774-83A0-4440-B908-D8D19DB8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D7C8C-863A-4694-BDDE-07CFB32A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11 · SLIDE</a:t>
            </a:r>
          </a:p>
        </p:txBody>
      </p:sp>
    </p:spTree>
    <p:extLst>
      <p:ext uri="{BB962C8B-B14F-4D97-AF65-F5344CB8AC3E}">
        <p14:creationId xmlns:p14="http://schemas.microsoft.com/office/powerpoint/2010/main" val="2099735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89492-967E-47BC-867C-7EFBC91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Una lettura responsabile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B9192-E7D4-47EA-B635-DE884576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00062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0F7AB-C96B-408A-969A-B3937655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4483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EAB96-D238-4815-BDF9-EAAC2789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16F24"/>
                </a:solidFill>
              </a:defRPr>
            </a:pPr>
            <a:r>
              <a:rPr sz="1500" b="1">
                <a:solidFill>
                  <a:srgbClr val="C16F24"/>
                </a:solidFill>
              </a:rPr>
              <a:t>Cosa possiamo dire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FD6D1-7076-4171-84F5-1A4DDB6D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62C56"/>
                </a:solidFill>
              </a:defRPr>
            </a:pPr>
            <a:r>
              <a:rPr sz="2025" b="1">
                <a:solidFill>
                  <a:srgbClr val="062C56"/>
                </a:solidFill>
              </a:rPr>
              <a:t>Il contatore distingue le evidenze AMR dalle sedi di sorveglianza.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5078B-B3F5-43DE-B6A9-456BB873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DB"/>
                </a:solidFill>
              </a:defRPr>
            </a:pPr>
            <a:r>
              <a:rPr sz="1500" b="1">
                <a:solidFill>
                  <a:srgbClr val="49C8DB"/>
                </a:solidFill>
              </a:rPr>
              <a:t>Cosa non possiamo concludere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26C1E-99C2-4340-B251-22D8F3E0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28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Apri ogni scheda: localizzazione, periodo e fonte definiscono cosa il dato può dire.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38DBD-1574-4471-9FCA-009EC55F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B343C-E117-4131-B626-6996C2A6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11 · SLIDE</a:t>
            </a:r>
          </a:p>
        </p:txBody>
      </p:sp>
    </p:spTree>
    <p:extLst>
      <p:ext uri="{BB962C8B-B14F-4D97-AF65-F5344CB8AC3E}">
        <p14:creationId xmlns:p14="http://schemas.microsoft.com/office/powerpoint/2010/main" val="501380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89AE7-C2C2-46B0-B799-620D099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C56"/>
                </a:solidFill>
              </a:defRPr>
            </a:pPr>
            <a:r>
              <a:rPr sz="3000" b="1">
                <a:solidFill>
                  <a:srgbClr val="062C56"/>
                </a:solidFill>
              </a:rPr>
              <a:t>Dalla conoscenza all’azione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C1FEF-E8FE-4EC1-9799-707D90F3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3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62C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677EB-3B47-41EA-8EE8-0EEF62DE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Usa la mappa per esplorare evidenze, non per diagnosticare un territorio.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11B56-3A46-4589-A928-6BED861E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6F24"/>
                </a:solidFill>
              </a:defRPr>
            </a:pPr>
            <a:r>
              <a:rPr sz="1350" b="1">
                <a:solidFill>
                  <a:srgbClr val="C16F24"/>
                </a:solidFill>
              </a:rPr>
              <a:t>Approfondisci nel cruscotto pubblico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C3C6A-86E1-4943-9E01-1BFCABC1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E8B"/>
                </a:solidFill>
              </a:defRPr>
            </a:pPr>
            <a:r>
              <a:rPr sz="1800" b="1">
                <a:solidFill>
                  <a:srgbClr val="176E8B"/>
                </a:solidFill>
                <a:hlinkClick xmlns:r="http://schemas.openxmlformats.org/officeDocument/2006/relationships" r:id="R247b1e2b545a4509"/>
              </a:rPr>
              <a:t>Apri il Sardinia One Health AMR Atlas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5E680-E507-44BA-A2AC-C422D31E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6AD04-52A1-411C-AD0F-8B4E91AE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11 · SLIDE</a:t>
            </a:r>
          </a:p>
        </p:txBody>
      </p:sp>
    </p:spTree>
    <p:extLst>
      <p:ext uri="{BB962C8B-B14F-4D97-AF65-F5344CB8AC3E}">
        <p14:creationId xmlns:p14="http://schemas.microsoft.com/office/powerpoint/2010/main" val="845641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C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BD13A-8F9B-42FD-8A40-7ECBBED4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Fonti e approfondimenti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6FBD7-9042-46C5-A9D1-3FC21528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C8DB"/>
                </a:solidFill>
              </a:defRPr>
            </a:pPr>
            <a:r>
              <a:rPr sz="1350" b="1">
                <a:solidFill>
                  <a:srgbClr val="49C8DB"/>
                </a:solidFill>
              </a:rPr>
              <a:t>Fonte essenziale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E5152-3B7E-4C5B-AC8A-8B7BB4B0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hlinkClick xmlns:r="http://schemas.openxmlformats.org/officeDocument/2006/relationships" r:id="R77050b6eec3c4efd"/>
              </a:rPr>
              <a:t>Sardinia One Health AMR Atlas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7A567-D345-4A94-BD6E-2161A71E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D7E6"/>
                </a:solidFill>
              </a:defRPr>
            </a:pPr>
            <a:r>
              <a:rPr sz="1350" b="0">
                <a:solidFill>
                  <a:srgbClr val="C4D7E6"/>
                </a:solidFill>
                <a:hlinkClick xmlns:r="http://schemas.openxmlformats.org/officeDocument/2006/relationships" r:id="R8629d5ba948c4840"/>
              </a:rPr>
              <a:t>https://aguaraglia.github.io/sardinia-one-health-amr-atlas/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81013-F6C7-419F-BEC1-BB7FE424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10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4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7E91A-EEFA-4F24-B72A-DF6D5AA0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Questo modulo è divulgativo: non sostituisce indicazioni cliniche, veterinarie o regolatorie.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04955-7DC1-4285-8442-67A4029B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4D7E6"/>
                </a:solidFill>
              </a:defRPr>
            </a:pPr>
            <a:r>
              <a:rPr sz="825" b="1">
                <a:solidFill>
                  <a:srgbClr val="C4D7E6"/>
                </a:solidFill>
              </a:rPr>
              <a:t>Materiale prodotto per Sardinia One Health AMR Atlas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F7341-D11C-4750-876C-AD701F4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SARDINIA ONE HEALTH AMR 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01BD3-AD3A-47E4-B17C-EA31624D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892A9"/>
                </a:solidFill>
              </a:defRPr>
            </a:pPr>
            <a:r>
              <a:rPr sz="750" b="1">
                <a:solidFill>
                  <a:srgbClr val="7892A9"/>
                </a:solidFill>
              </a:rPr>
              <a:t>MODULO 11 · SLIDE</a:t>
            </a:r>
          </a:p>
        </p:txBody>
      </p:sp>
    </p:spTree>
    <p:extLst>
      <p:ext uri="{BB962C8B-B14F-4D97-AF65-F5344CB8AC3E}">
        <p14:creationId xmlns:p14="http://schemas.microsoft.com/office/powerpoint/2010/main" val="615136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2026-07-19T00:16:55.8690000Z</dcterms:created>
  <dcterms:modified xsi:type="dcterms:W3CDTF">2026-07-19T00:16:55.8690000Z</dcterms:modified>
</coreProperties>
</file>