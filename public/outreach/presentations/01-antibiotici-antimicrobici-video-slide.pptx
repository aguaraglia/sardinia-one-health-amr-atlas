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ebc3e941c44c2e" /><Relationship Type="http://schemas.openxmlformats.org/officeDocument/2006/relationships/extended-properties" Target="/docProps/app.xml" Id="Ra083bece4d5a41de" /><Relationship Type="http://schemas.openxmlformats.org/officeDocument/2006/relationships/officeDocument" Target="/ppt/presentation.xml" Id="R55b79cb743b94f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f1273da4124722"/>
  </p:sldMasterIdLst>
  <p:notesMasterIdLst>
    <p:notesMasterId xmlns:r="http://schemas.openxmlformats.org/officeDocument/2006/relationships" r:id="R2698b302611e4ef2"/>
  </p:notesMasterIdLst>
  <p:sldIdLst>
    <p:sldId xmlns:r="http://schemas.openxmlformats.org/officeDocument/2006/relationships" id="256" r:id="R2f6470a064bf4c0b"/>
    <p:sldId xmlns:r="http://schemas.openxmlformats.org/officeDocument/2006/relationships" id="257" r:id="R738d0417ea554d22"/>
    <p:sldId xmlns:r="http://schemas.openxmlformats.org/officeDocument/2006/relationships" id="258" r:id="R2a307adc1d184f11"/>
    <p:sldId xmlns:r="http://schemas.openxmlformats.org/officeDocument/2006/relationships" id="259" r:id="R5c90a7795d804503"/>
    <p:sldId xmlns:r="http://schemas.openxmlformats.org/officeDocument/2006/relationships" id="260" r:id="R624c600fc1b24451"/>
    <p:sldId xmlns:r="http://schemas.openxmlformats.org/officeDocument/2006/relationships" id="261" r:id="Rca2c7063a82c445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e65371864841a5" /><Relationship Type="http://schemas.openxmlformats.org/officeDocument/2006/relationships/slideMaster" Target="/ppt/slideMasters/slideMaster1.xml" Id="Rfef1273da4124722" /><Relationship Type="http://schemas.openxmlformats.org/officeDocument/2006/relationships/notesMaster" Target="/ppt/notesMasters/notesMaster1.xml" Id="R2698b302611e4ef2" /><Relationship Type="http://schemas.openxmlformats.org/officeDocument/2006/relationships/presProps" Target="/ppt/presProps.xml" Id="R682496a773524d31" /><Relationship Type="http://schemas.openxmlformats.org/officeDocument/2006/relationships/tableStyles" Target="/ppt/tableStyles.xml" Id="Rf943fc6fa83d4a60" /><Relationship Type="http://schemas.openxmlformats.org/officeDocument/2006/relationships/slide" Target="/ppt/slides/slide1.xml" Id="R2f6470a064bf4c0b" /><Relationship Type="http://schemas.openxmlformats.org/officeDocument/2006/relationships/slide" Target="/ppt/slides/slide2.xml" Id="R738d0417ea554d22" /><Relationship Type="http://schemas.openxmlformats.org/officeDocument/2006/relationships/slide" Target="/ppt/slides/slide3.xml" Id="R2a307adc1d184f11" /><Relationship Type="http://schemas.openxmlformats.org/officeDocument/2006/relationships/slide" Target="/ppt/slides/slide4.xml" Id="R5c90a7795d804503" /><Relationship Type="http://schemas.openxmlformats.org/officeDocument/2006/relationships/slide" Target="/ppt/slides/slide5.xml" Id="R624c600fc1b24451" /><Relationship Type="http://schemas.openxmlformats.org/officeDocument/2006/relationships/slide" Target="/ppt/slides/slide6.xml" Id="Rca2c7063a82c44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4ba86b937941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f0e37fe1884b63" /><Relationship Type="http://schemas.openxmlformats.org/officeDocument/2006/relationships/notesMaster" Target="/ppt/notesMasters/notesMaster1.xml" Id="Rbf44a2122e8b45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30d1a2a66e4d78" /><Relationship Type="http://schemas.openxmlformats.org/officeDocument/2006/relationships/notesMaster" Target="/ppt/notesMasters/notesMaster1.xml" Id="Re5d5b78dc04e44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dc879116ac46f8" /><Relationship Type="http://schemas.openxmlformats.org/officeDocument/2006/relationships/notesMaster" Target="/ppt/notesMasters/notesMaster1.xml" Id="R8ca3a056012340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a79431fc3f4aaa" /><Relationship Type="http://schemas.openxmlformats.org/officeDocument/2006/relationships/notesMaster" Target="/ppt/notesMasters/notesMaster1.xml" Id="Ra8e2e2d4a8e640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fe9ab12ced4da7" /><Relationship Type="http://schemas.openxmlformats.org/officeDocument/2006/relationships/notesMaster" Target="/ppt/notesMasters/notesMaster1.xml" Id="Re4309924bb2d4f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4f96acedb24875" /><Relationship Type="http://schemas.openxmlformats.org/officeDocument/2006/relationships/notesMaster" Target="/ppt/notesMasters/notesMaster1.xml" Id="Rded11b99e8d64a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Usare parole precise aiuta a prendere decisioni migliori. Introduci il tema con una domanda semplice e collega l’illustrazione al messaggio principale.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Spiega il concetto centrale: Un antimicrobico agisce contro microrganismi; un antibiotico è mirato ai batteri.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Svela i tre punti uno alla volta. Riprendi: Un antimicrobico agisce contro microrganismi; un antibiotico è mirato ai batteri. AMR è più ampia dell’antibiotico-resistenza: riguarda anche altri antimicrobici. Un antibiotico non cura le infezioni virali. Il nome corretto evita false aspettative.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Contrasta interpretazione corretta e scorciatoia da evitare. Enfatizza che il contesto è parte del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Concludi con un’azione concreta: Chiedi sempre quale infezione si sta trattando e perché proprio quel farmaco.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Mostra le fonti cliccabili e invita a verificare il contesto originale prima di riutilizzare un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8a120b91c4c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b51abdd01a4786" /><Relationship Type="http://schemas.openxmlformats.org/officeDocument/2006/relationships/slideLayout" Target="/ppt/slideLayouts/slideLayout1.xml" Id="Rfdafe992149040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afe992149040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27eedbd9d4eee" /><Relationship Type="http://schemas.openxmlformats.org/officeDocument/2006/relationships/image" Target="/ppt/media/image.png" Id="Rf2ba17242f344f94" /><Relationship Type="http://schemas.openxmlformats.org/officeDocument/2006/relationships/notesSlide" Target="/ppt/notesSlides/notesSlide1.xml" Id="Ra3d32fc9c73644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8e4511a0348df" /><Relationship Type="http://schemas.openxmlformats.org/officeDocument/2006/relationships/notesSlide" Target="/ppt/notesSlides/notesSlide2.xml" Id="Rcf54983dab5c47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c2fd7c5e04ab4" /><Relationship Type="http://schemas.openxmlformats.org/officeDocument/2006/relationships/notesSlide" Target="/ppt/notesSlides/notesSlide3.xml" Id="Rb3c03a6d940d4c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aab3d182a4b06" /><Relationship Type="http://schemas.openxmlformats.org/officeDocument/2006/relationships/notesSlide" Target="/ppt/notesSlides/notesSlide4.xml" Id="R3f944f2df8b244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426bc5d6b4e92" /><Relationship Type="http://schemas.openxmlformats.org/officeDocument/2006/relationships/hyperlink" Target="https://aguaraglia.github.io/sardinia-one-health-amr-atlas/" TargetMode="External" Id="Rb485869b440e46bf" /><Relationship Type="http://schemas.openxmlformats.org/officeDocument/2006/relationships/notesSlide" Target="/ppt/notesSlides/notesSlide5.xml" Id="R3d7cbb7649394d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c6aa1f8bc4639" /><Relationship Type="http://schemas.openxmlformats.org/officeDocument/2006/relationships/hyperlink" Target="https://www.who.int/health-topics/antimicrobial-resistance" TargetMode="External" Id="Rdd545047737d42d7" /><Relationship Type="http://schemas.openxmlformats.org/officeDocument/2006/relationships/hyperlink" Target="https://www.who.int/health-topics/antimicrobial-resistance" TargetMode="External" Id="R9a27976d1c074b75" /><Relationship Type="http://schemas.openxmlformats.org/officeDocument/2006/relationships/notesSlide" Target="/ppt/notesSlides/notesSlide6.xml" Id="R3902edae8e3942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a17242f344f94"/>
          <a:srcRect xmlns:a="http://schemas.openxmlformats.org/drawingml/2006/main" l="0" t="12222" r="0" b="12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C616F-0F8B-4008-8197-F1E8E05F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B3E9B-C11A-4476-9DC4-E2E1FBC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466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7BB61-6438-418C-A747-D92FCFB2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580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62C56"/>
                </a:solidFill>
              </a:defRPr>
            </a:pPr>
            <a:r>
              <a:rPr sz="900" b="1">
                <a:solidFill>
                  <a:srgbClr val="062C56"/>
                </a:solidFill>
              </a:rPr>
              <a:t>MODULO 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B7695-DA98-450A-B63C-B10593D2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38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901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Antibiotici e antimicrobici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F82C8-5521-4289-AAAB-F4D5D245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6EDF3"/>
                </a:solidFill>
              </a:defRPr>
            </a:pPr>
            <a:r>
              <a:rPr sz="1725" b="0">
                <a:solidFill>
                  <a:srgbClr val="D6EDF3"/>
                </a:solidFill>
              </a:rPr>
              <a:t>Usare parole precise aiuta a prendere decisioni migliori.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A73AA-D285-4997-AE97-97EAD973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9C8DB"/>
                </a:solidFill>
              </a:defRPr>
            </a:pPr>
            <a:r>
              <a:rPr sz="1050" b="1">
                <a:solidFill>
                  <a:srgbClr val="49C8DB"/>
                </a:solidFill>
              </a:rPr>
              <a:t>Video-slide divulgativo · Sardinia One Health AMR Atlas</a:t>
            </a:r>
          </a:p>
        </p:txBody>
      </p:sp>
    </p:spTree>
    <p:extLst>
      <p:ext uri="{BB962C8B-B14F-4D97-AF65-F5344CB8AC3E}">
        <p14:creationId xmlns:p14="http://schemas.microsoft.com/office/powerpoint/2010/main" val="11131356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E54A8-E99B-4D3A-BBDE-E721850E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2C56"/>
                </a:solidFill>
              </a:defRPr>
            </a:pPr>
            <a:r>
              <a:rPr sz="3150" b="1">
                <a:solidFill>
                  <a:srgbClr val="062C56"/>
                </a:solidFill>
              </a:rPr>
              <a:t>Usare parole precise aiuta a prendere decisioni migliori.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E20A0-542A-4095-AC21-4E63FE8F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La domanda che guida questo modulo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992CB-83CA-4839-BA8A-5B323B32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029D5-640E-4AC9-BE50-7C6D6E4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1009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2C56"/>
                </a:solidFill>
              </a:defRPr>
            </a:pPr>
            <a:r>
              <a:rPr sz="2325" b="1">
                <a:solidFill>
                  <a:srgbClr val="062C56"/>
                </a:solidFill>
              </a:rPr>
              <a:t>Un antimicrobico agisce contro microrganismi; un antibiotico è mirato ai batteri.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69753-AF13-4A15-92A8-1CDC40B3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465F"/>
                </a:solidFill>
              </a:defRPr>
            </a:pPr>
            <a:r>
              <a:rPr sz="1350" b="0">
                <a:solidFill>
                  <a:srgbClr val="31465F"/>
                </a:solidFill>
              </a:rPr>
              <a:t>Partiamo da un concetto chiaro, poi vediamo come usarlo nella vita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13260-0B27-4CEE-A3C9-7FF162E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90202-ECB2-4823-97CF-0A755828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01 · SLIDE</a:t>
            </a:r>
          </a:p>
        </p:txBody>
      </p:sp>
    </p:spTree>
    <p:extLst>
      <p:ext uri="{BB962C8B-B14F-4D97-AF65-F5344CB8AC3E}">
        <p14:creationId xmlns:p14="http://schemas.microsoft.com/office/powerpoint/2010/main" val="10475414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454B36-74FA-4FC6-B141-7419284E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Tre idee da portare con sé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D4795-6057-4ED2-BB73-D0DE088B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6ADF1-8051-4D5C-9FA3-A09A81F4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D93CA-59FC-47D5-B840-BA17242D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43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Un antimicrobico agisce contro microrganismi; un antibiotico è mirato ai batteri.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F1FEC-826C-4B14-9E08-870B364E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F89F-CBDA-49AE-A62C-61502485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3E9C1-D36B-4DCD-ADB7-319FB979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765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AMR è più ampia dell’antibiotico-resistenza: riguarda anche altri antimicrobici.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7848D-B7F9-4D1A-BAFF-A6DEE8D6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C4B4D1-C6B0-4EA7-B669-8A0E7805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79502-9CA4-4D3D-9CAF-4C66186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Un antibiotico non cura le infezioni virali. Il nome corretto evita false aspettative.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ED68A-C6D0-4D0B-97CC-08AD2C89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F669F-E639-4101-87B6-3991DC94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01 · SLIDE</a:t>
            </a:r>
          </a:p>
        </p:txBody>
      </p:sp>
    </p:spTree>
    <p:extLst>
      <p:ext uri="{BB962C8B-B14F-4D97-AF65-F5344CB8AC3E}">
        <p14:creationId xmlns:p14="http://schemas.microsoft.com/office/powerpoint/2010/main" val="18877721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E9657-1AEA-4A2F-A96C-BA508391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Una lettura responsabile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B46A2-B276-4CA7-A9EF-5A93985C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00625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0B07C-80A3-48D2-B9FF-A0988EB6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54483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67EF6-6F4E-414A-85B5-54EAD818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16F24"/>
                </a:solidFill>
              </a:defRPr>
            </a:pPr>
            <a:r>
              <a:rPr sz="1500" b="1">
                <a:solidFill>
                  <a:srgbClr val="C16F24"/>
                </a:solidFill>
              </a:rPr>
              <a:t>Cosa possiamo dire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F3329-DB0C-4979-9DD7-115DBB02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2C56"/>
                </a:solidFill>
              </a:defRPr>
            </a:pPr>
            <a:r>
              <a:rPr sz="2025" b="1">
                <a:solidFill>
                  <a:srgbClr val="062C56"/>
                </a:solidFill>
              </a:rPr>
              <a:t>AMR è più ampia dell’antibiotico-resistenza: riguarda anche altri antimicrobici.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F008F-F280-44B4-A85C-B09C74AB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9C8DB"/>
                </a:solidFill>
              </a:defRPr>
            </a:pPr>
            <a:r>
              <a:rPr sz="1500" b="1">
                <a:solidFill>
                  <a:srgbClr val="49C8DB"/>
                </a:solidFill>
              </a:rPr>
              <a:t>Cosa non possiamo concludere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63B77-AF2A-42DE-AC99-506AE08A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428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Un antibiotico non cura le infezioni virali. Il nome corretto evita false aspettative.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5C074-60FA-4FCE-B906-EEDFF8D4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0A010-F024-4D59-B8EF-36492542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01 · SLIDE</a:t>
            </a:r>
          </a:p>
        </p:txBody>
      </p:sp>
    </p:spTree>
    <p:extLst>
      <p:ext uri="{BB962C8B-B14F-4D97-AF65-F5344CB8AC3E}">
        <p14:creationId xmlns:p14="http://schemas.microsoft.com/office/powerpoint/2010/main" val="160567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4C9F0-2234-4793-A32B-917CDC98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Dalla conoscenza all’azione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2738A-F194-4896-ADEE-0D88DEAD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347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CB145-6C08-4ABB-962A-65D66E74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Chiedi sempre quale infezione si sta trattando e perché proprio quel farmaco.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AA8A0-3C2C-4D58-A69A-0496EA1D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Approfondisci nel cruscotto pubblico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544FA-EDA4-45AE-9B74-9C24B33B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E8B"/>
                </a:solidFill>
              </a:defRPr>
            </a:pPr>
            <a:r>
              <a:rPr sz="1800" b="1">
                <a:solidFill>
                  <a:srgbClr val="176E8B"/>
                </a:solidFill>
                <a:hlinkClick xmlns:r="http://schemas.openxmlformats.org/officeDocument/2006/relationships" r:id="Rb485869b440e46bf"/>
              </a:rPr>
              <a:t>Apri il Sardinia One Health AMR Atlas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83221-0A39-4262-9773-FD66F2D6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47DA3-74F5-4B02-AA0C-7E3F7736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01 · SLIDE</a:t>
            </a:r>
          </a:p>
        </p:txBody>
      </p:sp>
    </p:spTree>
    <p:extLst>
      <p:ext uri="{BB962C8B-B14F-4D97-AF65-F5344CB8AC3E}">
        <p14:creationId xmlns:p14="http://schemas.microsoft.com/office/powerpoint/2010/main" val="181801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C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EF3A8-C2E4-4725-B701-B8262D40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Fonti e approfondimenti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1C747-9DF4-4BB1-84F8-3AAEB8D0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9C8DB"/>
                </a:solidFill>
              </a:defRPr>
            </a:pPr>
            <a:r>
              <a:rPr sz="1350" b="1">
                <a:solidFill>
                  <a:srgbClr val="49C8DB"/>
                </a:solidFill>
              </a:rPr>
              <a:t>Fonte essenziale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1159F-D586-4945-BCD4-A938FD51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hlinkClick xmlns:r="http://schemas.openxmlformats.org/officeDocument/2006/relationships" r:id="Rdd545047737d42d7"/>
              </a:rPr>
              <a:t>WHO · Antimicrobial resistance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82CA2-3384-42BB-91F1-1C2599BC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4D7E6"/>
                </a:solidFill>
              </a:defRPr>
            </a:pPr>
            <a:r>
              <a:rPr sz="1350" b="0">
                <a:solidFill>
                  <a:srgbClr val="C4D7E6"/>
                </a:solidFill>
                <a:hlinkClick xmlns:r="http://schemas.openxmlformats.org/officeDocument/2006/relationships" r:id="R9a27976d1c074b75"/>
              </a:rPr>
              <a:t>https://www.who.int/health-topics/antimicrobial-resistance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3BDB2-21C2-4B9B-9254-5738D46C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81087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4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E6EB8-2564-456C-B6DC-9411B7B3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Questo modulo è divulgativo: non sostituisce indicazioni cliniche, veterinarie o regolatorie.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0FC26C-C84A-4BA1-8396-4A652033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4D7E6"/>
                </a:solidFill>
              </a:defRPr>
            </a:pPr>
            <a:r>
              <a:rPr sz="825" b="1">
                <a:solidFill>
                  <a:srgbClr val="C4D7E6"/>
                </a:solidFill>
              </a:rPr>
              <a:t>Materiale prodotto per Sardinia One Health AMR Atlas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442055-1B0A-405C-A004-0F1254B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9CA476-B1AA-4752-ACD8-5BFB73BB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01 · SLIDE</a:t>
            </a:r>
          </a:p>
        </p:txBody>
      </p:sp>
    </p:spTree>
    <p:extLst>
      <p:ext uri="{BB962C8B-B14F-4D97-AF65-F5344CB8AC3E}">
        <p14:creationId xmlns:p14="http://schemas.microsoft.com/office/powerpoint/2010/main" val="7821438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2026-07-19T00:16:49.2850000Z</dcterms:created>
  <dcterms:modified xsi:type="dcterms:W3CDTF">2026-07-19T00:16:49.2850000Z</dcterms:modified>
</coreProperties>
</file>