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LE PAROLE GIUSTE
Un ombrello, quattro famiglie
“Antimicrobico” è il termine generale. Un antibiotico è un antimicrobico rivolto ai batteri: non è il nome di tutti i farmaci contro le infezioni.
ANTIMICROBICI
ANTIBIOTICI
contro i batteri
Esempi: penicilline, cefalosporine, macrolidi
ANTIVIRALI
contro i virus
Esempi: inibitori della proteasi, interferoni
ANTIFUNGINI
contro i funghi
Esempi: azoli, echinocandine, polieni
ANTIPARASSITARI
contro i parassiti
Esempi: antimalarici, antielmintici
i
Idea chiave: AMR comprende la resistenza di batteri, virus, funghi e parassiti; “antibiotico-resistenza” riguarda i batteri.
Fonti della scheda
WHO · AMR fact sheet, 2026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AMR fact sheet, 2026 ↗: https://www.who.int/news-room/fact-sheets/detail/antimicrobial-resistance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IL BERSAGLIO CONTA
Batteri e virus non sono la stessa cosa
Gli antibiotici possono uccidere i batteri o frenarne la crescita. Non agiscono sui virus, che si replicano usando le cellule dell’ospite.
✓
Possibile bersaglio batterico
Un’infezione urinaria può essere causata da batteri. La scelta dell’antibiotico dipende dal quadro clinico e, quando indicato, dagli esami.
×
Non è un bersaglio antibiotico
Raffreddore e influenza sono in genere virali. Un antibiotico non elimina il virus e non abbrevia automaticamente i sintomi.
Attenzione: sintomi simili possono avere cause diverse e possono comparire complicanze batteriche. La valutazione spetta al professionista sanitario.
i
Esempio quotidiano: “ho la febbre” non identifica da solo il microrganismo né il farmaco adatto.
Fonti della scheda
ECDC · Factsheet per il pubblico ↗
AIFA · Uso consapevole 2025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ECDC · Factsheet per il pubblico ↗: https://www.ecdc.europa.eu/en/antimicrobial-resistance/facts/factsheets/general-public</a:t>
            </a:r>
          </a:p>
          <a:p>
            <a:r>
              <a:rPr lang="it-IT"/>
              <a:t>AIFA · Uso consapevole 2025 ↗: https://www.aifa.gov.it/campagna-sull-uso-consapevole-degli-antibiotici-2025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COME FUNZIONANO
Ogni antibiotico colpisce un processo preciso
I batteri hanno strutture e processi propri. Classi diverse di antibiotici interferiscono con bersagli differenti, e nessun antibiotico è attivo contro tutti i batteri.
Parete cellulare
Alcuni farmaci impediscono di costruire o mantenere l’involucro batterico.
Esempio di classe: β-lattamici
Sintesi proteica
Altri bloccano i ribosomi batterici e la produzione di proteine.
Esempi: macrolidi, tetracicline
DNA e metabolismo
Altri ancora ostacolano replicazione del DNA o vie metaboliche essenziali.
Esempi: fluorochinoloni, sulfamidici
i
“Spettro ampio” non significa “migliore”: indica attività su una gamma più ampia di batteri e richiede comunque un uso appropriato.
Fonti della scheda
ECDC · Che cosa sono gli antibiotici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ECDC · Che cosa sono gli antibiotici ↗: https://www.ecdc.europa.eu/en/antimicrobial-resistance/facts/factsheets/general-public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CHE COSA DIVENTA RESISTENTE
È il batterio a diventare resistente, non la persona
In una popolazione batterica possono esistere varianti con caratteristiche diverse. L’esposizione a un antibiotico seleziona quelle capaci di sopravvivere.
1
● ● ● ◆ ●
Variabilità nella popolazione
→
2
capsula
Pressione dell’antibiotico
→
3
◆ ◆ ◆
I resistenti sopravvivono e si moltiplicano
Non significa: “il mio corpo si è abituato”.
Significa: quel microrganismo non risponde più come prima a uno o più farmaci.
i
La resistenza può emergere naturalmente; uso eccessivo o inappropriato accelera selezione e diffusione dei microrganismi resistenti.
Fonti della scheda
ECDC · Cause della resistenza ↗
WHO · AMR fact sheet, 2026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ECDC · Cause della resistenza ↗: https://www.ecdc.europa.eu/en/antimicrobial-resistance/facts/factsheets/general-public</a:t>
            </a:r>
          </a:p>
          <a:p>
            <a:r>
              <a:rPr lang="it-IT"/>
              <a:t>WHO · AMR fact sheet, 2026 ↗: https://www.who.int/news-room/fact-sheets/detail/antimicrobial-resistance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PERCHÉ È IMPORTANTE
L’efficacia degli antibiotici sostiene la medicina moderna
Quando un’infezione è resistente, la terapia può richiedere più tempo, esami aggiuntivi o farmaci di seconda linea. Anche procedure comuni diventano più rischiose.
1 su 6
infezioni batteriche comuni, confermate in laboratorio nel mondo nel 2023, risultava resistente agli antibiotici considerati dal rapporto WHO.
Stima globale: non descrive automaticamente una regione o un ospedale.
Antibiotici efficaci proteggono anche
chirurgia e terapia intensiva
chemioterapia e trapianti
cura delle infezioni in persone fragili
2021: 4,71 milioni di decessi stimati associati all’AMR batterica; 1,14 milioni attribuibili. Sono due misure epidemiologiche diverse, non intercambiabili.
i
I numeri globali spiegano la scala del problema; per decisioni locali servono dati locali con copertura e denominatori dichiarati.
Fonti della scheda
WHO · Global surveillance report 2025 ↗
GBD 2021 AMR Collaborators · Lancet 2024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Global surveillance report 2025 ↗: https://www.who.int/publications/i/item/9789240116337</a:t>
            </a:r>
          </a:p>
          <a:p>
            <a:r>
              <a:rPr lang="it-IT"/>
              <a:t>GBD 2021 AMR Collaborators · Lancet 2024 ↗: https://doi.org/10.1016/S0140-6736(24)01867-1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DALLA CONOSCENZA ALL’AZIONE
Proteggere l’efficacia è un lavoro condiviso
Non esiste un singolo gesto risolutivo. Servono diagnosi, prescrizioni appropriate, prevenzione delle infezioni, sorveglianza e accesso equo alle cure.
Persone
Usare antibiotici solo dopo valutazione e prescrizione; non condividere né riutilizzare avanzi; chiedere al farmacista come smaltirli.
Professionisti
Integrare quadro clinico, diagnostica, linee guida e dati locali; rivalutare terapia, dose e durata.
Sistemi sanitari
Prevenire infezioni, vaccinare, sorvegliare resistenze e consumi, garantire qualità di laboratori e farmaci.
Access
prima scelta quando appropriata
Watch
uso mirato e monitorato
Reserve
ultima risorsa in situazioni selezionate
i
La classificazione WHO AWaRe guida la stewardship: non è una lista per l’automedicazione e va applicata con linee guida e resistenze locali.
Fonti della scheda
AIFA · Uso consapevole 2025 ↗
WHO · AWaRe antibiotic book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AIFA · Uso consapevole 2025 ↗: https://www.aifa.gov.it/campagna-sull-uso-consapevole-degli-antibiotici-2025</a:t>
            </a:r>
          </a:p>
          <a:p>
            <a:r>
              <a:rPr lang="it-IT"/>
              <a:t>WHO · AWaRe antibiotic book ↗: https://www.who.int/news-room/questions-and-answers/item/the-who-essential-medicines-list-antibiotic-book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news-room/fact-sheets/detail/antimicrobial-resistanc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ifa.gov.it/campagna-sull-uso-consapevole-degli-antibiotici-2025" TargetMode="External"/><Relationship Id="rId4" Type="http://schemas.openxmlformats.org/officeDocument/2006/relationships/hyperlink" Target="https://www.ecdc.europa.eu/en/antimicrobial-resistance/facts/factsheets/general-publi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cdc.europa.eu/en/antimicrobial-resistance/facts/factsheets/general-public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ho.int/news-room/fact-sheets/detail/antimicrobial-resistance" TargetMode="External"/><Relationship Id="rId4" Type="http://schemas.openxmlformats.org/officeDocument/2006/relationships/hyperlink" Target="https://www.ecdc.europa.eu/en/antimicrobial-resistance/facts/factsheets/general-publi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016/S0140-6736(24)01867-1" TargetMode="External"/><Relationship Id="rId4" Type="http://schemas.openxmlformats.org/officeDocument/2006/relationships/hyperlink" Target="https://www.who.int/publications/i/item/978924011633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ho.int/news-room/questions-and-answers/item/the-who-essential-medicines-list-antibiotic-book" TargetMode="External"/><Relationship Id="rId4" Type="http://schemas.openxmlformats.org/officeDocument/2006/relationships/hyperlink" Target="https://www.aifa.gov.it/campagna-sull-uso-consapevole-degli-antibiotici-20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1_1" descr="WHO · AMR fact sheet, 2026 ↗">
            <a:hlinkClick r:id="rId4"/>
            <a:extLst>
              <a:ext uri="{FF2B5EF4-FFF2-40B4-BE49-F238E27FC236}">
                <a16:creationId xmlns:a16="http://schemas.microsoft.com/office/drawing/2014/main" id="{E04DAB9B-02A7-7832-B772-0369E7C6DE44}"/>
              </a:ext>
            </a:extLst>
          </p:cNvPr>
          <p:cNvSpPr/>
          <p:nvPr/>
        </p:nvSpPr>
        <p:spPr>
          <a:xfrm>
            <a:off x="1660178" y="6417022"/>
            <a:ext cx="1537841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975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2_2" descr="ECDC · Factsheet per il pubblico ↗">
            <a:hlinkClick r:id="rId4"/>
            <a:extLst>
              <a:ext uri="{FF2B5EF4-FFF2-40B4-BE49-F238E27FC236}">
                <a16:creationId xmlns:a16="http://schemas.microsoft.com/office/drawing/2014/main" id="{A18C9916-D686-4C1E-1308-258E8585907C}"/>
              </a:ext>
            </a:extLst>
          </p:cNvPr>
          <p:cNvSpPr/>
          <p:nvPr/>
        </p:nvSpPr>
        <p:spPr>
          <a:xfrm>
            <a:off x="1660178" y="4864596"/>
            <a:ext cx="1709886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urceLink_2_3" descr="AIFA · Uso consapevole 2025 ↗">
            <a:hlinkClick r:id="rId5"/>
            <a:extLst>
              <a:ext uri="{FF2B5EF4-FFF2-40B4-BE49-F238E27FC236}">
                <a16:creationId xmlns:a16="http://schemas.microsoft.com/office/drawing/2014/main" id="{C5C54F90-788B-F01C-ED90-7FE8007A5FDE}"/>
              </a:ext>
            </a:extLst>
          </p:cNvPr>
          <p:cNvSpPr/>
          <p:nvPr/>
        </p:nvSpPr>
        <p:spPr>
          <a:xfrm>
            <a:off x="3491954" y="4864596"/>
            <a:ext cx="1565375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71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3_4" descr="ECDC · Che cosa sono gli antibiotici ↗">
            <a:hlinkClick r:id="rId4"/>
            <a:extLst>
              <a:ext uri="{FF2B5EF4-FFF2-40B4-BE49-F238E27FC236}">
                <a16:creationId xmlns:a16="http://schemas.microsoft.com/office/drawing/2014/main" id="{F8E17F51-03A7-01EA-CF99-953D1FFFE965}"/>
              </a:ext>
            </a:extLst>
          </p:cNvPr>
          <p:cNvSpPr/>
          <p:nvPr/>
        </p:nvSpPr>
        <p:spPr>
          <a:xfrm>
            <a:off x="1660178" y="5101530"/>
            <a:ext cx="1883717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175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4_5" descr="ECDC · Cause della resistenza ↗">
            <a:hlinkClick r:id="rId4"/>
            <a:extLst>
              <a:ext uri="{FF2B5EF4-FFF2-40B4-BE49-F238E27FC236}">
                <a16:creationId xmlns:a16="http://schemas.microsoft.com/office/drawing/2014/main" id="{2CB40C9F-B4C9-0DAE-37AC-55C48098676F}"/>
              </a:ext>
            </a:extLst>
          </p:cNvPr>
          <p:cNvSpPr/>
          <p:nvPr/>
        </p:nvSpPr>
        <p:spPr>
          <a:xfrm>
            <a:off x="1660178" y="5101530"/>
            <a:ext cx="1608088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urceLink_4_6" descr="WHO · AMR fact sheet, 2026 ↗">
            <a:hlinkClick r:id="rId5"/>
            <a:extLst>
              <a:ext uri="{FF2B5EF4-FFF2-40B4-BE49-F238E27FC236}">
                <a16:creationId xmlns:a16="http://schemas.microsoft.com/office/drawing/2014/main" id="{5B76873A-A49E-81C5-5AD0-47E6C171D955}"/>
              </a:ext>
            </a:extLst>
          </p:cNvPr>
          <p:cNvSpPr/>
          <p:nvPr/>
        </p:nvSpPr>
        <p:spPr>
          <a:xfrm>
            <a:off x="3390156" y="5101530"/>
            <a:ext cx="1537841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503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5_7" descr="WHO · Global surveillance report 2025 ↗">
            <a:hlinkClick r:id="rId4"/>
            <a:extLst>
              <a:ext uri="{FF2B5EF4-FFF2-40B4-BE49-F238E27FC236}">
                <a16:creationId xmlns:a16="http://schemas.microsoft.com/office/drawing/2014/main" id="{38311B62-38C5-24E2-FEEA-FDF03488805D}"/>
              </a:ext>
            </a:extLst>
          </p:cNvPr>
          <p:cNvSpPr/>
          <p:nvPr/>
        </p:nvSpPr>
        <p:spPr>
          <a:xfrm>
            <a:off x="1660178" y="5764560"/>
            <a:ext cx="2019449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urceLink_5_8" descr="GBD 2021 AMR Collaborators · Lancet 2024 ↗">
            <a:hlinkClick r:id="rId5"/>
            <a:extLst>
              <a:ext uri="{FF2B5EF4-FFF2-40B4-BE49-F238E27FC236}">
                <a16:creationId xmlns:a16="http://schemas.microsoft.com/office/drawing/2014/main" id="{F54D5641-D7D4-DB33-C140-7D3A2294CC57}"/>
              </a:ext>
            </a:extLst>
          </p:cNvPr>
          <p:cNvSpPr/>
          <p:nvPr/>
        </p:nvSpPr>
        <p:spPr>
          <a:xfrm>
            <a:off x="3801517" y="5764560"/>
            <a:ext cx="2274987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660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6_9" descr="AIFA · Uso consapevole 2025 ↗">
            <a:hlinkClick r:id="rId4"/>
            <a:extLst>
              <a:ext uri="{FF2B5EF4-FFF2-40B4-BE49-F238E27FC236}">
                <a16:creationId xmlns:a16="http://schemas.microsoft.com/office/drawing/2014/main" id="{0FE3E99B-CB23-CF9D-EAD1-5A624AF513A5}"/>
              </a:ext>
            </a:extLst>
          </p:cNvPr>
          <p:cNvSpPr/>
          <p:nvPr/>
        </p:nvSpPr>
        <p:spPr>
          <a:xfrm>
            <a:off x="1660178" y="5101530"/>
            <a:ext cx="1565374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urceLink_6_10" descr="WHO · AWaRe antibiotic book ↗">
            <a:hlinkClick r:id="rId5"/>
            <a:extLst>
              <a:ext uri="{FF2B5EF4-FFF2-40B4-BE49-F238E27FC236}">
                <a16:creationId xmlns:a16="http://schemas.microsoft.com/office/drawing/2014/main" id="{1C8EF870-3E39-8DD1-B357-8D79469BBACF}"/>
              </a:ext>
            </a:extLst>
          </p:cNvPr>
          <p:cNvSpPr/>
          <p:nvPr/>
        </p:nvSpPr>
        <p:spPr>
          <a:xfrm>
            <a:off x="3347442" y="5101530"/>
            <a:ext cx="1571030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4193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Microsoft Office PowerPoint</Application>
  <DocSecurity>0</DocSecurity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8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GUARAGLIA Alessandro</cp:lastModifiedBy>
  <cp:revision>1</cp:revision>
  <dcterms:created xsi:type="dcterms:W3CDTF">2026-07-23T19:03:33Z</dcterms:created>
  <dcterms:modified xsi:type="dcterms:W3CDTF">2026-07-23T19:04:44Z</dcterms:modified>
</cp:coreProperties>
</file>