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/>
              <a:t>DAL CAMPIONE
La sorveglianza parte da una domanda clinica
Un campione viene raccolto per un motivo, processato in laboratorio e interpretato nel contesto del paziente. Il dataset nasce da questo percorso.
PAZIENTE
→
CAMPIONE
→
LABORATORIO
→
ISOLATO
→
AST
i
Ogni numero ha un percorso di inclusione che va letto prima del confronto.
Fonti della scheda
ISS · AR-ISS ↗
WHO · GLASS ↗</a:t>
            </a:r>
          </a:p>
          <a:p>
            <a:endParaRPr lang="it-IT"/>
          </a:p>
          <a:p>
            <a:r>
              <a:rPr lang="it-IT"/>
              <a:t>Fonti cliccabili:</a:t>
            </a:r>
          </a:p>
          <a:p>
            <a:r>
              <a:rPr lang="it-IT"/>
              <a:t>ISS · AR-ISS ↗: https://www.epicentro.iss.it/antibiotico-resistenza/ar-iss-rapporto</a:t>
            </a:r>
          </a:p>
          <a:p>
            <a:r>
              <a:rPr lang="it-IT"/>
              <a:t>WHO · GLASS ↗: https://www.who.int/initiatives/glass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/>
              <a:t>L’ANTIBIOGRAMMA
S, I e R sono categorie interpretative
Il test misura la risposta di un isolato a un farmaco. Le soglie e gli standard usati definiscono come leggere il risultato.
S
Sensibile
probabile efficacia con esposizione standard
I
Intermedio / aumentata esposizione
interpretazione dipendente dallo standard
R
Resistente
probabilità ridotta di efficacia
i
Un risultato AST è legato a un isolato, un farmaco, un metodo e una soglia.
Fonti della scheda
EUCAST · Clinical breakpoints ↗</a:t>
            </a:r>
          </a:p>
          <a:p>
            <a:endParaRPr lang="it-IT"/>
          </a:p>
          <a:p>
            <a:r>
              <a:rPr lang="it-IT"/>
              <a:t>Fonti cliccabili:</a:t>
            </a:r>
          </a:p>
          <a:p>
            <a:r>
              <a:rPr lang="it-IT"/>
              <a:t>EUCAST · Clinical breakpoints ↗: https://www.eucast.org/clinical_breakpoints/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/>
              <a:t>IL DENOMINATORE
Un conteggio non è una prevalenza
Casi, isolati, test eseguiti e pazienti inclusi sono denominatori diversi. Senza il denominatore non si può stimare una frequenza.
18
isolati resistenti
120
isolati testati
15%
i
Nel cruscotto un conteggio localizzato resta un conteggio, salvo che il denominatore sia dichiarato.
Fonti della scheda
WHO · GLASS manual ↗</a:t>
            </a:r>
          </a:p>
          <a:p>
            <a:endParaRPr lang="it-IT"/>
          </a:p>
          <a:p>
            <a:r>
              <a:rPr lang="it-IT"/>
              <a:t>Fonti cliccabili:</a:t>
            </a:r>
          </a:p>
          <a:p>
            <a:r>
              <a:rPr lang="it-IT"/>
              <a:t>WHO · GLASS manual ↗: https://www.who.int/publications/i/item/9789240076657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/>
              <a:t>LA COPERTURA
La rete osservata non coincide sempre con tutto il territorio
La copertura descrive quali laboratori o strutture partecipano e quali dati sono disponibili. È essenziale per valutare rappresentatività e limiti.
laboratorio A
laboratorio B
laboratorio C
laboratorio D
copertura documentata
i
Una percentuale regionale va interpretata insieme a copertura, inclusione e periodo.
Fonti della scheda
ISS · AR-ISS rapporto ↗</a:t>
            </a:r>
          </a:p>
          <a:p>
            <a:endParaRPr lang="it-IT"/>
          </a:p>
          <a:p>
            <a:r>
              <a:rPr lang="it-IT"/>
              <a:t>Fonti cliccabili:</a:t>
            </a:r>
          </a:p>
          <a:p>
            <a:r>
              <a:rPr lang="it-IT"/>
              <a:t>ISS · AR-ISS rapporto ↗: https://www.epicentro.iss.it/antibiotico-resistenza/ar-iss-rapporto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/>
              <a:t>LA MAPPA
Il punto mostra dove è documentata l’evidenza
Un punto può rappresentare una struttura, uno studio o un aggregato amministrativo. Non indica automaticamente residenza, origine o rischio individuale.
punto della fonte
non equivale a bacino di trasmissione
≠
rischio personale
richiede altre evidenze
i
La geografia è una chiave di lettura, non una diagnosi.
Fonti della scheda
Atlante · Metodo ↗</a:t>
            </a:r>
          </a:p>
          <a:p>
            <a:endParaRPr lang="it-IT"/>
          </a:p>
          <a:p>
            <a:r>
              <a:rPr lang="it-IT"/>
              <a:t>Fonti cliccabili:</a:t>
            </a:r>
          </a:p>
          <a:p>
            <a:r>
              <a:rPr lang="it-IT"/>
              <a:t>Atlante · Metodo ↗: https://aguaraglia.github.io/sardinia-one-health-amr-atlas/methodology.html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/>
              <a:t>LA LETTURA CORRETTA
Chiedi sempre: chi è stato incluso?
Prima di confrontare due strutture o due anni, controlla popolazione, specie, campione, antibiotico, metodo e copertura.
popolazione
periodo
metodo
denominatore
copertura
confronto responsabile
i
La qualità dell’interpretazione dipende dalla qualità della domanda.
Fonti della scheda
WHO · GLASS ↗</a:t>
            </a:r>
          </a:p>
          <a:p>
            <a:endParaRPr lang="it-IT"/>
          </a:p>
          <a:p>
            <a:r>
              <a:rPr lang="it-IT"/>
              <a:t>Fonti cliccabili:</a:t>
            </a:r>
          </a:p>
          <a:p>
            <a:r>
              <a:rPr lang="it-IT"/>
              <a:t>WHO · GLASS ↗: https://www.who.int/initiatives/glass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who.int/initiatives/glass" TargetMode="External"/><Relationship Id="rId4" Type="http://schemas.openxmlformats.org/officeDocument/2006/relationships/hyperlink" Target="https://www.epicentro.iss.it/antibiotico-resistenza/ar-iss-rapporto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eucast.org/clinical_breakpoints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who.int/publications/i/item/9789240076657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epicentro.iss.it/antibiotico-resistenza/ar-iss-rapporto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aguaraglia.github.io/sardinia-one-health-amr-atlas/methodology.html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who.int/initiatives/glas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ourceLink_1_52" descr="ISS · AR-ISS ↗">
            <a:hlinkClick r:id="rId4"/>
            <a:extLst>
              <a:ext uri="{FF2B5EF4-FFF2-40B4-BE49-F238E27FC236}">
                <a16:creationId xmlns:a16="http://schemas.microsoft.com/office/drawing/2014/main" id="{0A33B050-3CB5-BC44-8818-2EF37B94FFDD}"/>
              </a:ext>
            </a:extLst>
          </p:cNvPr>
          <p:cNvSpPr/>
          <p:nvPr/>
        </p:nvSpPr>
        <p:spPr>
          <a:xfrm>
            <a:off x="1660178" y="4864596"/>
            <a:ext cx="711101" cy="147191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" name="SourceLink_1_53" descr="WHO · GLASS ↗">
            <a:hlinkClick r:id="rId5"/>
            <a:extLst>
              <a:ext uri="{FF2B5EF4-FFF2-40B4-BE49-F238E27FC236}">
                <a16:creationId xmlns:a16="http://schemas.microsoft.com/office/drawing/2014/main" id="{6F0873CB-009C-6311-F4B3-36BB87D59239}"/>
              </a:ext>
            </a:extLst>
          </p:cNvPr>
          <p:cNvSpPr/>
          <p:nvPr/>
        </p:nvSpPr>
        <p:spPr>
          <a:xfrm>
            <a:off x="2493169" y="4864596"/>
            <a:ext cx="803820" cy="147191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745029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ourceLink_2_54" descr="EUCAST · Clinical breakpoints ↗">
            <a:hlinkClick r:id="rId4"/>
            <a:extLst>
              <a:ext uri="{FF2B5EF4-FFF2-40B4-BE49-F238E27FC236}">
                <a16:creationId xmlns:a16="http://schemas.microsoft.com/office/drawing/2014/main" id="{D3677CA1-20BE-0A45-D65A-3350A1142BDA}"/>
              </a:ext>
            </a:extLst>
          </p:cNvPr>
          <p:cNvSpPr/>
          <p:nvPr/>
        </p:nvSpPr>
        <p:spPr>
          <a:xfrm>
            <a:off x="1660178" y="4864596"/>
            <a:ext cx="1595586" cy="147191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05698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ourceLink_3_55" descr="WHO · GLASS manual ↗">
            <a:hlinkClick r:id="rId4"/>
            <a:extLst>
              <a:ext uri="{FF2B5EF4-FFF2-40B4-BE49-F238E27FC236}">
                <a16:creationId xmlns:a16="http://schemas.microsoft.com/office/drawing/2014/main" id="{11DE8D86-38C1-3C91-9156-61B9940D4A90}"/>
              </a:ext>
            </a:extLst>
          </p:cNvPr>
          <p:cNvSpPr/>
          <p:nvPr/>
        </p:nvSpPr>
        <p:spPr>
          <a:xfrm>
            <a:off x="1660178" y="4864596"/>
            <a:ext cx="1193304" cy="147191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27056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ourceLink_4_56" descr="ISS · AR-ISS rapporto ↗">
            <a:hlinkClick r:id="rId4"/>
            <a:extLst>
              <a:ext uri="{FF2B5EF4-FFF2-40B4-BE49-F238E27FC236}">
                <a16:creationId xmlns:a16="http://schemas.microsoft.com/office/drawing/2014/main" id="{23B605CE-BFE4-8F49-1C9E-FD9B5FE03E33}"/>
              </a:ext>
            </a:extLst>
          </p:cNvPr>
          <p:cNvSpPr/>
          <p:nvPr/>
        </p:nvSpPr>
        <p:spPr>
          <a:xfrm>
            <a:off x="1660178" y="5349180"/>
            <a:ext cx="1168896" cy="147191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274272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ourceLink_5_57" descr="Atlante · Metodo ↗">
            <a:hlinkClick r:id="rId4"/>
            <a:extLst>
              <a:ext uri="{FF2B5EF4-FFF2-40B4-BE49-F238E27FC236}">
                <a16:creationId xmlns:a16="http://schemas.microsoft.com/office/drawing/2014/main" id="{AEAC14EA-5A4A-C947-66BE-C50C8A2928FB}"/>
              </a:ext>
            </a:extLst>
          </p:cNvPr>
          <p:cNvSpPr/>
          <p:nvPr/>
        </p:nvSpPr>
        <p:spPr>
          <a:xfrm>
            <a:off x="1660178" y="5101530"/>
            <a:ext cx="922585" cy="147191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4399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ourceLink_6_58" descr="WHO · GLASS ↗">
            <a:hlinkClick r:id="rId4"/>
            <a:extLst>
              <a:ext uri="{FF2B5EF4-FFF2-40B4-BE49-F238E27FC236}">
                <a16:creationId xmlns:a16="http://schemas.microsoft.com/office/drawing/2014/main" id="{7DAF5121-A135-3A28-BF79-3EFC8A2E6FCE}"/>
              </a:ext>
            </a:extLst>
          </p:cNvPr>
          <p:cNvSpPr/>
          <p:nvPr/>
        </p:nvSpPr>
        <p:spPr>
          <a:xfrm>
            <a:off x="1660178" y="4864596"/>
            <a:ext cx="803820" cy="147191"/>
          </a:xfrm>
          <a:prstGeom prst="rect">
            <a:avLst/>
          </a:prstGeom>
          <a:solidFill>
            <a:srgbClr val="FFFFFF">
              <a:alpha val="0"/>
            </a:srgbClr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8659595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661</Words>
  <Application>Microsoft Office PowerPoint</Application>
  <DocSecurity>0</DocSecurity>
  <PresentationFormat>Widescreen</PresentationFormat>
  <Paragraphs>25</Paragraphs>
  <Slides>6</Slides>
  <Notes>6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1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6</vt:i4>
      </vt:variant>
    </vt:vector>
  </HeadingPairs>
  <TitlesOfParts>
    <vt:vector size="8" baseType="lpstr">
      <vt:lpstr>Calibri</vt:lpstr>
      <vt:lpstr>ChatGPT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GUARAGLIA Alessandro</cp:lastModifiedBy>
  <cp:revision>1</cp:revision>
  <dcterms:created xsi:type="dcterms:W3CDTF">2026-07-23T19:03:36Z</dcterms:created>
  <dcterms:modified xsi:type="dcterms:W3CDTF">2026-07-23T19:04:47Z</dcterms:modified>
</cp:coreProperties>
</file>