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35647cfc5a34f3c" /><Relationship Type="http://schemas.openxmlformats.org/officeDocument/2006/relationships/extended-properties" Target="/docProps/app.xml" Id="Rc6eb3e035d004cad" /><Relationship Type="http://schemas.openxmlformats.org/officeDocument/2006/relationships/officeDocument" Target="/ppt/presentation.xml" Id="R413e84e9903f40f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dde612090f84d9f"/>
  </p:sldMasterIdLst>
  <p:notesMasterIdLst>
    <p:notesMasterId xmlns:r="http://schemas.openxmlformats.org/officeDocument/2006/relationships" r:id="R998f10b0186e43fd"/>
  </p:notesMasterIdLst>
  <p:sldIdLst>
    <p:sldId xmlns:r="http://schemas.openxmlformats.org/officeDocument/2006/relationships" id="256" r:id="R6fa48886cd3c42c5"/>
    <p:sldId xmlns:r="http://schemas.openxmlformats.org/officeDocument/2006/relationships" id="257" r:id="Rb62c679b41554164"/>
    <p:sldId xmlns:r="http://schemas.openxmlformats.org/officeDocument/2006/relationships" id="258" r:id="Rfa69030bb1fc4a37"/>
    <p:sldId xmlns:r="http://schemas.openxmlformats.org/officeDocument/2006/relationships" id="259" r:id="R36c1c2f576654dd1"/>
    <p:sldId xmlns:r="http://schemas.openxmlformats.org/officeDocument/2006/relationships" id="260" r:id="Raba1b81e77ea4d39"/>
    <p:sldId xmlns:r="http://schemas.openxmlformats.org/officeDocument/2006/relationships" id="261" r:id="R65814d0a7304491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72369d5ce964b1e" /><Relationship Type="http://schemas.openxmlformats.org/officeDocument/2006/relationships/slideMaster" Target="/ppt/slideMasters/slideMaster1.xml" Id="Rfdde612090f84d9f" /><Relationship Type="http://schemas.openxmlformats.org/officeDocument/2006/relationships/notesMaster" Target="/ppt/notesMasters/notesMaster1.xml" Id="R998f10b0186e43fd" /><Relationship Type="http://schemas.openxmlformats.org/officeDocument/2006/relationships/presProps" Target="/ppt/presProps.xml" Id="R07c7b86271074bdc" /><Relationship Type="http://schemas.openxmlformats.org/officeDocument/2006/relationships/tableStyles" Target="/ppt/tableStyles.xml" Id="Rf83799043a2c438d" /><Relationship Type="http://schemas.openxmlformats.org/officeDocument/2006/relationships/slide" Target="/ppt/slides/slide1.xml" Id="R6fa48886cd3c42c5" /><Relationship Type="http://schemas.openxmlformats.org/officeDocument/2006/relationships/slide" Target="/ppt/slides/slide2.xml" Id="Rb62c679b41554164" /><Relationship Type="http://schemas.openxmlformats.org/officeDocument/2006/relationships/slide" Target="/ppt/slides/slide3.xml" Id="Rfa69030bb1fc4a37" /><Relationship Type="http://schemas.openxmlformats.org/officeDocument/2006/relationships/slide" Target="/ppt/slides/slide4.xml" Id="R36c1c2f576654dd1" /><Relationship Type="http://schemas.openxmlformats.org/officeDocument/2006/relationships/slide" Target="/ppt/slides/slide5.xml" Id="Raba1b81e77ea4d39" /><Relationship Type="http://schemas.openxmlformats.org/officeDocument/2006/relationships/slide" Target="/ppt/slides/slide6.xml" Id="R65814d0a7304491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7847890c87748d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c600c04ae90415c" /><Relationship Type="http://schemas.openxmlformats.org/officeDocument/2006/relationships/notesMaster" Target="/ppt/notesMasters/notesMaster1.xml" Id="R99706a03c4934b8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65632a8b6ad47bf" /><Relationship Type="http://schemas.openxmlformats.org/officeDocument/2006/relationships/notesMaster" Target="/ppt/notesMasters/notesMaster1.xml" Id="R567ec2490ffa473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940316988e444ab" /><Relationship Type="http://schemas.openxmlformats.org/officeDocument/2006/relationships/notesMaster" Target="/ppt/notesMasters/notesMaster1.xml" Id="R9c8b0cdbb73e462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677d7809ae64760" /><Relationship Type="http://schemas.openxmlformats.org/officeDocument/2006/relationships/notesMaster" Target="/ppt/notesMasters/notesMaster1.xml" Id="Rfb9c0b01d5214fd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06dce1a31a34afe" /><Relationship Type="http://schemas.openxmlformats.org/officeDocument/2006/relationships/notesMaster" Target="/ppt/notesMasters/notesMaster1.xml" Id="Rd65a0ec6bcd44e1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e2a9dbfdf4e45ca" /><Relationship Type="http://schemas.openxmlformats.org/officeDocument/2006/relationships/notesMaster" Target="/ppt/notesMasters/notesMaster1.xml" Id="Rb9ed5c7b9695487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REGIA VIDEO: dissolvenza iniziale; fai comparire i blocchi nell’ordine di lettura.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NARRAZIONE: Sorvegliare bene significa sapere che cosa si misura e per chi. Introduci il tema con una domanda semplice e collega l’illustrazione al messaggio principale.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REGIA VIDEO: dissolvenza iniziale; fai comparire i blocchi nell’ordine di lettura.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NARRAZIONE: Spiega il concetto centrale: Dal campione clinico all’antibiogramma: ogni risultato ha un contesto assistenziale.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REGIA VIDEO: dissolvenza iniziale; fai comparire i blocchi nell’ordine di lettura.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NARRAZIONE: Svela i tre punti uno alla volta. Riprendi: Dal campione clinico all’antibiogramma: ogni risultato ha un contesto assistenziale. Copertura e denominatore cambiano il significato di una percentuale. Una sede ospedaliera in mappa non indica la residenza dei pazienti né una prevalenza comunale.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REGIA VIDEO: dissolvenza iniziale; fai comparire i blocchi nell’ordine di lettura.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NARRAZIONE: Contrasta interpretazione corretta e scorciatoia da evitare. Enfatizza che il contesto è parte del dato.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REGIA VIDEO: dissolvenza iniziale; fai comparire i blocchi nell’ordine di lettura.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NARRAZIONE: Concludi con un’azione concreta: Leggi periodo, popolazione coperta e metodo prima di confrontare dati.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REGIA VIDEO: dissolvenza iniziale; fai comparire i blocchi nell’ordine di lettura.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NARRAZIONE: Mostra le fonti cliccabili e invita a verificare il contesto originale prima di riutilizzare un dato.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956825f28945c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d68200985ea4c30" /><Relationship Type="http://schemas.openxmlformats.org/officeDocument/2006/relationships/slideLayout" Target="/ppt/slideLayouts/slideLayout1.xml" Id="R12646c04f181400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2646c04f181400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94e9c2d7064286" /><Relationship Type="http://schemas.openxmlformats.org/officeDocument/2006/relationships/image" Target="/ppt/media/image.png" Id="R9566413908454a7c" /><Relationship Type="http://schemas.openxmlformats.org/officeDocument/2006/relationships/notesSlide" Target="/ppt/notesSlides/notesSlide1.xml" Id="Rb6c5fc3ee699459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764cb4d6154164" /><Relationship Type="http://schemas.openxmlformats.org/officeDocument/2006/relationships/notesSlide" Target="/ppt/notesSlides/notesSlide2.xml" Id="Rb4b0742ebce4434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6b54e1fe7d4e14" /><Relationship Type="http://schemas.openxmlformats.org/officeDocument/2006/relationships/notesSlide" Target="/ppt/notesSlides/notesSlide3.xml" Id="R2052b321f8104eb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65d813356e411f" /><Relationship Type="http://schemas.openxmlformats.org/officeDocument/2006/relationships/notesSlide" Target="/ppt/notesSlides/notesSlide4.xml" Id="R0cdacc4eb3e9434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f77bbb79364b92" /><Relationship Type="http://schemas.openxmlformats.org/officeDocument/2006/relationships/hyperlink" Target="https://aguaraglia.github.io/sardinia-one-health-amr-atlas/" TargetMode="External" Id="R69c7b68b5e6d4d76" /><Relationship Type="http://schemas.openxmlformats.org/officeDocument/2006/relationships/notesSlide" Target="/ppt/notesSlides/notesSlide5.xml" Id="Rfc1ea1277e6447e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7301d01fbe44a5" /><Relationship Type="http://schemas.openxmlformats.org/officeDocument/2006/relationships/hyperlink" Target="https://www.epicentro.iss.it/antibiotico-resistenza/ar-iss-rapporto" TargetMode="External" Id="R8752cc87200a45c6" /><Relationship Type="http://schemas.openxmlformats.org/officeDocument/2006/relationships/hyperlink" Target="https://www.epicentro.iss.it/antibiotico-resistenza/ar-iss-rapporto" TargetMode="External" Id="R08ad0e75900d49db" /><Relationship Type="http://schemas.openxmlformats.org/officeDocument/2006/relationships/notesSlide" Target="/ppt/notesSlides/notesSlide6.xml" Id="R3e58c4e8940a4f1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66413908454a7c"/>
          <a:srcRect xmlns:a="http://schemas.openxmlformats.org/drawingml/2006/main" l="0" t="12222" r="0" b="122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71D80B-4274-4028-ACEE-DDCB764E7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905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2C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25110B-A7BD-45DC-A379-B43370E73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4668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49C8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EA4867-E8D1-4182-A58B-E7C9D3333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85800"/>
            <a:ext cx="1257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8333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062C56"/>
                </a:solidFill>
              </a:defRPr>
            </a:pPr>
            <a:r>
              <a:rPr sz="900" b="1">
                <a:solidFill>
                  <a:srgbClr val="062C56"/>
                </a:solidFill>
              </a:rPr>
              <a:t>MODULO 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266C1C-7A26-48C0-B024-643561F84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5238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2901"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AMR nelle strutture sanitarie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EFE6D8-0F29-4CA7-B72B-CA742E94C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81375"/>
            <a:ext cx="476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D6EDF3"/>
                </a:solidFill>
              </a:defRPr>
            </a:pPr>
            <a:r>
              <a:rPr sz="1725" b="0">
                <a:solidFill>
                  <a:srgbClr val="D6EDF3"/>
                </a:solidFill>
              </a:rPr>
              <a:t>Sorvegliare bene significa sapere che cosa si misura e per chi.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A88D14-873B-4DE0-AF4A-9A5CE2A8E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91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61905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49C8DB"/>
                </a:solidFill>
              </a:defRPr>
            </a:pPr>
            <a:r>
              <a:rPr sz="1050" b="1">
                <a:solidFill>
                  <a:srgbClr val="49C8DB"/>
                </a:solidFill>
              </a:rPr>
              <a:t>Video-slide divulgativo · Sardinia One Health AMR Atlas</a:t>
            </a:r>
          </a:p>
        </p:txBody>
      </p:sp>
    </p:spTree>
    <p:extLst>
      <p:ext uri="{BB962C8B-B14F-4D97-AF65-F5344CB8AC3E}">
        <p14:creationId xmlns:p14="http://schemas.microsoft.com/office/powerpoint/2010/main" val="108062584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257979-E4F3-4600-8389-56D2EA386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9944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62C56"/>
                </a:solidFill>
              </a:defRPr>
            </a:pPr>
            <a:r>
              <a:rPr sz="3150" b="1">
                <a:solidFill>
                  <a:srgbClr val="062C56"/>
                </a:solidFill>
              </a:rPr>
              <a:t>Sorvegliare bene significa sapere che cosa si misura e per chi.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0ACC70-1190-4F45-8E5F-0B113B6E2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94444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C16F24"/>
                </a:solidFill>
              </a:defRPr>
            </a:pPr>
            <a:r>
              <a:rPr sz="1350" b="1">
                <a:solidFill>
                  <a:srgbClr val="C16F24"/>
                </a:solidFill>
              </a:rPr>
              <a:t>La domanda che guida questo modulo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BD020B-1888-43C2-8F5B-A86AE59A6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109537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AF6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191C32-631B-47B5-9B30-CFEE43E41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19375"/>
            <a:ext cx="10096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62C56"/>
                </a:solidFill>
              </a:defRPr>
            </a:pPr>
            <a:r>
              <a:rPr sz="2325" b="1">
                <a:solidFill>
                  <a:srgbClr val="062C56"/>
                </a:solidFill>
              </a:rPr>
              <a:t>Dal campione clinico all’antibiogramma: ogni risultato ha un contesto assistenziale.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0892D4-ED19-40DD-BC10-FADE9C9AB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00500"/>
            <a:ext cx="904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185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31465F"/>
                </a:solidFill>
              </a:defRPr>
            </a:pPr>
            <a:r>
              <a:rPr sz="1350" b="0">
                <a:solidFill>
                  <a:srgbClr val="31465F"/>
                </a:solidFill>
              </a:rPr>
              <a:t>Partiamo da un concetto chiaro, poi vediamo come usarlo nella vita reale.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94959E-C69F-4560-AD4E-22505CB67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SARDINIA ONE HEALTH AMR ATLAS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1AF498-B097-4778-AE3F-44632570F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770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MODULO 06 · SLIDE</a:t>
            </a:r>
          </a:p>
        </p:txBody>
      </p:sp>
    </p:spTree>
    <p:extLst>
      <p:ext uri="{BB962C8B-B14F-4D97-AF65-F5344CB8AC3E}">
        <p14:creationId xmlns:p14="http://schemas.microsoft.com/office/powerpoint/2010/main" val="43124518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957195-A1C1-4E1E-858A-539FA7638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00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2C56"/>
                </a:solidFill>
              </a:defRPr>
            </a:pPr>
            <a:r>
              <a:rPr sz="3000" b="1">
                <a:solidFill>
                  <a:srgbClr val="062C56"/>
                </a:solidFill>
              </a:rPr>
              <a:t>Tre idee da portare con sé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6BF75A-8668-468F-840E-A2545A0E3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6858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49C8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E76964-751E-4E29-8D70-7273976A4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76425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4667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62C56"/>
                </a:solidFill>
              </a:defRPr>
            </a:pPr>
            <a:r>
              <a:rPr sz="1875" b="1">
                <a:solidFill>
                  <a:srgbClr val="062C56"/>
                </a:solidFill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355DC8-A1E7-4A5B-9B34-8F554EEC7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743075"/>
            <a:ext cx="895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62C56"/>
                </a:solidFill>
              </a:defRPr>
            </a:pPr>
            <a:r>
              <a:rPr sz="1875" b="1">
                <a:solidFill>
                  <a:srgbClr val="062C56"/>
                </a:solidFill>
              </a:rPr>
              <a:t>Dal campione clinico all’antibiogramma: ogni risultato ha un contesto assistenziale.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1FFD8D-26FF-4A72-9B26-BA90DB7DB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6858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6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637549-DE30-4E91-809F-043068431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09925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4667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62C56"/>
                </a:solidFill>
              </a:defRPr>
            </a:pPr>
            <a:r>
              <a:rPr sz="1875" b="1">
                <a:solidFill>
                  <a:srgbClr val="062C56"/>
                </a:solidFill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9BB917-3B30-4DA0-BE86-E31B28CEC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076575"/>
            <a:ext cx="895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62C56"/>
                </a:solidFill>
              </a:defRPr>
            </a:pPr>
            <a:r>
              <a:rPr sz="1875" b="0">
                <a:solidFill>
                  <a:srgbClr val="062C56"/>
                </a:solidFill>
              </a:rPr>
              <a:t>Copertura e denominatore cambiano il significato di una percentuale.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3CD454-B3BB-4BE7-A691-7303315CC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6858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6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381F71-025C-4A83-A5A4-087D123DD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43425"/>
            <a:ext cx="304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4667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62C56"/>
                </a:solidFill>
              </a:defRPr>
            </a:pPr>
            <a:r>
              <a:rPr sz="1875" b="1">
                <a:solidFill>
                  <a:srgbClr val="062C56"/>
                </a:solidFill>
              </a:rPr>
              <a:t>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F91D93-5C1F-4051-AD98-D29330D4F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10075"/>
            <a:ext cx="895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062C56"/>
                </a:solidFill>
              </a:defRPr>
            </a:pPr>
            <a:r>
              <a:rPr sz="1875" b="0">
                <a:solidFill>
                  <a:srgbClr val="062C56"/>
                </a:solidFill>
              </a:rPr>
              <a:t>Una sede ospedaliera in mappa non indica la residenza dei pazienti né una prevalenza comunale.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5A0751-6076-41AE-9A8C-96EB7DAFB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SARDINIA ONE HEALTH AMR ATLAS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35E5D6-935E-481C-8A60-21E69EFF4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770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MODULO 06 · SLIDE</a:t>
            </a:r>
          </a:p>
        </p:txBody>
      </p:sp>
    </p:spTree>
    <p:extLst>
      <p:ext uri="{BB962C8B-B14F-4D97-AF65-F5344CB8AC3E}">
        <p14:creationId xmlns:p14="http://schemas.microsoft.com/office/powerpoint/2010/main" val="116214380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CDD557-63DC-4538-9F72-373E35FC6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00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2C56"/>
                </a:solidFill>
              </a:defRPr>
            </a:pPr>
            <a:r>
              <a:rPr sz="3000" b="1">
                <a:solidFill>
                  <a:srgbClr val="062C56"/>
                </a:solidFill>
              </a:rPr>
              <a:t>Una lettura responsabile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AB9468-ECBC-4C01-A71F-B3F6B4AE6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5000625" cy="323850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F2F7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A35E10-7B0F-42B5-93EB-3EA23D38C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657350"/>
            <a:ext cx="5448300" cy="323850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062C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DD9BCA-B189-48CA-9D86-A6781E23F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3835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6667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C16F24"/>
                </a:solidFill>
              </a:defRPr>
            </a:pPr>
            <a:r>
              <a:rPr sz="1500" b="1">
                <a:solidFill>
                  <a:srgbClr val="C16F24"/>
                </a:solidFill>
              </a:rPr>
              <a:t>Cosa possiamo dire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A0B019-9436-4A0C-B2F4-83E81CB00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71750"/>
            <a:ext cx="40005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62C56"/>
                </a:solidFill>
              </a:defRPr>
            </a:pPr>
            <a:r>
              <a:rPr sz="2025" b="1">
                <a:solidFill>
                  <a:srgbClr val="062C56"/>
                </a:solidFill>
              </a:rPr>
              <a:t>Copertura e denominatore cambiano il significato di una percentuale.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FF2572-8428-4C43-8F03-5D9F63FDD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038350"/>
            <a:ext cx="428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6667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49C8DB"/>
                </a:solidFill>
              </a:defRPr>
            </a:pPr>
            <a:r>
              <a:rPr sz="1500" b="1">
                <a:solidFill>
                  <a:srgbClr val="49C8DB"/>
                </a:solidFill>
              </a:rPr>
              <a:t>Cosa non possiamo concludere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7639F7-74C1-4AE7-B675-5A1278060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571750"/>
            <a:ext cx="428625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Una sede ospedaliera in mappa non indica la residenza dei pazienti né una prevalenza comunale.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F72161-8C5D-431F-A11B-8675D127C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SARDINIA ONE HEALTH AMR ATLAS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166215-B208-42AD-A67B-8CDF92C69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770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MODULO 06 · SLIDE</a:t>
            </a:r>
          </a:p>
        </p:txBody>
      </p:sp>
    </p:spTree>
    <p:extLst>
      <p:ext uri="{BB962C8B-B14F-4D97-AF65-F5344CB8AC3E}">
        <p14:creationId xmlns:p14="http://schemas.microsoft.com/office/powerpoint/2010/main" val="131255069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FFC277-A44C-4A08-AFB3-E1F86135D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2C56"/>
                </a:solidFill>
              </a:defRPr>
            </a:pPr>
            <a:r>
              <a:rPr sz="3000" b="1">
                <a:solidFill>
                  <a:srgbClr val="062C56"/>
                </a:solidFill>
              </a:rPr>
              <a:t>Dalla conoscenza all’azione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E59AB7-832B-4E2F-B0F5-A274F9134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347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062C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65468C-07BC-48DF-9044-31B48BE0C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86000"/>
            <a:ext cx="1000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FFFFFF"/>
                </a:solidFill>
              </a:defRPr>
            </a:pPr>
            <a:r>
              <a:rPr sz="2325" b="1">
                <a:solidFill>
                  <a:srgbClr val="FFFFFF"/>
                </a:solidFill>
              </a:rPr>
              <a:t>Leggi periodo, popolazione coperta e metodo prima di confrontare dati.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70BB65-2D4F-4FC8-B726-3F0A157EF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926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C16F24"/>
                </a:solidFill>
              </a:defRPr>
            </a:pPr>
            <a:r>
              <a:rPr sz="1350" b="1">
                <a:solidFill>
                  <a:srgbClr val="C16F24"/>
                </a:solidFill>
              </a:rPr>
              <a:t>Approfondisci nel cruscotto pubblico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AE7154-1056-4C28-B238-173855B0A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4722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6E8B"/>
                </a:solidFill>
              </a:defRPr>
            </a:pPr>
            <a:r>
              <a:rPr sz="1800" b="1">
                <a:solidFill>
                  <a:srgbClr val="176E8B"/>
                </a:solidFill>
                <a:hlinkClick xmlns:r="http://schemas.openxmlformats.org/officeDocument/2006/relationships" r:id="R69c7b68b5e6d4d76"/>
              </a:rPr>
              <a:t>Apri il Sardinia One Health AMR Atlas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D046FC-7869-4DC1-86CF-DA7BE7F1F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SARDINIA ONE HEALTH AMR ATLAS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F4BE65-5C52-429C-84B1-B46E3EF84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770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MODULO 06 · SLIDE</a:t>
            </a:r>
          </a:p>
        </p:txBody>
      </p:sp>
    </p:spTree>
    <p:extLst>
      <p:ext uri="{BB962C8B-B14F-4D97-AF65-F5344CB8AC3E}">
        <p14:creationId xmlns:p14="http://schemas.microsoft.com/office/powerpoint/2010/main" val="103916862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62C5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7945CB-1C76-4D1C-A87E-ECD6DF9DB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Fonti e approfondimenti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CAD390-039D-4D76-9DCA-16A1A2E17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14500"/>
            <a:ext cx="428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75926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49C8DB"/>
                </a:solidFill>
              </a:defRPr>
            </a:pPr>
            <a:r>
              <a:rPr sz="1350" b="1">
                <a:solidFill>
                  <a:srgbClr val="49C8DB"/>
                </a:solidFill>
              </a:rPr>
              <a:t>Fonte essenziale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D0CD3D-2C3D-4120-9C64-F71033081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90750"/>
            <a:ext cx="952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4615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  <a:hlinkClick xmlns:r="http://schemas.openxmlformats.org/officeDocument/2006/relationships" r:id="R8752cc87200a45c6"/>
              </a:rPr>
              <a:t>ISS · AR-ISS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2E197B-DD13-4337-95C8-008D81863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14625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85185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C4D7E6"/>
                </a:solidFill>
              </a:defRPr>
            </a:pPr>
            <a:r>
              <a:rPr sz="1350" b="0">
                <a:solidFill>
                  <a:srgbClr val="C4D7E6"/>
                </a:solidFill>
                <a:hlinkClick xmlns:r="http://schemas.openxmlformats.org/officeDocument/2006/relationships" r:id="R08ad0e75900d49db"/>
              </a:rPr>
              <a:t>https://www.epicentro.iss.it/antibiotico-resistenza/ar-iss-rapporto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9936C5-00AD-44D8-BF86-B99E417B4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57625"/>
            <a:ext cx="10810875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D40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A90D63-9FCD-4E93-9796-0CB8088B1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4815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Questo modulo è divulgativo: non sostituisce indicazioni cliniche, veterinarie o regolatorie.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2D5066-9C29-4B6B-A04C-1F3C7A0C1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91250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63636"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C4D7E6"/>
                </a:solidFill>
              </a:defRPr>
            </a:pPr>
            <a:r>
              <a:rPr sz="825" b="1">
                <a:solidFill>
                  <a:srgbClr val="C4D7E6"/>
                </a:solidFill>
              </a:rPr>
              <a:t>Materiale prodotto per Sardinia One Health AMR Atlas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53FF79-D322-433B-B1AF-9E698F3C7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SARDINIA ONE HEALTH AMR ATLAS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DF6495-48BD-42E3-BA33-19E47B402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770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53333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7892A9"/>
                </a:solidFill>
              </a:defRPr>
            </a:pPr>
            <a:r>
              <a:rPr sz="750" b="1">
                <a:solidFill>
                  <a:srgbClr val="7892A9"/>
                </a:solidFill>
              </a:rPr>
              <a:t>MODULO 06 · SLIDE</a:t>
            </a:r>
          </a:p>
        </p:txBody>
      </p:sp>
    </p:spTree>
    <p:extLst>
      <p:ext uri="{BB962C8B-B14F-4D97-AF65-F5344CB8AC3E}">
        <p14:creationId xmlns:p14="http://schemas.microsoft.com/office/powerpoint/2010/main" val="88551335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2026-07-19T00:16:53.1770000Z</dcterms:created>
  <dcterms:modified xsi:type="dcterms:W3CDTF">2026-07-19T00:16:53.1770000Z</dcterms:modified>
</coreProperties>
</file>