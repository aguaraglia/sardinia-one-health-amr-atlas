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CAMPIONE
Specie e matrice fanno parte del risultato
Un isolato da suino, bovino, latte o alimento risponde a domande diverse. La matrice non è un dettaglio editoriale.
animale
feci
latte
carcassa
alimento
contesto del campione
i
Non si confrontano campioni diversi senza dichiarare che cosa cambia.
Fonti della scheda
EFSA · AMR dashboard ↗
WOAH · AMR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EFSA · AMR dashboard ↗: https://www.efsa.europa.eu/en/microstrategy/dashboard-antimicrobial-resistance</a:t>
            </a:r>
          </a:p>
          <a:p>
            <a:r>
              <a:rPr lang="it-IT"/>
              <a:t>WOAH · AMR ↗: https://www.woah.org/en/what-we-do/global-initiatives/antimicrobial-resistance/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FENOTIPO E GENE
Un gene non sostituisce l’antibiogramma
Il gene suggerisce un meccanismo; il fenotipo misura la risposta in condizioni sperimentali. Possono concordare o divergere.
GENE
potenziale meccanismo
dato molecolare
↔
FENOTIPO
risposta misurata
dato AST
i
Per interpretare AMR servono metodo, target e relazione tra misure.
Fonti della scheda
EFSA · AMR monitoring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EFSA · AMR monitoring ↗: https://www.efsa.europa.eu/en/topics/topic/antimicrobial-resistance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COORTE
Una coorte descrive il campione che è stato studiato
Un lavoro su 96 isolati può essere prezioso e non rappresentare tutti gli animali o tutte le aziende della Sardegna.
96
isolati studiati
?
popolazione regionale
non intercambiabili
i
Cohort, survey e sorveglianza di popolazione hanno portate diverse.
Fonti della scheda
EFSA · AMR monitoring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EFSA · AMR monitoring ↗: https://www.efsa.europa.eu/en/topics/topic/antimicrobial-resistance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FILIERA
Il percorso alimentare ha più punti di controllo
Allevamento, macello, trasformazione, distribuzione e consumo sono nodi diversi. Il dato va associato al nodo corretto.
ALLEVAMENTO
→
MACELLO
→
ALIMENTO
→
CONSUMO
i
La posizione nel percorso determina la domanda di sorveglianza.
Fonti della scheda
EFSA · Zoonoses and AMR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EFSA · Zoonoses and AMR ↗: https://www.efsa.europa.eu/en/topics/topic/antimicrobial-resistance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PRIVACY
Le aziende non sono punti AMR pubblici
Coordinate di aziende, campioni e allevamenti possono essere sensibili. L’Atlante pubblica aggregati utili alla lettura territoriale e conserva il dettaglio analitico nella parte privata.
PRIVATO
azienda · campione · coordinate
→
PUBBLICO
aggregato · fonte · limite
i
La protezione del dato è una condizione della fiducia nella sorveglianza.
Fonti della scheda
Atlante · Public scope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Atlante · Public scope ↗: https://aguaraglia.github.io/sardinia-one-health-amr-atlas/PUBLIC_SCOPE.md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DOMANDA UTILE
Che cosa posso davvero concludere?
Posso descrivere il campione, il profilo osservato e il periodo. Non posso dedurre da solo una prevalenza regionale, un’azienda sorgente o una trasmissione.
descrivere
confrontare con cautela
attribuire senza prova
inferire rischio individuale
i
Buona divulgazione significa anche dire che cosa il dato non autorizza a dire.
Fonti della scheda
EFSA · AMR dashboard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EFSA · AMR dashboard ↗: https://www.efsa.europa.eu/en/microstrategy/dashboard-antimicrobial-resistance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woah.org/en/what-we-do/global-initiatives/antimicrobial-resistance/" TargetMode="External"/><Relationship Id="rId4" Type="http://schemas.openxmlformats.org/officeDocument/2006/relationships/hyperlink" Target="https://www.efsa.europa.eu/en/microstrategy/dashboard-antimicrobial-resistanc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efsa.europa.eu/en/topics/topic/antimicrobial-resistanc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efsa.europa.eu/en/topics/topic/antimicrobial-resistanc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efsa.europa.eu/en/topics/topic/antimicrobial-resistanc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guaraglia.github.io/sardinia-one-health-amr-atlas/PUBLIC_SCOPE.md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efsa.europa.eu/en/microstrategy/dashboard-antimicrobial-resistanc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1_59" descr="EFSA · AMR dashboard ↗">
            <a:hlinkClick r:id="rId4"/>
            <a:extLst>
              <a:ext uri="{FF2B5EF4-FFF2-40B4-BE49-F238E27FC236}">
                <a16:creationId xmlns:a16="http://schemas.microsoft.com/office/drawing/2014/main" id="{5D916263-DFA2-47BB-3363-D1E57D37DB0A}"/>
              </a:ext>
            </a:extLst>
          </p:cNvPr>
          <p:cNvSpPr/>
          <p:nvPr/>
        </p:nvSpPr>
        <p:spPr>
          <a:xfrm>
            <a:off x="1660178" y="4864596"/>
            <a:ext cx="1257151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1_60" descr="WOAH · AMR ↗">
            <a:hlinkClick r:id="rId5"/>
            <a:extLst>
              <a:ext uri="{FF2B5EF4-FFF2-40B4-BE49-F238E27FC236}">
                <a16:creationId xmlns:a16="http://schemas.microsoft.com/office/drawing/2014/main" id="{EE5EA47D-9D06-22C4-3DAC-F21966AFED04}"/>
              </a:ext>
            </a:extLst>
          </p:cNvPr>
          <p:cNvSpPr/>
          <p:nvPr/>
        </p:nvSpPr>
        <p:spPr>
          <a:xfrm>
            <a:off x="3039219" y="4864596"/>
            <a:ext cx="762595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998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2_61" descr="EFSA · AMR monitoring ↗">
            <a:hlinkClick r:id="rId4"/>
            <a:extLst>
              <a:ext uri="{FF2B5EF4-FFF2-40B4-BE49-F238E27FC236}">
                <a16:creationId xmlns:a16="http://schemas.microsoft.com/office/drawing/2014/main" id="{1EFC242E-88BD-FBB4-EAAB-BA427444B78D}"/>
              </a:ext>
            </a:extLst>
          </p:cNvPr>
          <p:cNvSpPr/>
          <p:nvPr/>
        </p:nvSpPr>
        <p:spPr>
          <a:xfrm>
            <a:off x="1660178" y="4864596"/>
            <a:ext cx="1258193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8945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3_62" descr="EFSA · AMR monitoring ↗">
            <a:hlinkClick r:id="rId4"/>
            <a:extLst>
              <a:ext uri="{FF2B5EF4-FFF2-40B4-BE49-F238E27FC236}">
                <a16:creationId xmlns:a16="http://schemas.microsoft.com/office/drawing/2014/main" id="{95317C73-619D-AE5F-1AE0-7A1A307C68DB}"/>
              </a:ext>
            </a:extLst>
          </p:cNvPr>
          <p:cNvSpPr/>
          <p:nvPr/>
        </p:nvSpPr>
        <p:spPr>
          <a:xfrm>
            <a:off x="1660178" y="5349180"/>
            <a:ext cx="1258193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163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4_63" descr="EFSA · Zoonoses and AMR ↗">
            <a:hlinkClick r:id="rId4"/>
            <a:extLst>
              <a:ext uri="{FF2B5EF4-FFF2-40B4-BE49-F238E27FC236}">
                <a16:creationId xmlns:a16="http://schemas.microsoft.com/office/drawing/2014/main" id="{39EF1063-7564-533D-80CE-07790FA01A2F}"/>
              </a:ext>
            </a:extLst>
          </p:cNvPr>
          <p:cNvSpPr/>
          <p:nvPr/>
        </p:nvSpPr>
        <p:spPr>
          <a:xfrm>
            <a:off x="1660178" y="4864596"/>
            <a:ext cx="1431131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69036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5_64" descr="Atlante · Public scope ↗">
            <a:hlinkClick r:id="rId4"/>
            <a:extLst>
              <a:ext uri="{FF2B5EF4-FFF2-40B4-BE49-F238E27FC236}">
                <a16:creationId xmlns:a16="http://schemas.microsoft.com/office/drawing/2014/main" id="{A0B501DE-5B5A-BD92-8DC5-6449287D6929}"/>
              </a:ext>
            </a:extLst>
          </p:cNvPr>
          <p:cNvSpPr/>
          <p:nvPr/>
        </p:nvSpPr>
        <p:spPr>
          <a:xfrm>
            <a:off x="1660178" y="5101530"/>
            <a:ext cx="118110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1958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6_65" descr="EFSA · AMR dashboard ↗">
            <a:hlinkClick r:id="rId4"/>
            <a:extLst>
              <a:ext uri="{FF2B5EF4-FFF2-40B4-BE49-F238E27FC236}">
                <a16:creationId xmlns:a16="http://schemas.microsoft.com/office/drawing/2014/main" id="{819DB0D4-FF33-2EB0-4CE0-AA5323BB76D8}"/>
              </a:ext>
            </a:extLst>
          </p:cNvPr>
          <p:cNvSpPr/>
          <p:nvPr/>
        </p:nvSpPr>
        <p:spPr>
          <a:xfrm>
            <a:off x="1660178" y="5101530"/>
            <a:ext cx="1257151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48685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657</Words>
  <Application>Microsoft Office PowerPoint</Application>
  <DocSecurity>0</DocSecurity>
  <PresentationFormat>Widescreen</PresentationFormat>
  <Paragraphs>25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8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GUARAGLIA Alessandro</cp:lastModifiedBy>
  <cp:revision>1</cp:revision>
  <dcterms:created xsi:type="dcterms:W3CDTF">2026-07-23T19:03:36Z</dcterms:created>
  <dcterms:modified xsi:type="dcterms:W3CDTF">2026-07-23T19:04:47Z</dcterms:modified>
</cp:coreProperties>
</file>