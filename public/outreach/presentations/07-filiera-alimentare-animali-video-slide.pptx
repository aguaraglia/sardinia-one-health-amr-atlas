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478154a79e4ebd" /><Relationship Type="http://schemas.openxmlformats.org/officeDocument/2006/relationships/extended-properties" Target="/docProps/app.xml" Id="R276d4dd9239f441e" /><Relationship Type="http://schemas.openxmlformats.org/officeDocument/2006/relationships/officeDocument" Target="/ppt/presentation.xml" Id="Rfaf233d7e8f0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8f9c53f704cad"/>
  </p:sldMasterIdLst>
  <p:notesMasterIdLst>
    <p:notesMasterId xmlns:r="http://schemas.openxmlformats.org/officeDocument/2006/relationships" r:id="Rdeb1d108199b41db"/>
  </p:notesMasterIdLst>
  <p:sldIdLst>
    <p:sldId xmlns:r="http://schemas.openxmlformats.org/officeDocument/2006/relationships" id="256" r:id="Ra4bc508eb6e14107"/>
    <p:sldId xmlns:r="http://schemas.openxmlformats.org/officeDocument/2006/relationships" id="257" r:id="R5758a623e6fb434f"/>
    <p:sldId xmlns:r="http://schemas.openxmlformats.org/officeDocument/2006/relationships" id="258" r:id="Re2b06c69ca2f449b"/>
    <p:sldId xmlns:r="http://schemas.openxmlformats.org/officeDocument/2006/relationships" id="259" r:id="R8961170c301a464d"/>
    <p:sldId xmlns:r="http://schemas.openxmlformats.org/officeDocument/2006/relationships" id="260" r:id="R578443231d494f05"/>
    <p:sldId xmlns:r="http://schemas.openxmlformats.org/officeDocument/2006/relationships" id="261" r:id="R70c6b1ca9c7c49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90af41760e40e2" /><Relationship Type="http://schemas.openxmlformats.org/officeDocument/2006/relationships/slideMaster" Target="/ppt/slideMasters/slideMaster1.xml" Id="R1608f9c53f704cad" /><Relationship Type="http://schemas.openxmlformats.org/officeDocument/2006/relationships/notesMaster" Target="/ppt/notesMasters/notesMaster1.xml" Id="Rdeb1d108199b41db" /><Relationship Type="http://schemas.openxmlformats.org/officeDocument/2006/relationships/presProps" Target="/ppt/presProps.xml" Id="Rf25fb8a7d30e489a" /><Relationship Type="http://schemas.openxmlformats.org/officeDocument/2006/relationships/tableStyles" Target="/ppt/tableStyles.xml" Id="R0ded1147c3914f0b" /><Relationship Type="http://schemas.openxmlformats.org/officeDocument/2006/relationships/slide" Target="/ppt/slides/slide1.xml" Id="Ra4bc508eb6e14107" /><Relationship Type="http://schemas.openxmlformats.org/officeDocument/2006/relationships/slide" Target="/ppt/slides/slide2.xml" Id="R5758a623e6fb434f" /><Relationship Type="http://schemas.openxmlformats.org/officeDocument/2006/relationships/slide" Target="/ppt/slides/slide3.xml" Id="Re2b06c69ca2f449b" /><Relationship Type="http://schemas.openxmlformats.org/officeDocument/2006/relationships/slide" Target="/ppt/slides/slide4.xml" Id="R8961170c301a464d" /><Relationship Type="http://schemas.openxmlformats.org/officeDocument/2006/relationships/slide" Target="/ppt/slides/slide5.xml" Id="R578443231d494f05" /><Relationship Type="http://schemas.openxmlformats.org/officeDocument/2006/relationships/slide" Target="/ppt/slides/slide6.xml" Id="R70c6b1ca9c7c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fcfb7ea2e4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1fd9cdba784cbd" /><Relationship Type="http://schemas.openxmlformats.org/officeDocument/2006/relationships/notesMaster" Target="/ppt/notesMasters/notesMaster1.xml" Id="R50f75cc1a9c64e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96d4ebb6dd4aff" /><Relationship Type="http://schemas.openxmlformats.org/officeDocument/2006/relationships/notesMaster" Target="/ppt/notesMasters/notesMaster1.xml" Id="Rfa9dfb6355af4a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6aa6f455b840c0" /><Relationship Type="http://schemas.openxmlformats.org/officeDocument/2006/relationships/notesMaster" Target="/ppt/notesMasters/notesMaster1.xml" Id="R2d664bc5f1b549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1df37b8f864429" /><Relationship Type="http://schemas.openxmlformats.org/officeDocument/2006/relationships/notesMaster" Target="/ppt/notesMasters/notesMaster1.xml" Id="R102397fdb04844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55f956e3244c33" /><Relationship Type="http://schemas.openxmlformats.org/officeDocument/2006/relationships/notesMaster" Target="/ppt/notesMasters/notesMaster1.xml" Id="R1be85d3765ea4b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ec1ecb91d4ae6" /><Relationship Type="http://schemas.openxmlformats.org/officeDocument/2006/relationships/notesMaster" Target="/ppt/notesMasters/notesMaster1.xml" Id="R7f85b4dec908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Un risultato di filiera è informativo, ma non equivale alla prevalenza regionale. Introduci il tema con una domanda semplice e collega l’illustrazione al messaggio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Spiega il concetto centrale: Specie, matrice, allevamento e metodo di campionamento cambiano l’interpretazione.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Svela i tre punti uno alla volta. Riprendi: Specie, matrice, allevamento e metodo di campionamento cambiano l’interpretazione. Fenotipo e gene raccontano aspetti diversi della resistenza. Dati di coorte o di stabilimenti anonimi non permettono di localizzare aziende.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Contrasta interpretazione corretta e scorciatoia da evitare. Enfatizza che il contesto è parte del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Concludi con un’azione concreta: Usa i risultati per migliorare sorveglianza e stewardship, non per stigmatizzare territori.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Mostra le fonti cliccabili e invita a verificare il contesto originale prima di riutilizzare un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602c9489f47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197b8a8f4d41c5" /><Relationship Type="http://schemas.openxmlformats.org/officeDocument/2006/relationships/slideLayout" Target="/ppt/slideLayouts/slideLayout1.xml" Id="R15a7ddd9a7fd40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7ddd9a7fd40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1656bf2e24188" /><Relationship Type="http://schemas.openxmlformats.org/officeDocument/2006/relationships/image" Target="/ppt/media/image.png" Id="Re953d622beeb49ac" /><Relationship Type="http://schemas.openxmlformats.org/officeDocument/2006/relationships/notesSlide" Target="/ppt/notesSlides/notesSlide1.xml" Id="R69971da725de47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212ea7a80499b" /><Relationship Type="http://schemas.openxmlformats.org/officeDocument/2006/relationships/notesSlide" Target="/ppt/notesSlides/notesSlide2.xml" Id="R09c276dbba274c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10fbde6bd4787" /><Relationship Type="http://schemas.openxmlformats.org/officeDocument/2006/relationships/notesSlide" Target="/ppt/notesSlides/notesSlide3.xml" Id="Rcbf203e849cd4e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ad16a7ef44eac" /><Relationship Type="http://schemas.openxmlformats.org/officeDocument/2006/relationships/notesSlide" Target="/ppt/notesSlides/notesSlide4.xml" Id="R4d4c4c37bc4144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66f0108ed42b5" /><Relationship Type="http://schemas.openxmlformats.org/officeDocument/2006/relationships/hyperlink" Target="https://aguaraglia.github.io/sardinia-one-health-amr-atlas/" TargetMode="External" Id="R6338b2fff5da4a4a" /><Relationship Type="http://schemas.openxmlformats.org/officeDocument/2006/relationships/notesSlide" Target="/ppt/notesSlides/notesSlide5.xml" Id="R81acac6562d5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d5d3d3be941a3" /><Relationship Type="http://schemas.openxmlformats.org/officeDocument/2006/relationships/hyperlink" Target="https://www.efsa.europa.eu/en/microstrategy/dashboard-antimicrobial-resistance" TargetMode="External" Id="R9dfe3904d7984159" /><Relationship Type="http://schemas.openxmlformats.org/officeDocument/2006/relationships/hyperlink" Target="https://www.efsa.europa.eu/en/microstrategy/dashboard-antimicrobial-resistance" TargetMode="External" Id="Rd5d3b8199ff4463f" /><Relationship Type="http://schemas.openxmlformats.org/officeDocument/2006/relationships/notesSlide" Target="/ppt/notesSlides/notesSlide6.xml" Id="Rd9ce75e731404d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3d622beeb49ac"/>
          <a:srcRect xmlns:a="http://schemas.openxmlformats.org/drawingml/2006/main" l="0" t="12222" r="0" b="1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21646-4A8D-4527-9D91-0620C0BD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C5906-7CBB-4BB8-AD9E-FF51CCF6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FDB29-D089-47B9-9976-4C04795A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2C56"/>
                </a:solidFill>
              </a:defRPr>
            </a:pPr>
            <a:r>
              <a:rPr sz="900" b="1">
                <a:solidFill>
                  <a:srgbClr val="062C56"/>
                </a:solidFill>
              </a:rPr>
              <a:t>MODULO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20C58-9C19-400B-B5B6-F94F665B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01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Filiera alimentare e animali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0D8F5-82AE-4FBD-8019-6F3EE3A9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DF3"/>
                </a:solidFill>
              </a:defRPr>
            </a:pPr>
            <a:r>
              <a:rPr sz="1725" b="0">
                <a:solidFill>
                  <a:srgbClr val="D6EDF3"/>
                </a:solidFill>
              </a:rPr>
              <a:t>Un risultato di filiera è informativo, ma non equivale alla prevalenza regionale.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F3C85-8645-46DD-89CD-9346B71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9C8DB"/>
                </a:solidFill>
              </a:defRPr>
            </a:pPr>
            <a:r>
              <a:rPr sz="1050" b="1">
                <a:solidFill>
                  <a:srgbClr val="49C8DB"/>
                </a:solidFill>
              </a:rPr>
              <a:t>Video-slide divulgativo · Sardinia One Health AMR Atlas</a:t>
            </a:r>
          </a:p>
        </p:txBody>
      </p:sp>
    </p:spTree>
    <p:extLst>
      <p:ext uri="{BB962C8B-B14F-4D97-AF65-F5344CB8AC3E}">
        <p14:creationId xmlns:p14="http://schemas.microsoft.com/office/powerpoint/2010/main" val="1071235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FC713-4B3C-4F29-8570-E68A4C6C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808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62C56"/>
                </a:solidFill>
              </a:defRPr>
            </a:pPr>
            <a:r>
              <a:rPr sz="3150" b="1">
                <a:solidFill>
                  <a:srgbClr val="062C56"/>
                </a:solidFill>
              </a:rPr>
              <a:t>Un risultato di filiera è informativo, ma non equivale alla prevalenza regionale.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FAF99-5B77-4CE4-B8D7-2F9687A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La domanda che guida questo modulo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1B4DC-AE86-40FD-901E-9685687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FE49F-EFAC-4148-A9A4-3A23D8A2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2C56"/>
                </a:solidFill>
              </a:defRPr>
            </a:pPr>
            <a:r>
              <a:rPr sz="2325" b="1">
                <a:solidFill>
                  <a:srgbClr val="062C56"/>
                </a:solidFill>
              </a:rPr>
              <a:t>Specie, matrice, allevamento e metodo di campionamento cambiano l’interpretazione.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120F8-F07E-4912-863A-B6374D2C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65F"/>
                </a:solidFill>
              </a:defRPr>
            </a:pPr>
            <a:r>
              <a:rPr sz="1350" b="0">
                <a:solidFill>
                  <a:srgbClr val="31465F"/>
                </a:solidFill>
              </a:rPr>
              <a:t>Partiamo da un concetto chiaro, poi vediamo come usarlo nella vita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95625-42DF-416F-96CE-CA30298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29D8-A7D3-4494-B04F-1BB00F91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07 · SLIDE</a:t>
            </a:r>
          </a:p>
        </p:txBody>
      </p:sp>
    </p:spTree>
    <p:extLst>
      <p:ext uri="{BB962C8B-B14F-4D97-AF65-F5344CB8AC3E}">
        <p14:creationId xmlns:p14="http://schemas.microsoft.com/office/powerpoint/2010/main" val="1637895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F8FA8-30EA-4B16-8126-D84E9048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Tre idee da portare con sé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1363F-0455-4D6F-8149-24E8FCC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72649-BAFC-4E32-82CD-E721702D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FBE14-1CEB-4D8F-89BD-67AB2BC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Specie, matrice, allevamento e metodo di campionamento cambiano l’interpretazione.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1E0C1-F9FC-4C1C-BB37-7CCD9498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644EB-2B4C-4D63-B16C-4A0F93DA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73C1A-A149-4D9B-A8EA-AAB318B5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Fenotipo e gene raccontano aspetti diversi della resistenza.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D4B80-6D15-445A-BCA4-4AEFEA1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A3B86-261E-4797-B760-6521920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631AA-3D55-4782-9F49-75FB889D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Dati di coorte o di stabilimenti anonimi non permettono di localizzare aziende.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60885-D737-4CDB-9372-4180D3C4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47F56-6D5A-4F4B-874C-6B35B0EE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07 · SLIDE</a:t>
            </a:r>
          </a:p>
        </p:txBody>
      </p:sp>
    </p:spTree>
    <p:extLst>
      <p:ext uri="{BB962C8B-B14F-4D97-AF65-F5344CB8AC3E}">
        <p14:creationId xmlns:p14="http://schemas.microsoft.com/office/powerpoint/2010/main" val="2037970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0CD55-638D-4CF1-B20F-E63C3FC5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Una lettura responsabile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CAA9-0A5D-4A5A-A5C4-31775772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C2E5B-CB6C-4E80-8E47-A12C3F00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4483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E581C-966D-4B17-B503-3611E40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16F24"/>
                </a:solidFill>
              </a:defRPr>
            </a:pPr>
            <a:r>
              <a:rPr sz="1500" b="1">
                <a:solidFill>
                  <a:srgbClr val="C16F24"/>
                </a:solidFill>
              </a:rPr>
              <a:t>Cosa possiamo dire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2AEC4-A252-492F-97BF-80A6FBC5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2C56"/>
                </a:solidFill>
              </a:defRPr>
            </a:pPr>
            <a:r>
              <a:rPr sz="2025" b="1">
                <a:solidFill>
                  <a:srgbClr val="062C56"/>
                </a:solidFill>
              </a:rPr>
              <a:t>Fenotipo e gene raccontano aspetti diversi della resistenza.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17242-46AD-4463-AA83-A70B336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DB"/>
                </a:solidFill>
              </a:defRPr>
            </a:pPr>
            <a:r>
              <a:rPr sz="1500" b="1">
                <a:solidFill>
                  <a:srgbClr val="49C8DB"/>
                </a:solidFill>
              </a:rPr>
              <a:t>Cosa non possiamo concludere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9146D-C99F-48F0-8C08-94873E0B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Dati di coorte o di stabilimenti anonimi non permettono di localizzare aziende.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15FB9-BB66-46C8-B6B7-E7AFAD6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4487-D091-4D74-BF60-F9B312D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07 · SLIDE</a:t>
            </a:r>
          </a:p>
        </p:txBody>
      </p:sp>
    </p:spTree>
    <p:extLst>
      <p:ext uri="{BB962C8B-B14F-4D97-AF65-F5344CB8AC3E}">
        <p14:creationId xmlns:p14="http://schemas.microsoft.com/office/powerpoint/2010/main" val="363902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EB665-C3B2-4BDF-9CB6-EA1BB05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Dalla conoscenza all’azione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F5273-5634-474A-A0FE-231A5FF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56F84-5487-4D87-B24A-30A5364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Usa i risultati per migliorare sorveglianza e stewardship, non per stigmatizzare territori.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BABAC-3FF8-4CC8-B76E-6026C31C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Approfondisci nel cruscotto pubblico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8C486-D8BB-4345-9057-834D1C9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E8B"/>
                </a:solidFill>
              </a:defRPr>
            </a:pPr>
            <a:r>
              <a:rPr sz="1800" b="1">
                <a:solidFill>
                  <a:srgbClr val="176E8B"/>
                </a:solidFill>
                <a:hlinkClick xmlns:r="http://schemas.openxmlformats.org/officeDocument/2006/relationships" r:id="R6338b2fff5da4a4a"/>
              </a:rPr>
              <a:t>Apri il Sardinia One Health AMR 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4280B-7312-4EB7-84B4-A507F1F6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C55E5-57F8-4DB2-AF26-0D1528E1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07 · SLIDE</a:t>
            </a:r>
          </a:p>
        </p:txBody>
      </p:sp>
    </p:spTree>
    <p:extLst>
      <p:ext uri="{BB962C8B-B14F-4D97-AF65-F5344CB8AC3E}">
        <p14:creationId xmlns:p14="http://schemas.microsoft.com/office/powerpoint/2010/main" val="133970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3AAE9-FA87-49F9-A995-319F8B2E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Fonti e approfondimenti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DF50A-BB42-4EC3-8C2F-9EA02FE6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8DB"/>
                </a:solidFill>
              </a:defRPr>
            </a:pPr>
            <a:r>
              <a:rPr sz="1350" b="1">
                <a:solidFill>
                  <a:srgbClr val="49C8DB"/>
                </a:solidFill>
              </a:rPr>
              <a:t>Fonte essenziale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06988-F8EB-436F-8A45-5A38BFD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hlinkClick xmlns:r="http://schemas.openxmlformats.org/officeDocument/2006/relationships" r:id="R9dfe3904d7984159"/>
              </a:rPr>
              <a:t>EFSA · AMR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A1DC8-8A43-4B41-9283-64775F8A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7E6"/>
                </a:solidFill>
              </a:defRPr>
            </a:pPr>
            <a:r>
              <a:rPr sz="1350" b="0">
                <a:solidFill>
                  <a:srgbClr val="C4D7E6"/>
                </a:solidFill>
                <a:hlinkClick xmlns:r="http://schemas.openxmlformats.org/officeDocument/2006/relationships" r:id="Rd5d3b8199ff4463f"/>
              </a:rPr>
              <a:t>https://www.efsa.europa.eu/en/microstrategy/dashboard-antimicrobial-resistance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FA9D9-CABE-401E-8946-26E1A001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10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4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630F9-D3BC-441F-AA16-AB89DD89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Questo modulo è divulgativo: non sostituisce indicazioni cliniche, veterinarie o regolatorie.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000DF-1D80-47C9-9671-251BF3F6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D7E6"/>
                </a:solidFill>
              </a:defRPr>
            </a:pPr>
            <a:r>
              <a:rPr sz="825" b="1">
                <a:solidFill>
                  <a:srgbClr val="C4D7E6"/>
                </a:solidFill>
              </a:rPr>
              <a:t>Materiale prodotto per Sardinia One Health AMR Atlas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0941E-6CC1-4CBD-9F4A-E4A43D0E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8FE66-742C-4689-B640-F4CB4327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07 · SLIDE</a:t>
            </a:r>
          </a:p>
        </p:txBody>
      </p:sp>
    </p:spTree>
    <p:extLst>
      <p:ext uri="{BB962C8B-B14F-4D97-AF65-F5344CB8AC3E}">
        <p14:creationId xmlns:p14="http://schemas.microsoft.com/office/powerpoint/2010/main" val="571994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2026-07-19T00:16:53.7580000Z</dcterms:created>
  <dcterms:modified xsi:type="dcterms:W3CDTF">2026-07-19T00:16:53.7580000Z</dcterms:modified>
</coreProperties>
</file>