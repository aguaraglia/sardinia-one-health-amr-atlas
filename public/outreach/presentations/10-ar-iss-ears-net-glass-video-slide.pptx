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TRE SISTEMI
Stessa parola, domande diverse
AR-ISS, EARS-Net e GLASS condividono l’obiettivo di informare la risposta, ma differiscono per popolazione, paese, indicatori e governance.
AR-ISS
Italia
sorveglianza nazionale
EARS-Net
Europa
isolati invasivi
GLASS
globale
framework internazionale
i
Prima di confrontare un valore, identifica il sistema che lo ha prodotto.
Fonti della scheda
ISS · AR-ISS ↗
ECDC · EARS-Net ↗
WHO · GLASS ↗</a:t>
            </a:r>
          </a:p>
          <a:p>
            <a:endParaRPr lang="it-IT"/>
          </a:p>
          <a:p>
            <a:r>
              <a:rPr lang="it-IT"/>
              <a:t>Fonti cliccabili:</a:t>
            </a:r>
          </a:p>
          <a:p>
            <a:r>
              <a:rPr lang="it-IT"/>
              <a:t>ISS · AR-ISS ↗: https://www.epicentro.iss.it/antibiotico-resistenza/ar-iss-rapporto</a:t>
            </a:r>
          </a:p>
          <a:p>
            <a:r>
              <a:rPr lang="it-IT"/>
              <a:t>ECDC · EARS-Net ↗: https://www.ecdc.europa.eu/en/about-us/partnerships-and-networks/disease-and-laboratory-networks/ears-net</a:t>
            </a:r>
          </a:p>
          <a:p>
            <a:r>
              <a:rPr lang="it-IT"/>
              <a:t>WHO · GLASS ↗: https://www.who.int/initiatives/glass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LA SCALA
Nazionale, europea, globale: non è una gerarchia
Una scala più ampia non è automaticamente più accurata per la Sardegna. La pertinenza dipende dalla domanda e dal disegno della sorveglianza.
Sardegna↕Italia↕Europa↕mondo
i
Usa la scala che risponde alla domanda, non quella con il numero più grande.
Fonti della scheda
WHO · GLASS ↗</a:t>
            </a:r>
          </a:p>
          <a:p>
            <a:endParaRPr lang="it-IT"/>
          </a:p>
          <a:p>
            <a:r>
              <a:rPr lang="it-IT"/>
              <a:t>Fonti cliccabili:</a:t>
            </a:r>
          </a:p>
          <a:p>
            <a:r>
              <a:rPr lang="it-IT"/>
              <a:t>WHO · GLASS ↗: https://www.who.int/initiatives/glass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IL DENOMINATORE
Anche lo stesso antibiotico può avere denominatori diversi
Numero di isolati, pazienti, infezioni o laboratori inclusi cambiano il significato della percentuale.
R/n
resistenti / testati
copertura
rete osservata / rete attesa
leggere sempre la nota metodologica
i
Il denominatore è parte del risultato, non una nota a margine.
Fonti della scheda
ECDC · Surveillance Atlas ↗</a:t>
            </a:r>
          </a:p>
          <a:p>
            <a:endParaRPr lang="it-IT"/>
          </a:p>
          <a:p>
            <a:r>
              <a:rPr lang="it-IT"/>
              <a:t>Fonti cliccabili:</a:t>
            </a:r>
          </a:p>
          <a:p>
            <a:r>
              <a:rPr lang="it-IT"/>
              <a:t>ECDC · Surveillance Atlas ↗: https://www.ecdc.europa.eu/en/surveillance-atlas-infectious-diseases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IL CONFRONTO
Confrontare significa allineare definizioni
Per un confronto responsabile servono stesso patogeno, stesso antibiotico, stessa definizione, periodo compatibile e metodo comparabile.
patogeno
farmaco
definizione
periodo
metodo
confronto
i
Se un elemento cambia, dichiaralo o evita il confronto numerico.
Fonti della scheda
WHO · GLASS manual ↗</a:t>
            </a:r>
          </a:p>
          <a:p>
            <a:endParaRPr lang="it-IT"/>
          </a:p>
          <a:p>
            <a:r>
              <a:rPr lang="it-IT"/>
              <a:t>Fonti cliccabili:</a:t>
            </a:r>
          </a:p>
          <a:p>
            <a:r>
              <a:rPr lang="it-IT"/>
              <a:t>WHO · GLASS manual ↗: https://www.who.int/publications/i/item/9789240076657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IL VALORE
La sorveglianza orienta azioni, non classifiche
I dati aiutano a definire priorità, prevenzione e stewardship. Una classifica senza contesto può generare interpretazioni improprie.
01
Individuare
segnali e trend
02
Verificare
metodi e copertura
03
Agire
interventi proporzionati
i
Il risultato più utile è una decisione migliore, non un numero più spettacolare.
Fonti della scheda
WHO · AMR work ↗</a:t>
            </a:r>
          </a:p>
          <a:p>
            <a:endParaRPr lang="it-IT"/>
          </a:p>
          <a:p>
            <a:r>
              <a:rPr lang="it-IT"/>
              <a:t>Fonti cliccabili:</a:t>
            </a:r>
          </a:p>
          <a:p>
            <a:r>
              <a:rPr lang="it-IT"/>
              <a:t>WHO · AMR work ↗: https://www.who.int/our-work/antimicrobial-resistance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LA REGOLA
Non fondere dati incompatibili
L’Atlante mantiene separate fonti, scale e indicatori. Questa separazione è una garanzia di leggibilità e di onestà scientifica.
Separare
fonti e denominatori
Documentare
copertura e periodo
Interpretare
solo ciò che il dato sostiene
i
La comparabilità è costruita, non presunta.
Fonti della scheda
Atlante · Evidenze ↗</a:t>
            </a:r>
          </a:p>
          <a:p>
            <a:endParaRPr lang="it-IT"/>
          </a:p>
          <a:p>
            <a:r>
              <a:rPr lang="it-IT"/>
              <a:t>Fonti cliccabili:</a:t>
            </a:r>
          </a:p>
          <a:p>
            <a:r>
              <a:rPr lang="it-IT"/>
              <a:t>Atlante · Evidenze ↗: https://aguaraglia.github.io/sardinia-one-health-amr-atlas/evidence.html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who.int/initiatives/glass" TargetMode="External"/><Relationship Id="rId5" Type="http://schemas.openxmlformats.org/officeDocument/2006/relationships/hyperlink" Target="https://www.ecdc.europa.eu/en/about-us/partnerships-and-networks/disease-and-laboratory-networks/ears-net" TargetMode="External"/><Relationship Id="rId4" Type="http://schemas.openxmlformats.org/officeDocument/2006/relationships/hyperlink" Target="https://www.epicentro.iss.it/antibiotico-resistenza/ar-iss-rapporto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who.int/initiatives/glass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ecdc.europa.eu/en/surveillance-atlas-infectious-diseases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who.int/publications/i/item/9789240076657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who.int/our-work/antimicrobial-resistance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aguaraglia.github.io/sardinia-one-health-amr-atlas/evidence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urceLink_1_82" descr="ISS · AR-ISS ↗">
            <a:hlinkClick r:id="rId4"/>
            <a:extLst>
              <a:ext uri="{FF2B5EF4-FFF2-40B4-BE49-F238E27FC236}">
                <a16:creationId xmlns:a16="http://schemas.microsoft.com/office/drawing/2014/main" id="{DF0063BB-AA6C-9B7F-541E-A133CACF23D9}"/>
              </a:ext>
            </a:extLst>
          </p:cNvPr>
          <p:cNvSpPr/>
          <p:nvPr/>
        </p:nvSpPr>
        <p:spPr>
          <a:xfrm>
            <a:off x="1660178" y="4864596"/>
            <a:ext cx="711101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SourceLink_1_83" descr="ECDC · EARS-Net ↗">
            <a:hlinkClick r:id="rId5"/>
            <a:extLst>
              <a:ext uri="{FF2B5EF4-FFF2-40B4-BE49-F238E27FC236}">
                <a16:creationId xmlns:a16="http://schemas.microsoft.com/office/drawing/2014/main" id="{ED27E245-DCA1-E00D-687A-826A8DA6912A}"/>
              </a:ext>
            </a:extLst>
          </p:cNvPr>
          <p:cNvSpPr/>
          <p:nvPr/>
        </p:nvSpPr>
        <p:spPr>
          <a:xfrm>
            <a:off x="2493169" y="4864596"/>
            <a:ext cx="983158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SourceLink_1_84" descr="WHO · GLASS ↗">
            <a:hlinkClick r:id="rId6"/>
            <a:extLst>
              <a:ext uri="{FF2B5EF4-FFF2-40B4-BE49-F238E27FC236}">
                <a16:creationId xmlns:a16="http://schemas.microsoft.com/office/drawing/2014/main" id="{CDAD8FED-739F-7B07-A19C-C69C4C28BDEE}"/>
              </a:ext>
            </a:extLst>
          </p:cNvPr>
          <p:cNvSpPr/>
          <p:nvPr/>
        </p:nvSpPr>
        <p:spPr>
          <a:xfrm>
            <a:off x="3598218" y="4864596"/>
            <a:ext cx="803820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527680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urceLink_2_85" descr="WHO · GLASS ↗">
            <a:hlinkClick r:id="rId4"/>
            <a:extLst>
              <a:ext uri="{FF2B5EF4-FFF2-40B4-BE49-F238E27FC236}">
                <a16:creationId xmlns:a16="http://schemas.microsoft.com/office/drawing/2014/main" id="{C225CC46-EE66-608A-BE5A-95F5340ADB69}"/>
              </a:ext>
            </a:extLst>
          </p:cNvPr>
          <p:cNvSpPr/>
          <p:nvPr/>
        </p:nvSpPr>
        <p:spPr>
          <a:xfrm>
            <a:off x="1660178" y="4864596"/>
            <a:ext cx="803820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288665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urceLink_3_86" descr="ECDC · Surveillance Atlas ↗">
            <a:hlinkClick r:id="rId4"/>
            <a:extLst>
              <a:ext uri="{FF2B5EF4-FFF2-40B4-BE49-F238E27FC236}">
                <a16:creationId xmlns:a16="http://schemas.microsoft.com/office/drawing/2014/main" id="{4F20FFD4-C444-D8A1-AC32-A1ECA7B431BF}"/>
              </a:ext>
            </a:extLst>
          </p:cNvPr>
          <p:cNvSpPr/>
          <p:nvPr/>
        </p:nvSpPr>
        <p:spPr>
          <a:xfrm>
            <a:off x="1660178" y="5349180"/>
            <a:ext cx="1371600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803244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urceLink_4_87" descr="WHO · GLASS manual ↗">
            <a:hlinkClick r:id="rId4"/>
            <a:extLst>
              <a:ext uri="{FF2B5EF4-FFF2-40B4-BE49-F238E27FC236}">
                <a16:creationId xmlns:a16="http://schemas.microsoft.com/office/drawing/2014/main" id="{7CEAF97E-19B1-5379-DF89-4618F051CE58}"/>
              </a:ext>
            </a:extLst>
          </p:cNvPr>
          <p:cNvSpPr/>
          <p:nvPr/>
        </p:nvSpPr>
        <p:spPr>
          <a:xfrm>
            <a:off x="1660178" y="4864596"/>
            <a:ext cx="1193304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75198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urceLink_5_88" descr="WHO · AMR work ↗">
            <a:hlinkClick r:id="rId4"/>
            <a:extLst>
              <a:ext uri="{FF2B5EF4-FFF2-40B4-BE49-F238E27FC236}">
                <a16:creationId xmlns:a16="http://schemas.microsoft.com/office/drawing/2014/main" id="{CE2FF593-7A99-8BEC-0A25-29969EDE8342}"/>
              </a:ext>
            </a:extLst>
          </p:cNvPr>
          <p:cNvSpPr/>
          <p:nvPr/>
        </p:nvSpPr>
        <p:spPr>
          <a:xfrm>
            <a:off x="1660178" y="4864596"/>
            <a:ext cx="969317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41221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urceLink_6_89" descr="Atlante · Evidenze ↗">
            <a:hlinkClick r:id="rId4"/>
            <a:extLst>
              <a:ext uri="{FF2B5EF4-FFF2-40B4-BE49-F238E27FC236}">
                <a16:creationId xmlns:a16="http://schemas.microsoft.com/office/drawing/2014/main" id="{11694D1A-E451-3D1C-8FBD-A1BDBAA9135F}"/>
              </a:ext>
            </a:extLst>
          </p:cNvPr>
          <p:cNvSpPr/>
          <p:nvPr/>
        </p:nvSpPr>
        <p:spPr>
          <a:xfrm>
            <a:off x="1660178" y="5162996"/>
            <a:ext cx="995809" cy="147192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9365647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663</Words>
  <Application>Microsoft Office PowerPoint</Application>
  <DocSecurity>0</DocSecurity>
  <PresentationFormat>Widescreen</PresentationFormat>
  <Paragraphs>26</Paragraphs>
  <Slides>6</Slides>
  <Notes>6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1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6</vt:i4>
      </vt:variant>
    </vt:vector>
  </HeadingPairs>
  <TitlesOfParts>
    <vt:vector size="8" baseType="lpstr">
      <vt:lpstr>Calibri</vt:lpstr>
      <vt:lpstr>ChatGPT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GUARAGLIA Alessandro</cp:lastModifiedBy>
  <cp:revision>1</cp:revision>
  <dcterms:created xsi:type="dcterms:W3CDTF">2026-07-23T19:03:38Z</dcterms:created>
  <dcterms:modified xsi:type="dcterms:W3CDTF">2026-07-23T19:04:49Z</dcterms:modified>
</cp:coreProperties>
</file>