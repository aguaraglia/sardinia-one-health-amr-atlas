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f1ce668a1a46c8" /><Relationship Type="http://schemas.openxmlformats.org/officeDocument/2006/relationships/extended-properties" Target="/docProps/app.xml" Id="Rd6d8c8f37f214a4a" /><Relationship Type="http://schemas.openxmlformats.org/officeDocument/2006/relationships/officeDocument" Target="/ppt/presentation.xml" Id="R0afe95c17e9d46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3ceb1be480468d"/>
  </p:sldMasterIdLst>
  <p:notesMasterIdLst>
    <p:notesMasterId xmlns:r="http://schemas.openxmlformats.org/officeDocument/2006/relationships" r:id="R58e3c89fb50c4383"/>
  </p:notesMasterIdLst>
  <p:sldIdLst>
    <p:sldId xmlns:r="http://schemas.openxmlformats.org/officeDocument/2006/relationships" id="256" r:id="Rbe00252f0fa44301"/>
    <p:sldId xmlns:r="http://schemas.openxmlformats.org/officeDocument/2006/relationships" id="257" r:id="Rd1367f9fa73543cb"/>
    <p:sldId xmlns:r="http://schemas.openxmlformats.org/officeDocument/2006/relationships" id="258" r:id="R1aefca0cd75f4023"/>
    <p:sldId xmlns:r="http://schemas.openxmlformats.org/officeDocument/2006/relationships" id="259" r:id="R69d9fc0e528e4b9a"/>
    <p:sldId xmlns:r="http://schemas.openxmlformats.org/officeDocument/2006/relationships" id="260" r:id="R73b472265a0a40dc"/>
    <p:sldId xmlns:r="http://schemas.openxmlformats.org/officeDocument/2006/relationships" id="261" r:id="Re0b0bab0087c4cd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e2469abedb4820" /><Relationship Type="http://schemas.openxmlformats.org/officeDocument/2006/relationships/slideMaster" Target="/ppt/slideMasters/slideMaster1.xml" Id="R9d3ceb1be480468d" /><Relationship Type="http://schemas.openxmlformats.org/officeDocument/2006/relationships/notesMaster" Target="/ppt/notesMasters/notesMaster1.xml" Id="R58e3c89fb50c4383" /><Relationship Type="http://schemas.openxmlformats.org/officeDocument/2006/relationships/presProps" Target="/ppt/presProps.xml" Id="Rff354e61ccee4097" /><Relationship Type="http://schemas.openxmlformats.org/officeDocument/2006/relationships/tableStyles" Target="/ppt/tableStyles.xml" Id="Rda97be47a1de4e23" /><Relationship Type="http://schemas.openxmlformats.org/officeDocument/2006/relationships/slide" Target="/ppt/slides/slide1.xml" Id="Rbe00252f0fa44301" /><Relationship Type="http://schemas.openxmlformats.org/officeDocument/2006/relationships/slide" Target="/ppt/slides/slide2.xml" Id="Rd1367f9fa73543cb" /><Relationship Type="http://schemas.openxmlformats.org/officeDocument/2006/relationships/slide" Target="/ppt/slides/slide3.xml" Id="R1aefca0cd75f4023" /><Relationship Type="http://schemas.openxmlformats.org/officeDocument/2006/relationships/slide" Target="/ppt/slides/slide4.xml" Id="R69d9fc0e528e4b9a" /><Relationship Type="http://schemas.openxmlformats.org/officeDocument/2006/relationships/slide" Target="/ppt/slides/slide5.xml" Id="R73b472265a0a40dc" /><Relationship Type="http://schemas.openxmlformats.org/officeDocument/2006/relationships/slide" Target="/ppt/slides/slide6.xml" Id="Re0b0bab0087c4c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3a135aaed04c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3e4b4326864efa" /><Relationship Type="http://schemas.openxmlformats.org/officeDocument/2006/relationships/notesMaster" Target="/ppt/notesMasters/notesMaster1.xml" Id="Rd260d6b2faa542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43020359a74309" /><Relationship Type="http://schemas.openxmlformats.org/officeDocument/2006/relationships/notesMaster" Target="/ppt/notesMasters/notesMaster1.xml" Id="R2df5fec66a144d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b0a39720e146dd" /><Relationship Type="http://schemas.openxmlformats.org/officeDocument/2006/relationships/notesMaster" Target="/ppt/notesMasters/notesMaster1.xml" Id="R19d2e201a72742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a2372587864876" /><Relationship Type="http://schemas.openxmlformats.org/officeDocument/2006/relationships/notesMaster" Target="/ppt/notesMasters/notesMaster1.xml" Id="R81b0df9f37d342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262b4d075f4fbd" /><Relationship Type="http://schemas.openxmlformats.org/officeDocument/2006/relationships/notesMaster" Target="/ppt/notesMasters/notesMaster1.xml" Id="Rce617df0250344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58829a03ce47ab" /><Relationship Type="http://schemas.openxmlformats.org/officeDocument/2006/relationships/notesMaster" Target="/ppt/notesMasters/notesMaster1.xml" Id="Rfbe54e310bd14b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Le reti di sorveglianza sono complementari, non intercambiabili. Introduci il tema con una domanda semplice e collega l’illustrazione al messaggio principale.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Spiega il concetto centrale: AR-ISS documenta la sorveglianza italiana; EARS-Net consente confronti europei; GLASS guarda alla scala globale.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Svela i tre punti uno alla volta. Riprendi: AR-ISS documenta la sorveglianza italiana; EARS-Net consente confronti europei; GLASS guarda alla scala globale. Ogni sistema ha popolazioni, obiettivi, coperture e denominatori propri. Sommare o confrontare percentuali senza contesto può creare conclusioni errate.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Contrasta interpretazione corretta e scorciatoia da evitare. Enfatizza che il contesto è parte del dato.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Concludi con un’azione concreta: Prima di confrontare, verifica definizione di caso, periodo e copertura.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Mostra le fonti cliccabili e invita a verificare il contesto originale prima di riutilizzare un dato.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1def58667143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709057fcdf42fd" /><Relationship Type="http://schemas.openxmlformats.org/officeDocument/2006/relationships/slideLayout" Target="/ppt/slideLayouts/slideLayout1.xml" Id="Rb0920d9adc5346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920d9adc5346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4c14f2feb4968" /><Relationship Type="http://schemas.openxmlformats.org/officeDocument/2006/relationships/image" Target="/ppt/media/image.png" Id="R30a5aa7192164719" /><Relationship Type="http://schemas.openxmlformats.org/officeDocument/2006/relationships/notesSlide" Target="/ppt/notesSlides/notesSlide1.xml" Id="R01efe335d17d4a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5b3a4c3884e66" /><Relationship Type="http://schemas.openxmlformats.org/officeDocument/2006/relationships/notesSlide" Target="/ppt/notesSlides/notesSlide2.xml" Id="R7536aeb0396544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74dfa54274cec" /><Relationship Type="http://schemas.openxmlformats.org/officeDocument/2006/relationships/notesSlide" Target="/ppt/notesSlides/notesSlide3.xml" Id="R9a38057e9b8044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7ae9f09274d76" /><Relationship Type="http://schemas.openxmlformats.org/officeDocument/2006/relationships/notesSlide" Target="/ppt/notesSlides/notesSlide4.xml" Id="R1d94fb69d7c44c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73211065849ef" /><Relationship Type="http://schemas.openxmlformats.org/officeDocument/2006/relationships/hyperlink" Target="https://aguaraglia.github.io/sardinia-one-health-amr-atlas/" TargetMode="External" Id="Rfed66929f99743b3" /><Relationship Type="http://schemas.openxmlformats.org/officeDocument/2006/relationships/notesSlide" Target="/ppt/notesSlides/notesSlide5.xml" Id="Rcb1d4c691d9243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ec600a8064446" /><Relationship Type="http://schemas.openxmlformats.org/officeDocument/2006/relationships/hyperlink" Target="https://www.who.int/initiatives/glass" TargetMode="External" Id="R1a5e74ae57ba42dc" /><Relationship Type="http://schemas.openxmlformats.org/officeDocument/2006/relationships/hyperlink" Target="https://www.who.int/initiatives/glass" TargetMode="External" Id="R0c50b16d1f084999" /><Relationship Type="http://schemas.openxmlformats.org/officeDocument/2006/relationships/notesSlide" Target="/ppt/notesSlides/notesSlide6.xml" Id="R394f4c0bc50542b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a5aa7192164719"/>
          <a:srcRect xmlns:a="http://schemas.openxmlformats.org/drawingml/2006/main" l="0" t="12222" r="0" b="122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8FFD6-C259-425B-B682-DC640CA2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C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66419-A76B-48F5-9A22-143D4828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466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49C8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CD998-533C-46FB-830C-D6E34CD5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858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62C56"/>
                </a:solidFill>
              </a:defRPr>
            </a:pPr>
            <a:r>
              <a:rPr sz="900" b="1">
                <a:solidFill>
                  <a:srgbClr val="062C56"/>
                </a:solidFill>
              </a:rPr>
              <a:t>MODULO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4E053-16A6-4DDD-9D61-73A9B2CA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238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901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AR-ISS, EARS-Net e GLASS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62F47C-CAA5-42D9-A360-C5809EDF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813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EDF3"/>
                </a:solidFill>
              </a:defRPr>
            </a:pPr>
            <a:r>
              <a:rPr sz="1725" b="0">
                <a:solidFill>
                  <a:srgbClr val="D6EDF3"/>
                </a:solidFill>
              </a:rPr>
              <a:t>Le reti di sorveglianza sono complementari, non intercambiabili.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E404E-FF6D-4859-A77F-01E54C00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9C8DB"/>
                </a:solidFill>
              </a:defRPr>
            </a:pPr>
            <a:r>
              <a:rPr sz="1050" b="1">
                <a:solidFill>
                  <a:srgbClr val="49C8DB"/>
                </a:solidFill>
              </a:rPr>
              <a:t>Video-slide divulgativo · Sardinia One Health AMR Atlas</a:t>
            </a:r>
          </a:p>
        </p:txBody>
      </p:sp>
    </p:spTree>
    <p:extLst>
      <p:ext uri="{BB962C8B-B14F-4D97-AF65-F5344CB8AC3E}">
        <p14:creationId xmlns:p14="http://schemas.microsoft.com/office/powerpoint/2010/main" val="6856298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4AAF1-CC10-470A-A240-B4F093BA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015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62C56"/>
                </a:solidFill>
              </a:defRPr>
            </a:pPr>
            <a:r>
              <a:rPr sz="3150" b="1">
                <a:solidFill>
                  <a:srgbClr val="062C56"/>
                </a:solidFill>
              </a:rPr>
              <a:t>Le reti di sorveglianza sono complementari, non intercambiabili.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C78FB-C6A8-4F6F-AA96-EF3C5838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16F24"/>
                </a:solidFill>
              </a:defRPr>
            </a:pPr>
            <a:r>
              <a:rPr sz="1350" b="1">
                <a:solidFill>
                  <a:srgbClr val="C16F24"/>
                </a:solidFill>
              </a:rPr>
              <a:t>La domanda che guida questo modulo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003866-CA72-4155-A290-576B1513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95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C0944-C5C9-4409-9D92-2BD34FBC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1009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62C56"/>
                </a:solidFill>
              </a:defRPr>
            </a:pPr>
            <a:r>
              <a:rPr sz="2325" b="1">
                <a:solidFill>
                  <a:srgbClr val="062C56"/>
                </a:solidFill>
              </a:rPr>
              <a:t>AR-ISS documenta la sorveglianza italiana; EARS-Net consente confronti europei; GLASS guarda alla scala globale.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6AB3C-306A-4952-AA90-BB30AD42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1465F"/>
                </a:solidFill>
              </a:defRPr>
            </a:pPr>
            <a:r>
              <a:rPr sz="1350" b="0">
                <a:solidFill>
                  <a:srgbClr val="31465F"/>
                </a:solidFill>
              </a:rPr>
              <a:t>Partiamo da un concetto chiaro, poi vediamo come usarlo nella vita reale.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4EDD3D-306B-4248-A78C-C2667E97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SARDINIA ONE HEALTH AMR ATLAS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AC985-7964-4035-9ECE-78233809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MODULO 10 · SLIDE</a:t>
            </a:r>
          </a:p>
        </p:txBody>
      </p:sp>
    </p:spTree>
    <p:extLst>
      <p:ext uri="{BB962C8B-B14F-4D97-AF65-F5344CB8AC3E}">
        <p14:creationId xmlns:p14="http://schemas.microsoft.com/office/powerpoint/2010/main" val="168997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0852D1-F292-4CEA-8AAC-867A1BAC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2C56"/>
                </a:solidFill>
              </a:defRPr>
            </a:pPr>
            <a:r>
              <a:rPr sz="3000" b="1">
                <a:solidFill>
                  <a:srgbClr val="062C56"/>
                </a:solidFill>
              </a:rPr>
              <a:t>Tre idee da portare con sé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0C6D3-082F-47AB-9E51-0415CC25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9C8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08CF7-E625-4ACC-B154-FF11C058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2C56"/>
                </a:solidFill>
              </a:defRPr>
            </a:pPr>
            <a:r>
              <a:rPr sz="1875" b="1">
                <a:solidFill>
                  <a:srgbClr val="062C56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7318D8-B77C-4C5E-A434-CA845C21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43075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2C56"/>
                </a:solidFill>
              </a:defRPr>
            </a:pPr>
            <a:r>
              <a:rPr sz="1875" b="1">
                <a:solidFill>
                  <a:srgbClr val="062C56"/>
                </a:solidFill>
              </a:rPr>
              <a:t>AR-ISS documenta la sorveglianza italiana; EARS-Net consente confronti europei; GLASS guarda alla scala globale.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7A158-4B0D-472A-B1D4-1EAA83D3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18471-0918-4986-9D8F-C7DEADB3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99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2C56"/>
                </a:solidFill>
              </a:defRPr>
            </a:pPr>
            <a:r>
              <a:rPr sz="1875" b="1">
                <a:solidFill>
                  <a:srgbClr val="062C56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7D937-F584-4160-888A-2B3AC375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76575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62C56"/>
                </a:solidFill>
              </a:defRPr>
            </a:pPr>
            <a:r>
              <a:rPr sz="1875" b="0">
                <a:solidFill>
                  <a:srgbClr val="062C56"/>
                </a:solidFill>
              </a:rPr>
              <a:t>Ogni sistema ha popolazioni, obiettivi, coperture e denominatori propri.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730F5A-C16F-4C52-9256-1C97D95D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7374E-EC98-499A-9BEF-9A7FE798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34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2C56"/>
                </a:solidFill>
              </a:defRPr>
            </a:pPr>
            <a:r>
              <a:rPr sz="1875" b="1">
                <a:solidFill>
                  <a:srgbClr val="062C56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9652FE-F270-4E84-8309-F661AE1D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10075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62C56"/>
                </a:solidFill>
              </a:defRPr>
            </a:pPr>
            <a:r>
              <a:rPr sz="1875" b="0">
                <a:solidFill>
                  <a:srgbClr val="062C56"/>
                </a:solidFill>
              </a:rPr>
              <a:t>Sommare o confrontare percentuali senza contesto può creare conclusioni errate.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D61DA0-FC81-42A2-99F2-329E64C2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SARDINIA ONE HEALTH AMR ATLAS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0D4E46-D055-419E-A0AB-3A70309A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MODULO 10 · SLIDE</a:t>
            </a:r>
          </a:p>
        </p:txBody>
      </p:sp>
    </p:spTree>
    <p:extLst>
      <p:ext uri="{BB962C8B-B14F-4D97-AF65-F5344CB8AC3E}">
        <p14:creationId xmlns:p14="http://schemas.microsoft.com/office/powerpoint/2010/main" val="3938072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EB9CE-00E8-46DE-B103-F9C03CAF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2C56"/>
                </a:solidFill>
              </a:defRPr>
            </a:pPr>
            <a:r>
              <a:rPr sz="3000" b="1">
                <a:solidFill>
                  <a:srgbClr val="062C56"/>
                </a:solidFill>
              </a:rPr>
              <a:t>Una lettura responsabile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23715-406A-4A14-BE3C-F26AC0EB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000625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2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7968E-FBF6-4DD3-ABCC-A9572DA6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57350"/>
            <a:ext cx="54483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062C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C4727-90C6-4557-8F03-AC6587FB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383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16F24"/>
                </a:solidFill>
              </a:defRPr>
            </a:pPr>
            <a:r>
              <a:rPr sz="1500" b="1">
                <a:solidFill>
                  <a:srgbClr val="C16F24"/>
                </a:solidFill>
              </a:rPr>
              <a:t>Cosa possiamo dire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6D26D-9288-408D-AD1E-32595DD5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000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62C56"/>
                </a:solidFill>
              </a:defRPr>
            </a:pPr>
            <a:r>
              <a:rPr sz="2025" b="1">
                <a:solidFill>
                  <a:srgbClr val="062C56"/>
                </a:solidFill>
              </a:rPr>
              <a:t>Ogni sistema ha popolazioni, obiettivi, coperture e denominatori propri.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08703-D4C4-4AAF-AD3E-53869AC6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383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9C8DB"/>
                </a:solidFill>
              </a:defRPr>
            </a:pPr>
            <a:r>
              <a:rPr sz="1500" b="1">
                <a:solidFill>
                  <a:srgbClr val="49C8DB"/>
                </a:solidFill>
              </a:rPr>
              <a:t>Cosa non possiamo concludere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9D349-2A27-4C41-9126-8CAC2B75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71750"/>
            <a:ext cx="4286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Sommare o confrontare percentuali senza contesto può creare conclusioni errate.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8F5B7-0686-4773-A23E-171170D5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SARDINIA ONE HEALTH AMR ATLAS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087D88-CF4C-460C-AA9B-5A2C4A9B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MODULO 10 · SLIDE</a:t>
            </a:r>
          </a:p>
        </p:txBody>
      </p:sp>
    </p:spTree>
    <p:extLst>
      <p:ext uri="{BB962C8B-B14F-4D97-AF65-F5344CB8AC3E}">
        <p14:creationId xmlns:p14="http://schemas.microsoft.com/office/powerpoint/2010/main" val="2855797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50E902-CD41-4875-8A06-C03A1D92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2C56"/>
                </a:solidFill>
              </a:defRPr>
            </a:pPr>
            <a:r>
              <a:rPr sz="3000" b="1">
                <a:solidFill>
                  <a:srgbClr val="062C56"/>
                </a:solidFill>
              </a:rPr>
              <a:t>Dalla conoscenza all’azione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C3B07E-2B62-4CD7-9AA2-9FA0F470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347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62C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30B76-CF79-4552-B8FE-111271EB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1000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Prima di confrontare, verifica definizione di caso, periodo e copertura.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3BCC2-C039-4378-9EB2-C6D70A42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16F24"/>
                </a:solidFill>
              </a:defRPr>
            </a:pPr>
            <a:r>
              <a:rPr sz="1350" b="1">
                <a:solidFill>
                  <a:srgbClr val="C16F24"/>
                </a:solidFill>
              </a:rPr>
              <a:t>Approfondisci nel cruscotto pubblico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53545-2923-4D11-A341-4765A648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E8B"/>
                </a:solidFill>
              </a:defRPr>
            </a:pPr>
            <a:r>
              <a:rPr sz="1800" b="1">
                <a:solidFill>
                  <a:srgbClr val="176E8B"/>
                </a:solidFill>
                <a:hlinkClick xmlns:r="http://schemas.openxmlformats.org/officeDocument/2006/relationships" r:id="Rfed66929f99743b3"/>
              </a:rPr>
              <a:t>Apri il Sardinia One Health AMR Atlas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38A50-B8CC-4FCB-A73B-F3D7832D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SARDINIA ONE HEALTH AMR ATLAS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11B34C-7003-45B8-8D0F-15A7A518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MODULO 10 · SLIDE</a:t>
            </a:r>
          </a:p>
        </p:txBody>
      </p:sp>
    </p:spTree>
    <p:extLst>
      <p:ext uri="{BB962C8B-B14F-4D97-AF65-F5344CB8AC3E}">
        <p14:creationId xmlns:p14="http://schemas.microsoft.com/office/powerpoint/2010/main" val="16334914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2C5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1267E1-C480-430C-A69E-DA8C20E4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Fonti e approfondimenti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C3B1A5-129C-458B-8D68-6081A369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9C8DB"/>
                </a:solidFill>
              </a:defRPr>
            </a:pPr>
            <a:r>
              <a:rPr sz="1350" b="1">
                <a:solidFill>
                  <a:srgbClr val="49C8DB"/>
                </a:solidFill>
              </a:rPr>
              <a:t>Fonte essenziale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CBF09-83FD-4E7C-8794-CCE8CADE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hlinkClick xmlns:r="http://schemas.openxmlformats.org/officeDocument/2006/relationships" r:id="R1a5e74ae57ba42dc"/>
              </a:rPr>
              <a:t>WHO · GLASS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99F05-262E-4275-8747-7F6BC24B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146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4D7E6"/>
                </a:solidFill>
              </a:defRPr>
            </a:pPr>
            <a:r>
              <a:rPr sz="1350" b="0">
                <a:solidFill>
                  <a:srgbClr val="C4D7E6"/>
                </a:solidFill>
                <a:hlinkClick xmlns:r="http://schemas.openxmlformats.org/officeDocument/2006/relationships" r:id="R0c50b16d1f084999"/>
              </a:rPr>
              <a:t>https://www.who.int/initiatives/glass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4618B6-9D66-4621-AAF6-517D0FB8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10810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D40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A0A7F-649E-497A-A077-8FC7A039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Questo modulo è divulgativo: non sostituisce indicazioni cliniche, veterinarie o regolatorie.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2B6F65-14AC-4D67-B9AA-42AB26A1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4D7E6"/>
                </a:solidFill>
              </a:defRPr>
            </a:pPr>
            <a:r>
              <a:rPr sz="825" b="1">
                <a:solidFill>
                  <a:srgbClr val="C4D7E6"/>
                </a:solidFill>
              </a:rPr>
              <a:t>Materiale prodotto per Sardinia One Health AMR Atlas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E898D-61AD-4F4F-A7B8-BDBE53D5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SARDINIA ONE HEALTH AMR ATLAS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5F7BC-74E2-4F8A-B955-2748D1C5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MODULO 10 · SLIDE</a:t>
            </a:r>
          </a:p>
        </p:txBody>
      </p:sp>
    </p:spTree>
    <p:extLst>
      <p:ext uri="{BB962C8B-B14F-4D97-AF65-F5344CB8AC3E}">
        <p14:creationId xmlns:p14="http://schemas.microsoft.com/office/powerpoint/2010/main" val="14959601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2026-07-19T00:16:55.4060000Z</dcterms:created>
  <dcterms:modified xsi:type="dcterms:W3CDTF">2026-07-19T00:16:55.4060000Z</dcterms:modified>
</coreProperties>
</file>