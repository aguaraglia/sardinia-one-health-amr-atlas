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PREVENIRE
La prevenzione riduce il bisogno di antimicrobici
Vaccinazione, igiene delle mani, acqua sicura, sicurezza alimentare e controllo delle infezioni agiscono prima della terapia.
01
Prevenire
infezioni evitabili
02
Proteggere
persone vulnerabili
03
Ridurre
trasmissione
i
Ogni infezione evitata è una terapia non necessaria.
Fonti della scheda
WHO · AMR work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work ↗: https://www.who.int/our-work/antimicrobial-resistance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USARE BENE
Stewardship significa scegliere con criterio
Quando un antimicrobico serve, contano indicazione, farmaco, dose, via e durata. La revisione dopo la diagnosi è parte della cura.
01
Indicare
beneficio atteso
→
02
Scegliere
regime appropriato
→
03
Rivalutare
risposta e test
i
Appropriato non significa meno cura: significa cura più mirata.
Fonti della scheda
WHO · AWaRe antibiotic book ↗
AIFA · Uso consapevole 2025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AWaRe antibiotic book ↗: https://www.who.int/publications/i/item/9789240061829</a:t>
            </a:r>
          </a:p>
          <a:p>
            <a:r>
              <a:rPr lang="it-IT"/>
              <a:t>AIFA · Uso consapevole 2025 ↗: https://www.aifa.gov.it/campagna-sull-uso-consapevole-degli-antibiotici-2025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SORVEGLIARE
Senza dati comparabili si agisce al buio
Laboratori, servizi e decisori hanno bisogno di indicatori con denominatori, copertura e qualità documentati.
RACCOGLIERE
→
CONTROLLARE
→
CONFRONTARE
→
DECIDERE
i
Una buona sorveglianza è un’infrastruttura per l’azione.
Fonti della scheda
WHO · GLASS ↗
ISS · AR-ISS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GLASS ↗: https://www.who.int/initiatives/glass</a:t>
            </a:r>
          </a:p>
          <a:p>
            <a:r>
              <a:rPr lang="it-IT"/>
              <a:t>ISS · AR-ISS ↗: https://www.epicentro.iss.it/antibiotico-resistenza/ar-iss-rapporto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AMBIENTE
Acque e reflui fanno parte della risposta
WASH, depurazione e gestione responsabile dei reflui riducono pressioni ambientali e opportunità di diffusione.
USO
→
REFLUO
→
TRATTAMENTO
→
MONITORAGGIO
i
L’ambiente non è uno sfondo: è un comparto della prevenzione.
Fonti della scheda
WHO · Environmental dimensions of AMR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Environmental dimensions of AMR ↗: https://www.who.int/publications/i/item/9789240052352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COMUNICARE
Parole precise proteggono dalla paura
Dire “rilevato”, “associato” o “da verificare” è più utile di attribuire colpe o descrivere un rischio senza denominatore.
DA DIRE
“evidenza localizzata, con limite dichiarato”
DA EVITARE
“zona contaminata” senza prova e scala
i
La comunicazione scientifica è un intervento di salute pubblica.
Fonti della scheda
WHO · AMR communication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communication ↗: https://www.who.int/health-topics/antimicrobial-resistance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RESPONSABILITÀ
L’azione efficace è condivisa
Cittadini, professionisti, servizi, gestori e decisori hanno leve diverse. Il risultato arriva quando le leve sono coordinate.
PERSONE
PROFESSIONISTI
SERVIZI
GESTORI
ISTITUZIONI
One Health
i
Non c’è una singola azione risolutiva: c’è una rete di responsabilità.
Fonti della scheda
WHO · GAP-AMR 2026–2036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GAP-AMR 2026–2036 ↗: https://www.who.int/news/item/25-05-2026-the-world-health-assembly-adopts-updated-global-action-plan-on-antimicrobial-resistance-%282026-2036%29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our-work/antimicrobial-resistanc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aifa.gov.it/campagna-sull-uso-consapevole-degli-antibiotici-2025" TargetMode="External"/><Relationship Id="rId4" Type="http://schemas.openxmlformats.org/officeDocument/2006/relationships/hyperlink" Target="https://www.who.int/publications/i/item/9789240061829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epicentro.iss.it/antibiotico-resistenza/ar-iss-rapporto" TargetMode="External"/><Relationship Id="rId4" Type="http://schemas.openxmlformats.org/officeDocument/2006/relationships/hyperlink" Target="https://www.who.int/initiatives/glass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publications/i/item/9789240052352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health-topics/antimicrobial-resistanc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news/item/25-05-2026-the-world-health-assembly-adopts-updated-global-action-plan-on-antimicrobial-resistance-%282026-2036%2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1_97" descr="WHO · AMR work ↗">
            <a:hlinkClick r:id="rId4"/>
            <a:extLst>
              <a:ext uri="{FF2B5EF4-FFF2-40B4-BE49-F238E27FC236}">
                <a16:creationId xmlns:a16="http://schemas.microsoft.com/office/drawing/2014/main" id="{75637D0F-3606-05B9-C28F-4FF9D92033B6}"/>
              </a:ext>
            </a:extLst>
          </p:cNvPr>
          <p:cNvSpPr/>
          <p:nvPr/>
        </p:nvSpPr>
        <p:spPr>
          <a:xfrm>
            <a:off x="1660178" y="4864596"/>
            <a:ext cx="969317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481539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2_98" descr="WHO · AWaRe antibiotic book ↗">
            <a:hlinkClick r:id="rId4"/>
            <a:extLst>
              <a:ext uri="{FF2B5EF4-FFF2-40B4-BE49-F238E27FC236}">
                <a16:creationId xmlns:a16="http://schemas.microsoft.com/office/drawing/2014/main" id="{0218A8EF-3C29-B778-A5E7-A82B49D56A32}"/>
              </a:ext>
            </a:extLst>
          </p:cNvPr>
          <p:cNvSpPr/>
          <p:nvPr/>
        </p:nvSpPr>
        <p:spPr>
          <a:xfrm>
            <a:off x="1660178" y="4864596"/>
            <a:ext cx="157102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2_99" descr="AIFA · Uso consapevole 2025 ↗">
            <a:hlinkClick r:id="rId5"/>
            <a:extLst>
              <a:ext uri="{FF2B5EF4-FFF2-40B4-BE49-F238E27FC236}">
                <a16:creationId xmlns:a16="http://schemas.microsoft.com/office/drawing/2014/main" id="{27072116-F94A-EFB3-CA3C-901F003A3E38}"/>
              </a:ext>
            </a:extLst>
          </p:cNvPr>
          <p:cNvSpPr/>
          <p:nvPr/>
        </p:nvSpPr>
        <p:spPr>
          <a:xfrm>
            <a:off x="3353098" y="4864596"/>
            <a:ext cx="1565374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62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3_100" descr="WHO · GLASS ↗">
            <a:hlinkClick r:id="rId4"/>
            <a:extLst>
              <a:ext uri="{FF2B5EF4-FFF2-40B4-BE49-F238E27FC236}">
                <a16:creationId xmlns:a16="http://schemas.microsoft.com/office/drawing/2014/main" id="{B3AE3C3F-14B6-038E-A098-2C3750757594}"/>
              </a:ext>
            </a:extLst>
          </p:cNvPr>
          <p:cNvSpPr/>
          <p:nvPr/>
        </p:nvSpPr>
        <p:spPr>
          <a:xfrm>
            <a:off x="1660178" y="4864596"/>
            <a:ext cx="80382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3_101" descr="ISS · AR-ISS ↗">
            <a:hlinkClick r:id="rId5"/>
            <a:extLst>
              <a:ext uri="{FF2B5EF4-FFF2-40B4-BE49-F238E27FC236}">
                <a16:creationId xmlns:a16="http://schemas.microsoft.com/office/drawing/2014/main" id="{361BD056-AE53-841A-E7C7-3D79E48F40A2}"/>
              </a:ext>
            </a:extLst>
          </p:cNvPr>
          <p:cNvSpPr/>
          <p:nvPr/>
        </p:nvSpPr>
        <p:spPr>
          <a:xfrm>
            <a:off x="2585889" y="4864596"/>
            <a:ext cx="71110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1935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4_102" descr="WHO · Environmental dimensions of AMR ↗">
            <a:hlinkClick r:id="rId4"/>
            <a:extLst>
              <a:ext uri="{FF2B5EF4-FFF2-40B4-BE49-F238E27FC236}">
                <a16:creationId xmlns:a16="http://schemas.microsoft.com/office/drawing/2014/main" id="{F7A440A8-D836-264D-9AD4-964E00F515EB}"/>
              </a:ext>
            </a:extLst>
          </p:cNvPr>
          <p:cNvSpPr/>
          <p:nvPr/>
        </p:nvSpPr>
        <p:spPr>
          <a:xfrm>
            <a:off x="1660178" y="4864596"/>
            <a:ext cx="215771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4715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5_103" descr="WHO · AMR communication ↗">
            <a:hlinkClick r:id="rId4"/>
            <a:extLst>
              <a:ext uri="{FF2B5EF4-FFF2-40B4-BE49-F238E27FC236}">
                <a16:creationId xmlns:a16="http://schemas.microsoft.com/office/drawing/2014/main" id="{5CF9DBCB-D2DC-7BBD-2C57-C0F206A757BB}"/>
              </a:ext>
            </a:extLst>
          </p:cNvPr>
          <p:cNvSpPr/>
          <p:nvPr/>
        </p:nvSpPr>
        <p:spPr>
          <a:xfrm>
            <a:off x="1660178" y="4864596"/>
            <a:ext cx="1485453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5021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6_104" descr="WHO · GAP-AMR 2026–2036 ↗">
            <a:hlinkClick r:id="rId4"/>
            <a:extLst>
              <a:ext uri="{FF2B5EF4-FFF2-40B4-BE49-F238E27FC236}">
                <a16:creationId xmlns:a16="http://schemas.microsoft.com/office/drawing/2014/main" id="{FE149B78-8697-74F1-6B09-C6D996E1DDD0}"/>
              </a:ext>
            </a:extLst>
          </p:cNvPr>
          <p:cNvSpPr/>
          <p:nvPr/>
        </p:nvSpPr>
        <p:spPr>
          <a:xfrm>
            <a:off x="1660178" y="4864596"/>
            <a:ext cx="155197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360350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660</Words>
  <Application>Microsoft Office PowerPoint</Application>
  <DocSecurity>0</DocSecurity>
  <PresentationFormat>Widescreen</PresentationFormat>
  <Paragraphs>26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8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GUARAGLIA Alessandro</cp:lastModifiedBy>
  <cp:revision>1</cp:revision>
  <dcterms:created xsi:type="dcterms:W3CDTF">2026-07-23T19:03:39Z</dcterms:created>
  <dcterms:modified xsi:type="dcterms:W3CDTF">2026-07-23T19:04:50Z</dcterms:modified>
</cp:coreProperties>
</file>