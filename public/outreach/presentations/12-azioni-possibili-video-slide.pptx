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344e7ca42e49d9" /><Relationship Type="http://schemas.openxmlformats.org/officeDocument/2006/relationships/extended-properties" Target="/docProps/app.xml" Id="R2073939659f04736" /><Relationship Type="http://schemas.openxmlformats.org/officeDocument/2006/relationships/officeDocument" Target="/ppt/presentation.xml" Id="R2a908c47faba41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ce6d7461844288"/>
  </p:sldMasterIdLst>
  <p:notesMasterIdLst>
    <p:notesMasterId xmlns:r="http://schemas.openxmlformats.org/officeDocument/2006/relationships" r:id="Ra2bd2ec4cca54690"/>
  </p:notesMasterIdLst>
  <p:sldIdLst>
    <p:sldId xmlns:r="http://schemas.openxmlformats.org/officeDocument/2006/relationships" id="256" r:id="R048882d886584f7d"/>
    <p:sldId xmlns:r="http://schemas.openxmlformats.org/officeDocument/2006/relationships" id="257" r:id="R80246dfec5154e1a"/>
    <p:sldId xmlns:r="http://schemas.openxmlformats.org/officeDocument/2006/relationships" id="258" r:id="Rdf3e7fe27c914620"/>
    <p:sldId xmlns:r="http://schemas.openxmlformats.org/officeDocument/2006/relationships" id="259" r:id="R40c3875687e144bf"/>
    <p:sldId xmlns:r="http://schemas.openxmlformats.org/officeDocument/2006/relationships" id="260" r:id="R0fe2c881b14f4915"/>
    <p:sldId xmlns:r="http://schemas.openxmlformats.org/officeDocument/2006/relationships" id="261" r:id="Rf1025d87bc7245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d8d190911b4b85" /><Relationship Type="http://schemas.openxmlformats.org/officeDocument/2006/relationships/slideMaster" Target="/ppt/slideMasters/slideMaster1.xml" Id="R1dce6d7461844288" /><Relationship Type="http://schemas.openxmlformats.org/officeDocument/2006/relationships/notesMaster" Target="/ppt/notesMasters/notesMaster1.xml" Id="Ra2bd2ec4cca54690" /><Relationship Type="http://schemas.openxmlformats.org/officeDocument/2006/relationships/presProps" Target="/ppt/presProps.xml" Id="Rf2d6642271564280" /><Relationship Type="http://schemas.openxmlformats.org/officeDocument/2006/relationships/tableStyles" Target="/ppt/tableStyles.xml" Id="R5365bf9e4a6f4d87" /><Relationship Type="http://schemas.openxmlformats.org/officeDocument/2006/relationships/slide" Target="/ppt/slides/slide1.xml" Id="R048882d886584f7d" /><Relationship Type="http://schemas.openxmlformats.org/officeDocument/2006/relationships/slide" Target="/ppt/slides/slide2.xml" Id="R80246dfec5154e1a" /><Relationship Type="http://schemas.openxmlformats.org/officeDocument/2006/relationships/slide" Target="/ppt/slides/slide3.xml" Id="Rdf3e7fe27c914620" /><Relationship Type="http://schemas.openxmlformats.org/officeDocument/2006/relationships/slide" Target="/ppt/slides/slide4.xml" Id="R40c3875687e144bf" /><Relationship Type="http://schemas.openxmlformats.org/officeDocument/2006/relationships/slide" Target="/ppt/slides/slide5.xml" Id="R0fe2c881b14f4915" /><Relationship Type="http://schemas.openxmlformats.org/officeDocument/2006/relationships/slide" Target="/ppt/slides/slide6.xml" Id="Rf1025d87bc7245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edb77931a64c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ce26bf7b2748aa" /><Relationship Type="http://schemas.openxmlformats.org/officeDocument/2006/relationships/notesMaster" Target="/ppt/notesMasters/notesMaster1.xml" Id="Rf0aa1e5410f445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5249d4bdfd4acd" /><Relationship Type="http://schemas.openxmlformats.org/officeDocument/2006/relationships/notesMaster" Target="/ppt/notesMasters/notesMaster1.xml" Id="Rb12a40dd786d4e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36cd89fdd94d83" /><Relationship Type="http://schemas.openxmlformats.org/officeDocument/2006/relationships/notesMaster" Target="/ppt/notesMasters/notesMaster1.xml" Id="R16147433986a40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f3d084f2b5455c" /><Relationship Type="http://schemas.openxmlformats.org/officeDocument/2006/relationships/notesMaster" Target="/ppt/notesMasters/notesMaster1.xml" Id="R61867f91e4644d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399a91032349f6" /><Relationship Type="http://schemas.openxmlformats.org/officeDocument/2006/relationships/notesMaster" Target="/ppt/notesMasters/notesMaster1.xml" Id="Rf2fb2f8120e541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a48800466d4899" /><Relationship Type="http://schemas.openxmlformats.org/officeDocument/2006/relationships/notesMaster" Target="/ppt/notesMasters/notesMaster1.xml" Id="R9285ceedf7b243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La risposta all’AMR è fatta di gesti quotidiani e decisioni organizzative. Introduci il tema con una domanda semplice e collega l’illustrazione al messaggio principale.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Spiega il concetto centrale: Prevenzione, igiene e vaccinazioni riducono il bisogno di trattamenti.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Svela i tre punti uno alla volta. Riprendi: Prevenzione, igiene e vaccinazioni riducono il bisogno di trattamenti. Stewardship e sorveglianza aiutano professionisti e organizzazioni a scegliere meglio. Una comunicazione accurata evita stigma, allarmismo e uso improprio dei farmaci.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Contrasta interpretazione corretta e scorciatoia da evitare. Enfatizza che il contesto è parte del dato.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Concludi con un’azione concreta: Ognuno può contribuire: prescrivere bene, aderire alle cure, informarsi da fonti affidabili.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Mostra le fonti cliccabili e invita a verificare il contesto originale prima di riutilizzare un dato.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04718d55546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4246a95bad42b4" /><Relationship Type="http://schemas.openxmlformats.org/officeDocument/2006/relationships/slideLayout" Target="/ppt/slideLayouts/slideLayout1.xml" Id="R42c6de3b69c54b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c6de3b69c54b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a0cd8e4c34fb1" /><Relationship Type="http://schemas.openxmlformats.org/officeDocument/2006/relationships/image" Target="/ppt/media/image.png" Id="R8c859676332b4e4e" /><Relationship Type="http://schemas.openxmlformats.org/officeDocument/2006/relationships/notesSlide" Target="/ppt/notesSlides/notesSlide1.xml" Id="R0008394df71f44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07eca51764a75" /><Relationship Type="http://schemas.openxmlformats.org/officeDocument/2006/relationships/notesSlide" Target="/ppt/notesSlides/notesSlide2.xml" Id="R8dd90c398e5444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061912b5c41c3" /><Relationship Type="http://schemas.openxmlformats.org/officeDocument/2006/relationships/notesSlide" Target="/ppt/notesSlides/notesSlide3.xml" Id="Reee2eb18e74e49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e1783822c485e" /><Relationship Type="http://schemas.openxmlformats.org/officeDocument/2006/relationships/notesSlide" Target="/ppt/notesSlides/notesSlide4.xml" Id="R327d16f3c3d949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3ec5790824b5d" /><Relationship Type="http://schemas.openxmlformats.org/officeDocument/2006/relationships/hyperlink" Target="https://aguaraglia.github.io/sardinia-one-health-amr-atlas/" TargetMode="External" Id="R40fc9079586840bf" /><Relationship Type="http://schemas.openxmlformats.org/officeDocument/2006/relationships/notesSlide" Target="/ppt/notesSlides/notesSlide5.xml" Id="R44ebfc94dcf44e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1bf50e3824fb0" /><Relationship Type="http://schemas.openxmlformats.org/officeDocument/2006/relationships/hyperlink" Target="https://www.who.int/teams/integrated-health-services/antimicrobial-resistance/aware" TargetMode="External" Id="Rfeee53ef5f7c4f76" /><Relationship Type="http://schemas.openxmlformats.org/officeDocument/2006/relationships/hyperlink" Target="https://www.who.int/teams/integrated-health-services/antimicrobial-resistance/aware" TargetMode="External" Id="Rb8f85e4a7e9d41e1" /><Relationship Type="http://schemas.openxmlformats.org/officeDocument/2006/relationships/notesSlide" Target="/ppt/notesSlides/notesSlide6.xml" Id="R9d6ac096e70443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59676332b4e4e"/>
          <a:srcRect xmlns:a="http://schemas.openxmlformats.org/drawingml/2006/main" l="0" t="12222" r="0" b="12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8A260-1F6A-44A1-908C-1DCDC7C0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62BB6-29AD-4284-BEE0-144BCC0C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466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9C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FE150-BBBE-43BC-BD51-AEC116FE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85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2C56"/>
                </a:solidFill>
              </a:defRPr>
            </a:pPr>
            <a:r>
              <a:rPr sz="900" b="1">
                <a:solidFill>
                  <a:srgbClr val="062C56"/>
                </a:solidFill>
              </a:rPr>
              <a:t>MODULO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E969F-16DA-4523-833C-0C41B92E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Azioni possibili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58081-0356-465D-8AFE-A9AEEE7E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EDF3"/>
                </a:solidFill>
              </a:defRPr>
            </a:pPr>
            <a:r>
              <a:rPr sz="1725" b="0">
                <a:solidFill>
                  <a:srgbClr val="D6EDF3"/>
                </a:solidFill>
              </a:rPr>
              <a:t>La risposta all’AMR è fatta di gesti quotidiani e decisioni organizzative.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B17F5-39D3-4AA9-B304-4B609894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9C8DB"/>
                </a:solidFill>
              </a:defRPr>
            </a:pPr>
            <a:r>
              <a:rPr sz="1050" b="1">
                <a:solidFill>
                  <a:srgbClr val="49C8DB"/>
                </a:solidFill>
              </a:rPr>
              <a:t>Video-slide divulgativo · Sardinia One Health AMR Atlas</a:t>
            </a:r>
          </a:p>
        </p:txBody>
      </p:sp>
    </p:spTree>
    <p:extLst>
      <p:ext uri="{BB962C8B-B14F-4D97-AF65-F5344CB8AC3E}">
        <p14:creationId xmlns:p14="http://schemas.microsoft.com/office/powerpoint/2010/main" val="437158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34996-979C-412C-95B7-DF41F63B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227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62C56"/>
                </a:solidFill>
              </a:defRPr>
            </a:pPr>
            <a:r>
              <a:rPr sz="3150" b="1">
                <a:solidFill>
                  <a:srgbClr val="062C56"/>
                </a:solidFill>
              </a:rPr>
              <a:t>La risposta all’AMR è fatta di gesti quotidiani e decisioni organizzative.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AA3CA-139B-49A7-BC6B-31A17128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6F24"/>
                </a:solidFill>
              </a:defRPr>
            </a:pPr>
            <a:r>
              <a:rPr sz="1350" b="1">
                <a:solidFill>
                  <a:srgbClr val="C16F24"/>
                </a:solidFill>
              </a:rPr>
              <a:t>La domanda che guida questo modulo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337D5-5B40-4F82-93F4-A4D4277D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5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565B8-C38D-4C77-8434-2FABB061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62C56"/>
                </a:solidFill>
              </a:defRPr>
            </a:pPr>
            <a:r>
              <a:rPr sz="2325" b="1">
                <a:solidFill>
                  <a:srgbClr val="062C56"/>
                </a:solidFill>
              </a:rPr>
              <a:t>Prevenzione, igiene e vaccinazioni riducono il bisogno di trattamenti.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4D6A2-F683-42F0-9F68-553D8334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65F"/>
                </a:solidFill>
              </a:defRPr>
            </a:pPr>
            <a:r>
              <a:rPr sz="1350" b="0">
                <a:solidFill>
                  <a:srgbClr val="31465F"/>
                </a:solidFill>
              </a:rPr>
              <a:t>Partiamo da un concetto chiaro, poi vediamo come usarlo nella vita reale.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00080-F72A-4FAC-9FD7-14A330C5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F9CF9-04A2-4B6F-B7B3-FAD2439B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12 · SLIDE</a:t>
            </a:r>
          </a:p>
        </p:txBody>
      </p:sp>
    </p:spTree>
    <p:extLst>
      <p:ext uri="{BB962C8B-B14F-4D97-AF65-F5344CB8AC3E}">
        <p14:creationId xmlns:p14="http://schemas.microsoft.com/office/powerpoint/2010/main" val="1627598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BAC23-C263-4797-8A6F-6F82897F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Tre idee da portare con sé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6E6DA-D441-4D17-8A69-88F41886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9C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2CDE9-D06F-4118-9CA4-C9367C9E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AA3B6-89F3-4B87-9E3F-70809CB6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430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Prevenzione, igiene e vaccinazioni riducono il bisogno di trattamenti.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958C0-14B9-4477-8705-8D627C5F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87FE8-37ED-4FF1-8D5C-12531312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F7DDF-0790-4B7E-BE92-E4FCE02B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765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62C56"/>
                </a:solidFill>
              </a:defRPr>
            </a:pPr>
            <a:r>
              <a:rPr sz="1875" b="0">
                <a:solidFill>
                  <a:srgbClr val="062C56"/>
                </a:solidFill>
              </a:rPr>
              <a:t>Stewardship e sorveglianza aiutano professionisti e organizzazioni a scegliere meglio.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25F3E-0CB3-43C9-9E78-B2331DE1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FC93E-C06F-4652-8C1B-3376BBFE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9BF59-5658-4213-B2F8-577F05A0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00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62C56"/>
                </a:solidFill>
              </a:defRPr>
            </a:pPr>
            <a:r>
              <a:rPr sz="1875" b="0">
                <a:solidFill>
                  <a:srgbClr val="062C56"/>
                </a:solidFill>
              </a:rPr>
              <a:t>Una comunicazione accurata evita stigma, allarmismo e uso improprio dei farmaci.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B5D64-8451-4DD1-A843-7093AB4B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6AC70-E12E-47F9-9A44-CEC1DFB8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12 · SLIDE</a:t>
            </a:r>
          </a:p>
        </p:txBody>
      </p:sp>
    </p:spTree>
    <p:extLst>
      <p:ext uri="{BB962C8B-B14F-4D97-AF65-F5344CB8AC3E}">
        <p14:creationId xmlns:p14="http://schemas.microsoft.com/office/powerpoint/2010/main" val="1281238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2FC93-3841-47B5-8C19-0986BDC3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Una lettura responsabile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304DF-0977-4CFD-9F78-05E174FF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000625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17965-B129-4FEA-9874-821BF53E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4483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C47E4-2B8B-4B62-901C-15922E78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16F24"/>
                </a:solidFill>
              </a:defRPr>
            </a:pPr>
            <a:r>
              <a:rPr sz="1500" b="1">
                <a:solidFill>
                  <a:srgbClr val="C16F24"/>
                </a:solidFill>
              </a:rPr>
              <a:t>Cosa possiamo dire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BB46D-D96B-437D-BDF7-17B87F5D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62C56"/>
                </a:solidFill>
              </a:defRPr>
            </a:pPr>
            <a:r>
              <a:rPr sz="2025" b="1">
                <a:solidFill>
                  <a:srgbClr val="062C56"/>
                </a:solidFill>
              </a:rPr>
              <a:t>Stewardship e sorveglianza aiutano professionisti e organizzazioni a scegliere meglio.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CC844-FBDF-4559-8362-DF8022A3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9C8DB"/>
                </a:solidFill>
              </a:defRPr>
            </a:pPr>
            <a:r>
              <a:rPr sz="1500" b="1">
                <a:solidFill>
                  <a:srgbClr val="49C8DB"/>
                </a:solidFill>
              </a:rPr>
              <a:t>Cosa non possiamo concludere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29FA6-0B4D-4BF1-86EF-20F9A6FF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286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Una comunicazione accurata evita stigma, allarmismo e uso improprio dei farmaci.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70C1D-3131-4C37-AE47-D5F07A81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22930-D2B1-4C07-81D0-660094B2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12 · SLIDE</a:t>
            </a:r>
          </a:p>
        </p:txBody>
      </p:sp>
    </p:spTree>
    <p:extLst>
      <p:ext uri="{BB962C8B-B14F-4D97-AF65-F5344CB8AC3E}">
        <p14:creationId xmlns:p14="http://schemas.microsoft.com/office/powerpoint/2010/main" val="40008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57290-27BB-41BD-830C-17AB3121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Dalla conoscenza all’azione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28C7D-74F7-4457-945A-D57F0DD2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34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7F08C-089C-4278-B42D-1F24ACE0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12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Ognuno può contribuire: prescrivere bene, aderire alle cure, informarsi da fonti affidabili.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73273-1BB8-4988-BE97-449872DA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6F24"/>
                </a:solidFill>
              </a:defRPr>
            </a:pPr>
            <a:r>
              <a:rPr sz="1350" b="1">
                <a:solidFill>
                  <a:srgbClr val="C16F24"/>
                </a:solidFill>
              </a:rPr>
              <a:t>Approfondisci nel cruscotto pubblico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AFD57-63C1-4B89-AEDD-2D63C5B0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E8B"/>
                </a:solidFill>
              </a:defRPr>
            </a:pPr>
            <a:r>
              <a:rPr sz="1800" b="1">
                <a:solidFill>
                  <a:srgbClr val="176E8B"/>
                </a:solidFill>
                <a:hlinkClick xmlns:r="http://schemas.openxmlformats.org/officeDocument/2006/relationships" r:id="R40fc9079586840bf"/>
              </a:rPr>
              <a:t>Apri il Sardinia One Health AMR Atlas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4BAD2-0FDD-4C53-B123-7EC8AEDE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51DF8-9472-4A1B-AAEA-446339BA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12 · SLIDE</a:t>
            </a:r>
          </a:p>
        </p:txBody>
      </p:sp>
    </p:spTree>
    <p:extLst>
      <p:ext uri="{BB962C8B-B14F-4D97-AF65-F5344CB8AC3E}">
        <p14:creationId xmlns:p14="http://schemas.microsoft.com/office/powerpoint/2010/main" val="8225999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2C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33702-D1C3-4AB6-9B85-8A96A76E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Fonti e approfondimenti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1A354-B93C-4F71-A4A6-8D714731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9C8DB"/>
                </a:solidFill>
              </a:defRPr>
            </a:pPr>
            <a:r>
              <a:rPr sz="1350" b="1">
                <a:solidFill>
                  <a:srgbClr val="49C8DB"/>
                </a:solidFill>
              </a:rPr>
              <a:t>Fonte essenziale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63533-0291-4475-ADF7-C067F65E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hlinkClick xmlns:r="http://schemas.openxmlformats.org/officeDocument/2006/relationships" r:id="Rfeee53ef5f7c4f76"/>
              </a:rPr>
              <a:t>WHO · AWaRe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BEFFE-02AE-41FC-AFF8-ECDDC75B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D7E6"/>
                </a:solidFill>
              </a:defRPr>
            </a:pPr>
            <a:r>
              <a:rPr sz="1350" b="0">
                <a:solidFill>
                  <a:srgbClr val="C4D7E6"/>
                </a:solidFill>
                <a:hlinkClick xmlns:r="http://schemas.openxmlformats.org/officeDocument/2006/relationships" r:id="Rb8f85e4a7e9d41e1"/>
              </a:rPr>
              <a:t>https://www.who.int/teams/integrated-health-services/antimicrobial-resistance/aware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A03E2-899B-468E-A43E-9DCBDCB5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810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4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9BDFF-9A42-485D-BBFF-9066F1EC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Questo modulo è divulgativo: non sostituisce indicazioni cliniche, veterinarie o regolatorie.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398DB-1C8B-4FE0-998F-8BCC42FB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D7E6"/>
                </a:solidFill>
              </a:defRPr>
            </a:pPr>
            <a:r>
              <a:rPr sz="825" b="1">
                <a:solidFill>
                  <a:srgbClr val="C4D7E6"/>
                </a:solidFill>
              </a:rPr>
              <a:t>Materiale prodotto per Sardinia One Health AMR Atlas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6542E-2AA1-4878-9AD6-E6C41A31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79B70-A505-40FC-85E9-9DC4F859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12 · SLIDE</a:t>
            </a:r>
          </a:p>
        </p:txBody>
      </p:sp>
    </p:spTree>
    <p:extLst>
      <p:ext uri="{BB962C8B-B14F-4D97-AF65-F5344CB8AC3E}">
        <p14:creationId xmlns:p14="http://schemas.microsoft.com/office/powerpoint/2010/main" val="189817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2026-07-19T00:16:56.4210000Z</dcterms:created>
  <dcterms:modified xsi:type="dcterms:W3CDTF">2026-07-19T00:16:56.4210000Z</dcterms:modified>
</coreProperties>
</file>