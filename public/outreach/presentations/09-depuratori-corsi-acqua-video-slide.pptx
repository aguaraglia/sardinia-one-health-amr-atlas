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IL PUNTO
Il depuratore non è necessariamente il punto di scarico
Le coordinate di un impianto descrivono la struttura. Il recapito autorizzato è un’informazione amministrativa distinta e può richiedere documenti specifici.
IMPIANTO
→
CONDOTTA
→
PUNTO DI SCARICO
→
CORPO IDRICO
i
Non collegare automaticamente il marker del depuratore a un fiume.
Fonti della scheda
Atlante · Metodo ↗
Regione Sardegna · Geoportale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Metodo ↗: https://aguaraglia.github.io/sardinia-one-health-amr-atlas/methodology.html</a:t>
            </a:r>
          </a:p>
          <a:p>
            <a:r>
              <a:rPr lang="it-IT"/>
              <a:t>Regione Sardegna · Geoportale ↗: https://www.sardegnageoportale.it/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PROSSIMITÀ
Vicinanza geografica non significa recapito
Un impianto può essere vicino a più corpi idrici o a una rete artificiale. La distanza è uno screening, non una prova.
distanza
ipotesi da verificare
i
La mappa può proporre candidati; l’autorizzazione o la rete di scarico confermano.
Fonti della scheda
Atlante · Evidenza idrologica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Evidenza idrologica ↗: https://aguaraglia.github.io/sardinia-one-health-amr-atlas/metadata/HYDROLOGIC_RECEIVER_EVIDENCE.tsv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IL MODELLO
Il verso del fiume aiuta a formulare un’ipotesi
Un modello digitale del reticolo può suggerire monte e valle, ma non sostituisce il rilievo della rete fognaria o il titolo autorizzativo.
monte
→→→
valle
modello
i
Un risultato modellato va etichettato come modello e accompagnato da incertezza.
Fonti della scheda
Autorità di bacino Sardegna ↗
Atlante · Metodo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Autorità di bacino Sardegna ↗: https://autoritadibacino.regione.sardegna.it/</a:t>
            </a:r>
          </a:p>
          <a:p>
            <a:r>
              <a:rPr lang="it-IT"/>
              <a:t>Atlante · Metodo ↗: https://aguaraglia.github.io/sardinia-one-health-amr-atlas/methodology.html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CATENA DELLE PROVE
Servono più livelli di evidenza
Punto dell’impianto, documento di scarico, rete, corpo idrico e direzione di flusso formano una catena. Un anello mancante limita la conclusione.
COORDINATE
→
AUTORIZZAZIONE
→
RETE
→
RECAPITO
→
conclusione
i
Più dati non significano automaticamente più certezza: conta la loro relazione.
Fonti della scheda
Atlante · HYDROLOGIC_RECEIVER_EVIDENCE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HYDROLOGIC_RECEIVER_EVIDENCE ↗: https://aguaraglia.github.io/sardinia-one-health-amr-atlas/metadata/HYDROLOGIC_RECEIVER_EVIDENCE.tsv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UNA CAUTELA
Non attribuire reflui a un comune senza prova
Un impianto può servire più comuni, e un comune può avere più sistemi. La localizzazione politica non descrive da sola il bacino tecnico.
comune A
comune B
comune C
impianto
rete di servizio da documentare
i
“Serve” e “scarica in” sono relazioni diverse.
Fonti della scheda
Abbanoa · Impianti ↗
Atlante · Metodo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Abbanoa · Impianti ↗: https://www.abbanoa.it/Azienda/Impianti</a:t>
            </a:r>
          </a:p>
          <a:p>
            <a:r>
              <a:rPr lang="it-IT"/>
              <a:t>Atlante · Metodo ↗: https://aguaraglia.github.io/sardinia-one-health-amr-atlas/methodology.html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CONCLUSIONE
Dove finisce lo scarico? Solo quando la catena è completa
L’Atlante può mostrare contesto e ipotesi di prossimità. La destinazione finale va pubblicata solo con fonte amministrativa o tecnica verificabile.
Possibile
prossimità o percorso modellato
Verificato
recapito documentato
i
Separare sempre osservazione, modello e autorizzazione.
Fonti della scheda
Atlante · Metodo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Metodo ↗: https://aguaraglia.github.io/sardinia-one-health-amr-atlas/methodology.html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sardegnageoportale.it/" TargetMode="External"/><Relationship Id="rId4" Type="http://schemas.openxmlformats.org/officeDocument/2006/relationships/hyperlink" Target="https://aguaraglia.github.io/sardinia-one-health-amr-atlas/methodology.html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guaraglia.github.io/sardinia-one-health-amr-atlas/metadata/HYDROLOGIC_RECEIVER_EVIDENCE.tsv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aguaraglia.github.io/sardinia-one-health-amr-atlas/methodology.html" TargetMode="External"/><Relationship Id="rId4" Type="http://schemas.openxmlformats.org/officeDocument/2006/relationships/hyperlink" Target="https://autoritadibacino.regione.sardegna.it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guaraglia.github.io/sardinia-one-health-amr-atlas/metadata/HYDROLOGIC_RECEIVER_EVIDENCE.tsv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aguaraglia.github.io/sardinia-one-health-amr-atlas/methodology.html" TargetMode="External"/><Relationship Id="rId4" Type="http://schemas.openxmlformats.org/officeDocument/2006/relationships/hyperlink" Target="https://www.abbanoa.it/Azienda/Impianti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guaraglia.github.io/sardinia-one-health-amr-atlas/methodology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1_73" descr="Atlante · Metodo ↗">
            <a:hlinkClick r:id="rId4"/>
            <a:extLst>
              <a:ext uri="{FF2B5EF4-FFF2-40B4-BE49-F238E27FC236}">
                <a16:creationId xmlns:a16="http://schemas.microsoft.com/office/drawing/2014/main" id="{E1FC4316-55BD-DE00-DF56-DD0D1BC04D50}"/>
              </a:ext>
            </a:extLst>
          </p:cNvPr>
          <p:cNvSpPr/>
          <p:nvPr/>
        </p:nvSpPr>
        <p:spPr>
          <a:xfrm>
            <a:off x="1660178" y="5586115"/>
            <a:ext cx="922585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1_74" descr="Regione Sardegna · Geoportale ↗">
            <a:hlinkClick r:id="rId5"/>
            <a:extLst>
              <a:ext uri="{FF2B5EF4-FFF2-40B4-BE49-F238E27FC236}">
                <a16:creationId xmlns:a16="http://schemas.microsoft.com/office/drawing/2014/main" id="{220041B9-89D7-708E-7186-2A31BC939B79}"/>
              </a:ext>
            </a:extLst>
          </p:cNvPr>
          <p:cNvSpPr/>
          <p:nvPr/>
        </p:nvSpPr>
        <p:spPr>
          <a:xfrm>
            <a:off x="2704654" y="5586115"/>
            <a:ext cx="1657647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48568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2_75" descr="Atlante · Evidenza idrologica ↗">
            <a:hlinkClick r:id="rId4"/>
            <a:extLst>
              <a:ext uri="{FF2B5EF4-FFF2-40B4-BE49-F238E27FC236}">
                <a16:creationId xmlns:a16="http://schemas.microsoft.com/office/drawing/2014/main" id="{475EBA29-92AA-668C-2D8C-FC10013A4E9F}"/>
              </a:ext>
            </a:extLst>
          </p:cNvPr>
          <p:cNvSpPr/>
          <p:nvPr/>
        </p:nvSpPr>
        <p:spPr>
          <a:xfrm>
            <a:off x="1660178" y="4864596"/>
            <a:ext cx="1514028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4347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3_76" descr="Autorità di bacino Sardegna ↗">
            <a:hlinkClick r:id="rId4"/>
            <a:extLst>
              <a:ext uri="{FF2B5EF4-FFF2-40B4-BE49-F238E27FC236}">
                <a16:creationId xmlns:a16="http://schemas.microsoft.com/office/drawing/2014/main" id="{707E6B95-C4BE-856B-5483-F48058629C16}"/>
              </a:ext>
            </a:extLst>
          </p:cNvPr>
          <p:cNvSpPr/>
          <p:nvPr/>
        </p:nvSpPr>
        <p:spPr>
          <a:xfrm>
            <a:off x="1660178" y="4864596"/>
            <a:ext cx="1487388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3_77" descr="Atlante · Metodo ↗">
            <a:hlinkClick r:id="rId5"/>
            <a:extLst>
              <a:ext uri="{FF2B5EF4-FFF2-40B4-BE49-F238E27FC236}">
                <a16:creationId xmlns:a16="http://schemas.microsoft.com/office/drawing/2014/main" id="{4C4E4ABE-6042-E9E7-8A64-A28A1B946B1C}"/>
              </a:ext>
            </a:extLst>
          </p:cNvPr>
          <p:cNvSpPr/>
          <p:nvPr/>
        </p:nvSpPr>
        <p:spPr>
          <a:xfrm>
            <a:off x="3269456" y="4864596"/>
            <a:ext cx="922586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9402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4_78" descr="Atlante · HYDROLOGIC_RECEIVER_EVIDENCE ↗">
            <a:hlinkClick r:id="rId4"/>
            <a:extLst>
              <a:ext uri="{FF2B5EF4-FFF2-40B4-BE49-F238E27FC236}">
                <a16:creationId xmlns:a16="http://schemas.microsoft.com/office/drawing/2014/main" id="{5C766CBA-194A-1873-3B70-C30E507CF869}"/>
              </a:ext>
            </a:extLst>
          </p:cNvPr>
          <p:cNvSpPr/>
          <p:nvPr/>
        </p:nvSpPr>
        <p:spPr>
          <a:xfrm>
            <a:off x="1660178" y="4864596"/>
            <a:ext cx="2360116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43968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5_79" descr="Abbanoa · Impianti ↗">
            <a:hlinkClick r:id="rId4"/>
            <a:extLst>
              <a:ext uri="{FF2B5EF4-FFF2-40B4-BE49-F238E27FC236}">
                <a16:creationId xmlns:a16="http://schemas.microsoft.com/office/drawing/2014/main" id="{D31BC93C-5F80-4DAC-7E58-FB4D8E0092AB}"/>
              </a:ext>
            </a:extLst>
          </p:cNvPr>
          <p:cNvSpPr/>
          <p:nvPr/>
        </p:nvSpPr>
        <p:spPr>
          <a:xfrm>
            <a:off x="1660178" y="4864596"/>
            <a:ext cx="1034058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5_80" descr="Atlante · Metodo ↗">
            <a:hlinkClick r:id="rId5"/>
            <a:extLst>
              <a:ext uri="{FF2B5EF4-FFF2-40B4-BE49-F238E27FC236}">
                <a16:creationId xmlns:a16="http://schemas.microsoft.com/office/drawing/2014/main" id="{88F6C5FD-1A2F-E17C-DBC9-0FC5F97BD398}"/>
              </a:ext>
            </a:extLst>
          </p:cNvPr>
          <p:cNvSpPr/>
          <p:nvPr/>
        </p:nvSpPr>
        <p:spPr>
          <a:xfrm>
            <a:off x="2816126" y="4864596"/>
            <a:ext cx="922585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295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6_81" descr="Atlante · Metodo ↗">
            <a:hlinkClick r:id="rId4"/>
            <a:extLst>
              <a:ext uri="{FF2B5EF4-FFF2-40B4-BE49-F238E27FC236}">
                <a16:creationId xmlns:a16="http://schemas.microsoft.com/office/drawing/2014/main" id="{FE28741D-E075-3063-3969-0F54977ED80D}"/>
              </a:ext>
            </a:extLst>
          </p:cNvPr>
          <p:cNvSpPr/>
          <p:nvPr/>
        </p:nvSpPr>
        <p:spPr>
          <a:xfrm>
            <a:off x="1660178" y="5349180"/>
            <a:ext cx="922585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5166874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681</Words>
  <Application>Microsoft Office PowerPoint</Application>
  <DocSecurity>0</DocSecurity>
  <PresentationFormat>Widescreen</PresentationFormat>
  <Paragraphs>27</Paragraphs>
  <Slides>6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8" baseType="lpstr">
      <vt:lpstr>Calibri</vt:lpstr>
      <vt:lpstr>ChatGPT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GUARAGLIA Alessandro</cp:lastModifiedBy>
  <cp:revision>1</cp:revision>
  <dcterms:created xsi:type="dcterms:W3CDTF">2026-07-23T19:03:37Z</dcterms:created>
  <dcterms:modified xsi:type="dcterms:W3CDTF">2026-07-23T19:04:48Z</dcterms:modified>
</cp:coreProperties>
</file>