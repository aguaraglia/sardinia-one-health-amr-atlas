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19af649f134b21" /><Relationship Type="http://schemas.openxmlformats.org/officeDocument/2006/relationships/extended-properties" Target="/docProps/app.xml" Id="Rbd599614a3854a15" /><Relationship Type="http://schemas.openxmlformats.org/officeDocument/2006/relationships/officeDocument" Target="/ppt/presentation.xml" Id="R92c102ea58fe4f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588fe4c94e4cd2"/>
  </p:sldMasterIdLst>
  <p:notesMasterIdLst>
    <p:notesMasterId xmlns:r="http://schemas.openxmlformats.org/officeDocument/2006/relationships" r:id="R79095db782af40bd"/>
  </p:notesMasterIdLst>
  <p:sldIdLst>
    <p:sldId xmlns:r="http://schemas.openxmlformats.org/officeDocument/2006/relationships" id="256" r:id="R4eded209abcf4f30"/>
    <p:sldId xmlns:r="http://schemas.openxmlformats.org/officeDocument/2006/relationships" id="257" r:id="R0f28e511b2954815"/>
    <p:sldId xmlns:r="http://schemas.openxmlformats.org/officeDocument/2006/relationships" id="258" r:id="R5734041c80e5404f"/>
    <p:sldId xmlns:r="http://schemas.openxmlformats.org/officeDocument/2006/relationships" id="259" r:id="Raee24ab9f5014a3e"/>
    <p:sldId xmlns:r="http://schemas.openxmlformats.org/officeDocument/2006/relationships" id="260" r:id="R278ba20c034744cb"/>
    <p:sldId xmlns:r="http://schemas.openxmlformats.org/officeDocument/2006/relationships" id="261" r:id="R0ade704bab194b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54551593444a15" /><Relationship Type="http://schemas.openxmlformats.org/officeDocument/2006/relationships/slideMaster" Target="/ppt/slideMasters/slideMaster1.xml" Id="R3c588fe4c94e4cd2" /><Relationship Type="http://schemas.openxmlformats.org/officeDocument/2006/relationships/notesMaster" Target="/ppt/notesMasters/notesMaster1.xml" Id="R79095db782af40bd" /><Relationship Type="http://schemas.openxmlformats.org/officeDocument/2006/relationships/presProps" Target="/ppt/presProps.xml" Id="R8976642be0a24cc5" /><Relationship Type="http://schemas.openxmlformats.org/officeDocument/2006/relationships/tableStyles" Target="/ppt/tableStyles.xml" Id="R9d6f7fd0a9ba4747" /><Relationship Type="http://schemas.openxmlformats.org/officeDocument/2006/relationships/slide" Target="/ppt/slides/slide1.xml" Id="R4eded209abcf4f30" /><Relationship Type="http://schemas.openxmlformats.org/officeDocument/2006/relationships/slide" Target="/ppt/slides/slide2.xml" Id="R0f28e511b2954815" /><Relationship Type="http://schemas.openxmlformats.org/officeDocument/2006/relationships/slide" Target="/ppt/slides/slide3.xml" Id="R5734041c80e5404f" /><Relationship Type="http://schemas.openxmlformats.org/officeDocument/2006/relationships/slide" Target="/ppt/slides/slide4.xml" Id="Raee24ab9f5014a3e" /><Relationship Type="http://schemas.openxmlformats.org/officeDocument/2006/relationships/slide" Target="/ppt/slides/slide5.xml" Id="R278ba20c034744cb" /><Relationship Type="http://schemas.openxmlformats.org/officeDocument/2006/relationships/slide" Target="/ppt/slides/slide6.xml" Id="R0ade704bab194b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af3d4ff82643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0389786d5a4423" /><Relationship Type="http://schemas.openxmlformats.org/officeDocument/2006/relationships/notesMaster" Target="/ppt/notesMasters/notesMaster1.xml" Id="R14cc6e72d90c4d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80a45301df4f20" /><Relationship Type="http://schemas.openxmlformats.org/officeDocument/2006/relationships/notesMaster" Target="/ppt/notesMasters/notesMaster1.xml" Id="R49f4ba16caf24e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4da3c04f5c42d3" /><Relationship Type="http://schemas.openxmlformats.org/officeDocument/2006/relationships/notesMaster" Target="/ppt/notesMasters/notesMaster1.xml" Id="R60468e1295ff4e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b2c5dd26fe454d" /><Relationship Type="http://schemas.openxmlformats.org/officeDocument/2006/relationships/notesMaster" Target="/ppt/notesMasters/notesMaster1.xml" Id="R5966c5972af743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1f19a94feb4c80" /><Relationship Type="http://schemas.openxmlformats.org/officeDocument/2006/relationships/notesMaster" Target="/ppt/notesMasters/notesMaster1.xml" Id="Rf5eb834fc2b946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ad3e4540af4395" /><Relationship Type="http://schemas.openxmlformats.org/officeDocument/2006/relationships/notesMaster" Target="/ppt/notesMasters/notesMaster1.xml" Id="Rff0a5bcffe6e41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Il resistoma ambientale offre segnali utili, non diagnosi individuali. Introduci il tema con una domanda semplice e collega l’illustrazione al messaggio principale.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Spiega il concetto centrale: Il resistoma descrive geni di resistenza osservati in una comunità microbica.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Svela i tre punti uno alla volta. Riprendi: Il resistoma descrive geni di resistenza osservati in una comunità microbica. Campione, impianto e territorio sono scale differenti: non vanno confuse. Un segnale ambientale non identifica da solo una persona, una fonte specifica o un rischio clinico.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Contrasta interpretazione corretta e scorciatoia da evitare. Enfatizza che il contesto è parte del dato.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Concludi con un’azione concreta: Dichiara sempre matrice, periodo, metodo e limiti dell’interpretazione.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Mostra le fonti cliccabili e invita a verificare il contesto originale prima di riutilizzare un dato.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4130c9614f42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c07cef3cf6466f" /><Relationship Type="http://schemas.openxmlformats.org/officeDocument/2006/relationships/slideLayout" Target="/ppt/slideLayouts/slideLayout1.xml" Id="R41c7ad1cfed24f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c7ad1cfed24f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e8363faf347e8" /><Relationship Type="http://schemas.openxmlformats.org/officeDocument/2006/relationships/image" Target="/ppt/media/image.png" Id="Rdeeff4bff7b94116" /><Relationship Type="http://schemas.openxmlformats.org/officeDocument/2006/relationships/notesSlide" Target="/ppt/notesSlides/notesSlide1.xml" Id="Re14de055970648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e17e66bbc4bf1" /><Relationship Type="http://schemas.openxmlformats.org/officeDocument/2006/relationships/notesSlide" Target="/ppt/notesSlides/notesSlide2.xml" Id="R0b2db0c003244d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146f9f2534c32" /><Relationship Type="http://schemas.openxmlformats.org/officeDocument/2006/relationships/notesSlide" Target="/ppt/notesSlides/notesSlide3.xml" Id="Rad6c383370fc48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0c0dce5b040de" /><Relationship Type="http://schemas.openxmlformats.org/officeDocument/2006/relationships/notesSlide" Target="/ppt/notesSlides/notesSlide4.xml" Id="Rf3888f24bb8b42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10d4c8a454d99" /><Relationship Type="http://schemas.openxmlformats.org/officeDocument/2006/relationships/hyperlink" Target="https://aguaraglia.github.io/sardinia-one-health-amr-atlas/" TargetMode="External" Id="R87a1c213621c4629" /><Relationship Type="http://schemas.openxmlformats.org/officeDocument/2006/relationships/notesSlide" Target="/ppt/notesSlides/notesSlide5.xml" Id="Rf4e497d953db40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423908bc74ec0" /><Relationship Type="http://schemas.openxmlformats.org/officeDocument/2006/relationships/hyperlink" Target="https://www.who.int/teams/environment-climate-change-and-health/chemical-safety-and-health/antimicrobial-resistance" TargetMode="External" Id="R7e31ea2f87644f22" /><Relationship Type="http://schemas.openxmlformats.org/officeDocument/2006/relationships/hyperlink" Target="https://www.who.int/teams/environment-climate-change-and-health/chemical-safety-and-health/antimicrobial-resistance" TargetMode="External" Id="R67e30aa5c96c4439" /><Relationship Type="http://schemas.openxmlformats.org/officeDocument/2006/relationships/notesSlide" Target="/ppt/notesSlides/notesSlide6.xml" Id="R6f6e0f6e195f47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ff4bff7b94116"/>
          <a:srcRect xmlns:a="http://schemas.openxmlformats.org/drawingml/2006/main" l="0" t="12222" r="0" b="12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329D6-AA9B-43C6-9C71-33DE7D33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05DA0-B415-4BE0-896C-BA953686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466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9C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417D6-D0F2-4574-B1D4-CD783E4B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85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2C56"/>
                </a:solidFill>
              </a:defRPr>
            </a:pPr>
            <a:r>
              <a:rPr sz="900" b="1">
                <a:solidFill>
                  <a:srgbClr val="062C56"/>
                </a:solidFill>
              </a:rPr>
              <a:t>MODULO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21C09-C559-405A-9007-28C4CCFA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8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Acque reflue e resistoma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E885A-6229-4D6F-AF57-0AF509A7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EDF3"/>
                </a:solidFill>
              </a:defRPr>
            </a:pPr>
            <a:r>
              <a:rPr sz="1725" b="0">
                <a:solidFill>
                  <a:srgbClr val="D6EDF3"/>
                </a:solidFill>
              </a:rPr>
              <a:t>Il resistoma ambientale offre segnali utili, non diagnosi individuali.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9D5BE-DACE-482A-8E7B-58C7D834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9C8DB"/>
                </a:solidFill>
              </a:defRPr>
            </a:pPr>
            <a:r>
              <a:rPr sz="1050" b="1">
                <a:solidFill>
                  <a:srgbClr val="49C8DB"/>
                </a:solidFill>
              </a:rPr>
              <a:t>Video-slide divulgativo · Sardinia One Health AMR Atlas</a:t>
            </a:r>
          </a:p>
        </p:txBody>
      </p:sp>
    </p:spTree>
    <p:extLst>
      <p:ext uri="{BB962C8B-B14F-4D97-AF65-F5344CB8AC3E}">
        <p14:creationId xmlns:p14="http://schemas.microsoft.com/office/powerpoint/2010/main" val="1155616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EA612-AC1F-4364-A7FB-F5A4582F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811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62C56"/>
                </a:solidFill>
              </a:defRPr>
            </a:pPr>
            <a:r>
              <a:rPr sz="3150" b="1">
                <a:solidFill>
                  <a:srgbClr val="062C56"/>
                </a:solidFill>
              </a:rPr>
              <a:t>Il resistoma ambientale offre segnali utili, non diagnosi individuali.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F2F67-72BA-4F3F-B4BD-5DA09458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6F24"/>
                </a:solidFill>
              </a:defRPr>
            </a:pPr>
            <a:r>
              <a:rPr sz="1350" b="1">
                <a:solidFill>
                  <a:srgbClr val="C16F24"/>
                </a:solidFill>
              </a:rPr>
              <a:t>La domanda che guida questo modulo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91831-B309-4978-B49F-8908A5AC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5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28615-12A4-4C56-8A2E-3CBD9C1B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62C56"/>
                </a:solidFill>
              </a:defRPr>
            </a:pPr>
            <a:r>
              <a:rPr sz="2325" b="1">
                <a:solidFill>
                  <a:srgbClr val="062C56"/>
                </a:solidFill>
              </a:rPr>
              <a:t>Il resistoma descrive geni di resistenza osservati in una comunità microbica.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F2EDE-6663-4A23-BFBD-6A271E2C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65F"/>
                </a:solidFill>
              </a:defRPr>
            </a:pPr>
            <a:r>
              <a:rPr sz="1350" b="0">
                <a:solidFill>
                  <a:srgbClr val="31465F"/>
                </a:solidFill>
              </a:rPr>
              <a:t>Partiamo da un concetto chiaro, poi vediamo come usarlo nella vita reale.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89B3A-C1EE-4B70-9FE1-17BA3D99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90771-BEBB-4784-85D6-E06734CA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08 · SLIDE</a:t>
            </a:r>
          </a:p>
        </p:txBody>
      </p:sp>
    </p:spTree>
    <p:extLst>
      <p:ext uri="{BB962C8B-B14F-4D97-AF65-F5344CB8AC3E}">
        <p14:creationId xmlns:p14="http://schemas.microsoft.com/office/powerpoint/2010/main" val="1143985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E102D-341C-4C40-85BB-CB851138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Tre idee da portare con sé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AC095-A190-48DA-A5FB-4381E721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9C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8B919-FE39-4092-BB84-7CDCC851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4C6CF-A2AE-41DB-A778-73A5D4EF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430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Il resistoma descrive geni di resistenza osservati in una comunità microbica.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D32FC-28B4-4B93-A04F-E82613AB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44922-BC82-4977-9D52-4BF8B836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5EF7D-6E19-4A5E-94B4-04347E4B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765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62C56"/>
                </a:solidFill>
              </a:defRPr>
            </a:pPr>
            <a:r>
              <a:rPr sz="1875" b="0">
                <a:solidFill>
                  <a:srgbClr val="062C56"/>
                </a:solidFill>
              </a:rPr>
              <a:t>Campione, impianto e territorio sono scale differenti: non vanno confuse.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E20DC-FED7-4485-AED3-B3DF473A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F3082-E48D-4A26-A5D5-43D09772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F0624-0E81-4DD5-A935-DC99AEFB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00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62C56"/>
                </a:solidFill>
              </a:defRPr>
            </a:pPr>
            <a:r>
              <a:rPr sz="1875" b="0">
                <a:solidFill>
                  <a:srgbClr val="062C56"/>
                </a:solidFill>
              </a:rPr>
              <a:t>Un segnale ambientale non identifica da solo una persona, una fonte specifica o un rischio clinico.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FE9E5-241C-4195-983D-321E8EC1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4F61D-6E70-4D50-B3A4-B1B8A653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08 · SLIDE</a:t>
            </a:r>
          </a:p>
        </p:txBody>
      </p:sp>
    </p:spTree>
    <p:extLst>
      <p:ext uri="{BB962C8B-B14F-4D97-AF65-F5344CB8AC3E}">
        <p14:creationId xmlns:p14="http://schemas.microsoft.com/office/powerpoint/2010/main" val="5736981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A220E-5419-4416-89EF-69B5C3D6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Una lettura responsabile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6593D-3FA4-4D09-8471-119CE06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000625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E2E11-C940-4DB5-AB82-2CC87D94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54483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8C068-C1D3-403E-9E55-78F134A2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16F24"/>
                </a:solidFill>
              </a:defRPr>
            </a:pPr>
            <a:r>
              <a:rPr sz="1500" b="1">
                <a:solidFill>
                  <a:srgbClr val="C16F24"/>
                </a:solidFill>
              </a:rPr>
              <a:t>Cosa possiamo dire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EDFEF-06BA-4BA7-9E70-48DFCBA5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62C56"/>
                </a:solidFill>
              </a:defRPr>
            </a:pPr>
            <a:r>
              <a:rPr sz="2025" b="1">
                <a:solidFill>
                  <a:srgbClr val="062C56"/>
                </a:solidFill>
              </a:rPr>
              <a:t>Campione, impianto e territorio sono scale differenti: non vanno confuse.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90D3A-5F2E-480E-A3D6-F8648B32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9C8DB"/>
                </a:solidFill>
              </a:defRPr>
            </a:pPr>
            <a:r>
              <a:rPr sz="1500" b="1">
                <a:solidFill>
                  <a:srgbClr val="49C8DB"/>
                </a:solidFill>
              </a:rPr>
              <a:t>Cosa non possiamo concludere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5A103-B229-44C4-B3A5-C1698F69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286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Un segnale ambientale non identifica da solo una persona, una fonte specifica o un rischio clinico.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371CE-7E75-48F1-B921-BD9EEAA1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22669-B23A-40F5-BDC8-6B2886B2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08 · SLIDE</a:t>
            </a:r>
          </a:p>
        </p:txBody>
      </p:sp>
    </p:spTree>
    <p:extLst>
      <p:ext uri="{BB962C8B-B14F-4D97-AF65-F5344CB8AC3E}">
        <p14:creationId xmlns:p14="http://schemas.microsoft.com/office/powerpoint/2010/main" val="72292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76E29-8035-4BC9-86B0-6E1AC835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Dalla conoscenza all’azione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2D7AF-467B-4538-8AC7-AFCF0547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34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17C42-719B-4F93-A038-29B59DFE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Dichiara sempre matrice, periodo, metodo e limiti dell’interpretazione.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5DBE4-85C5-4009-9FDF-93A1166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6F24"/>
                </a:solidFill>
              </a:defRPr>
            </a:pPr>
            <a:r>
              <a:rPr sz="1350" b="1">
                <a:solidFill>
                  <a:srgbClr val="C16F24"/>
                </a:solidFill>
              </a:rPr>
              <a:t>Approfondisci nel cruscotto pubblico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C7E38-E483-40BC-90BE-DC21BB07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E8B"/>
                </a:solidFill>
              </a:defRPr>
            </a:pPr>
            <a:r>
              <a:rPr sz="1800" b="1">
                <a:solidFill>
                  <a:srgbClr val="176E8B"/>
                </a:solidFill>
                <a:hlinkClick xmlns:r="http://schemas.openxmlformats.org/officeDocument/2006/relationships" r:id="R87a1c213621c4629"/>
              </a:rPr>
              <a:t>Apri il Sardinia One Health AMR Atlas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BAFDF-A6FE-405C-B7F4-172C38CA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30090-0393-424C-93F6-C22E331B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08 · SLIDE</a:t>
            </a:r>
          </a:p>
        </p:txBody>
      </p:sp>
    </p:spTree>
    <p:extLst>
      <p:ext uri="{BB962C8B-B14F-4D97-AF65-F5344CB8AC3E}">
        <p14:creationId xmlns:p14="http://schemas.microsoft.com/office/powerpoint/2010/main" val="945615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2C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961CD-6497-45F7-9167-4A787416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Fonti e approfondimenti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64F7F-AB6E-49D6-B47D-28AC3F5E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9C8DB"/>
                </a:solidFill>
              </a:defRPr>
            </a:pPr>
            <a:r>
              <a:rPr sz="1350" b="1">
                <a:solidFill>
                  <a:srgbClr val="49C8DB"/>
                </a:solidFill>
              </a:rPr>
              <a:t>Fonte essenziale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6DCB1-5519-4705-BF67-F72D20AD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hlinkClick xmlns:r="http://schemas.openxmlformats.org/officeDocument/2006/relationships" r:id="R7e31ea2f87644f22"/>
              </a:rPr>
              <a:t>WHO · AMR and 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F883F-5624-4463-A3B9-C5BEB490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D7E6"/>
                </a:solidFill>
              </a:defRPr>
            </a:pPr>
            <a:r>
              <a:rPr sz="1350" b="0">
                <a:solidFill>
                  <a:srgbClr val="C4D7E6"/>
                </a:solidFill>
                <a:hlinkClick xmlns:r="http://schemas.openxmlformats.org/officeDocument/2006/relationships" r:id="R67e30aa5c96c4439"/>
              </a:rPr>
              <a:t>https://www.who.int/teams/environment-climate-change-and-health/chemical-safety-and-health/antimicrobial-resistance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B5280-AAC0-4FDD-B4A0-E4E7894B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10810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4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8248B-07B7-437A-A534-880ACF70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Questo modulo è divulgativo: non sostituisce indicazioni cliniche, veterinarie o regolatorie.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21465-8620-4008-91C3-4F146C79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4D7E6"/>
                </a:solidFill>
              </a:defRPr>
            </a:pPr>
            <a:r>
              <a:rPr sz="825" b="1">
                <a:solidFill>
                  <a:srgbClr val="C4D7E6"/>
                </a:solidFill>
              </a:rPr>
              <a:t>Materiale prodotto per Sardinia One Health AMR Atlas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EE003-F47F-4BA6-B0A4-BA423FCA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889E4-13B4-43AB-8FC2-252A8669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08 · SLIDE</a:t>
            </a:r>
          </a:p>
        </p:txBody>
      </p:sp>
    </p:spTree>
    <p:extLst>
      <p:ext uri="{BB962C8B-B14F-4D97-AF65-F5344CB8AC3E}">
        <p14:creationId xmlns:p14="http://schemas.microsoft.com/office/powerpoint/2010/main" val="286543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2026-07-19T00:16:54.2960000Z</dcterms:created>
  <dcterms:modified xsi:type="dcterms:W3CDTF">2026-07-19T00:16:54.2960000Z</dcterms:modified>
</coreProperties>
</file>