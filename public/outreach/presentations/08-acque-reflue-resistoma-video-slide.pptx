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IL RESISTOMA
È l’insieme dei geni di resistenza rilevati in un campione
Il resistoma può essere studiato con metodi molecolari. Dice quali sequenze sono state rilevate, non da solo quali microrganismi siano vivi o infettivi.
blatetsulqnrermcampione
i
Gene rilevato, batterio vitale e infezione sono livelli diversi.
Fonti della scheda
WHO · Environmental dimensions of AMR ↗
NORMAN · Environmental AMR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Environmental dimensions of AMR ↗: https://www.who.int/publications/i/item/9789240052352</a:t>
            </a:r>
          </a:p>
          <a:p>
            <a:r>
              <a:rPr lang="it-IT"/>
              <a:t>NORMAN · Environmental AMR ↗: https://www.norman-network.com/nds/anthropogenic/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IL CAMPIONE
Le acque reflue sono una fotografia composta
Mescolano contributi diversi in un momento e in un punto specifici. Sono utili per monitorare segnali, ma richiedono metadati e campionamento coerente.
punto
campione composito
ora · portata · meteo
metadati
i
Senza tempo, punto e protocollo il segnale è difficile da interpretare.
Fonti della scheda
WHO · Wastewater surveillance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Wastewater surveillance ↗: https://www.who.int/publications/i/item/9789240055352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 SCALA
Campione, impianto e territorio non sono sinonimi
Un risultato ambientale appartiene al punto di raccolta. Per estenderlo all’impianto o al territorio servono campioni rappresentativi e un disegno esplicito.
campione↕impianto↕bacino servito↕territorio
i
La scala dell’inferenza deve essere uguale o più piccola della scala supportata dai dati.
Fonti della scheda
WHO · Environmental dimensions of AMR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Environmental dimensions of AMR ↗: https://www.who.int/publications/i/item/9789240052352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COSA NON DICE
Il resistoma non misura automaticamente rischio umano
La presenza di un gene non dimostra dose, via di esposizione, patogenicità o infezione. Il rischio richiede una valutazione integrata.
gene
→
microrganismo
→
esposizione
→
rischio
ogni passaggio richiede evidenza
i
Evitare il salto da “rilevato” a “pericoloso per tutti”.
Fonti della scheda
WHO · Environmental dimensions of AMR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Environmental dimensions of AMR ↗: https://www.who.int/publications/i/item/9789240052352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PERCHÉ È UTILE
L’ambiente può anticipare o completare altri segnali
Monitorare acque e reflui può aiutare a descrivere pressioni ambientali, circolazione di geni e risposta degli impianti.
EARLY
segnali prima di altri sistemi
CONTEXT
contesto per dati clinici e veterinari
FOLLOW-UP
valutare interventi nel tempo
i
Il valore è nella serie documentata, non nel singolo campione isolato.
Fonti della scheda
WHO · AMR and environment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AMR and environment ↗: https://www.who.int/teams/environment-climate-change-and-health/chemical-safety-and-health/antimicrobial-resistance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 FRASE CORRETTA
“Rilevato nel campione” è già un risultato importante
Descrivere con precisione il livello osservato permette di condividere il dato senza gonfiarne il significato.
Rilevato
nel campione e nel metodo dichiarato
Non ancora dimostrato
il percorso verso una persona o un rischio
i
La prudenza non riduce il valore del dato: lo rende riutilizzabile.
Fonti della scheda
Quadripartite · Integrated surveillance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Quadripartite · Integrated surveillance ↗: https://www.who.int/publications/b/79427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norman-network.com/nds/anthropogenic/" TargetMode="External"/><Relationship Id="rId4" Type="http://schemas.openxmlformats.org/officeDocument/2006/relationships/hyperlink" Target="https://www.who.int/publications/i/item/9789240052352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who.int/publications/i/item/9789240055352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who.int/publications/i/item/9789240052352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who.int/publications/i/item/9789240052352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who.int/teams/environment-climate-change-and-health/chemical-safety-and-health/antimicrobial-resistanc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who.int/publications/b/79427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1_66" descr="WHO · Environmental dimensions of AMR ↗">
            <a:hlinkClick r:id="rId4"/>
            <a:extLst>
              <a:ext uri="{FF2B5EF4-FFF2-40B4-BE49-F238E27FC236}">
                <a16:creationId xmlns:a16="http://schemas.microsoft.com/office/drawing/2014/main" id="{F5C8C7A6-8573-653E-08B3-0741D0058457}"/>
              </a:ext>
            </a:extLst>
          </p:cNvPr>
          <p:cNvSpPr/>
          <p:nvPr/>
        </p:nvSpPr>
        <p:spPr>
          <a:xfrm>
            <a:off x="1660178" y="5586115"/>
            <a:ext cx="2157710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urceLink_1_67" descr="NORMAN · Environmental AMR ↗">
            <a:hlinkClick r:id="rId5"/>
            <a:extLst>
              <a:ext uri="{FF2B5EF4-FFF2-40B4-BE49-F238E27FC236}">
                <a16:creationId xmlns:a16="http://schemas.microsoft.com/office/drawing/2014/main" id="{3F3B799B-96FF-5FE9-E348-DCBA0989D55B}"/>
              </a:ext>
            </a:extLst>
          </p:cNvPr>
          <p:cNvSpPr/>
          <p:nvPr/>
        </p:nvSpPr>
        <p:spPr>
          <a:xfrm>
            <a:off x="3939778" y="5586115"/>
            <a:ext cx="1641426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151043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2_68" descr="WHO · Wastewater surveillance ↗">
            <a:hlinkClick r:id="rId4"/>
            <a:extLst>
              <a:ext uri="{FF2B5EF4-FFF2-40B4-BE49-F238E27FC236}">
                <a16:creationId xmlns:a16="http://schemas.microsoft.com/office/drawing/2014/main" id="{4ACFCAD4-992F-2083-BFED-E0727DDDEA9F}"/>
              </a:ext>
            </a:extLst>
          </p:cNvPr>
          <p:cNvSpPr/>
          <p:nvPr/>
        </p:nvSpPr>
        <p:spPr>
          <a:xfrm>
            <a:off x="1660178" y="5101530"/>
            <a:ext cx="1669107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6825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3_69" descr="WHO · Environmental dimensions of AMR ↗">
            <a:hlinkClick r:id="rId4"/>
            <a:extLst>
              <a:ext uri="{FF2B5EF4-FFF2-40B4-BE49-F238E27FC236}">
                <a16:creationId xmlns:a16="http://schemas.microsoft.com/office/drawing/2014/main" id="{EA81FE63-144B-1B42-ACD0-D6D518791E01}"/>
              </a:ext>
            </a:extLst>
          </p:cNvPr>
          <p:cNvSpPr/>
          <p:nvPr/>
        </p:nvSpPr>
        <p:spPr>
          <a:xfrm>
            <a:off x="1660178" y="5586115"/>
            <a:ext cx="2157710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78527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4_70" descr="WHO · Environmental dimensions of AMR ↗">
            <a:hlinkClick r:id="rId4"/>
            <a:extLst>
              <a:ext uri="{FF2B5EF4-FFF2-40B4-BE49-F238E27FC236}">
                <a16:creationId xmlns:a16="http://schemas.microsoft.com/office/drawing/2014/main" id="{4ED6CF15-B359-72B8-45BB-73A876BA1B76}"/>
              </a:ext>
            </a:extLst>
          </p:cNvPr>
          <p:cNvSpPr/>
          <p:nvPr/>
        </p:nvSpPr>
        <p:spPr>
          <a:xfrm>
            <a:off x="1660178" y="5729734"/>
            <a:ext cx="2157710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94212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5_71" descr="WHO · AMR and environment ↗">
            <a:hlinkClick r:id="rId4"/>
            <a:extLst>
              <a:ext uri="{FF2B5EF4-FFF2-40B4-BE49-F238E27FC236}">
                <a16:creationId xmlns:a16="http://schemas.microsoft.com/office/drawing/2014/main" id="{1C0C6941-9EB8-9749-30A0-3B4065773290}"/>
              </a:ext>
            </a:extLst>
          </p:cNvPr>
          <p:cNvSpPr/>
          <p:nvPr/>
        </p:nvSpPr>
        <p:spPr>
          <a:xfrm>
            <a:off x="1660178" y="5349180"/>
            <a:ext cx="1557784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08515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6_72" descr="Quadripartite · Integrated surveillance ↗">
            <a:hlinkClick r:id="rId4"/>
            <a:extLst>
              <a:ext uri="{FF2B5EF4-FFF2-40B4-BE49-F238E27FC236}">
                <a16:creationId xmlns:a16="http://schemas.microsoft.com/office/drawing/2014/main" id="{C525B671-2DA2-C608-8F2B-F0502ECB45D1}"/>
              </a:ext>
            </a:extLst>
          </p:cNvPr>
          <p:cNvSpPr/>
          <p:nvPr/>
        </p:nvSpPr>
        <p:spPr>
          <a:xfrm>
            <a:off x="1660178" y="5349180"/>
            <a:ext cx="1981646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6079075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672</Words>
  <Application>Microsoft Office PowerPoint</Application>
  <DocSecurity>0</DocSecurity>
  <PresentationFormat>Widescreen</PresentationFormat>
  <Paragraphs>25</Paragraphs>
  <Slides>6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8" baseType="lpstr">
      <vt:lpstr>Calibri</vt:lpstr>
      <vt:lpstr>ChatGPT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GUARAGLIA Alessandro</cp:lastModifiedBy>
  <cp:revision>1</cp:revision>
  <dcterms:created xsi:type="dcterms:W3CDTF">2026-07-23T19:03:37Z</dcterms:created>
  <dcterms:modified xsi:type="dcterms:W3CDTF">2026-07-23T19:04:48Z</dcterms:modified>
</cp:coreProperties>
</file>