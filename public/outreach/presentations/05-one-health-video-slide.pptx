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IL QUADRO
One Health tiene insieme persone, animali e ambiente
La salute umana, animale, vegetale e degli ecosistemi è interdipendente. L’approccio coordina discipline e decisioni, non produce da solo una conclusione causale.
PERSONE
ANIMALI
AMBIENTE
ALIMENTI
ONE
HEALTH
i
One Health è un modo di organizzare domande, dati e responsabilità.
Fonti della scheda
WHO · One Health ↗
Quadripartite · One Health Joint Plan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One Health ↗: https://www.who.int/health-topics/one-health</a:t>
            </a:r>
          </a:p>
          <a:p>
            <a:r>
              <a:rPr lang="it-IT"/>
              <a:t>Quadripartite · One Health Joint Plan ↗: https://www.who.int/publications/i/item/9789240059139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QUATTRO PROSPETTIVE
Lo stesso problema può avere più segnali
Un antibiotico usato in un contesto, un isolato resistente in un laboratorio e un gene in un’acqua non sono la stessa osservazione.
UOMO
isolati clinici
ANIMALE
specie e matrici
ALIMENTO
filiera e controlli
AMBIENTE
acque e resistoma
i
Integrare non significa sommare numeri incompatibili.
Fonti della scheda
WHO · One Health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One Health ↗: https://www.who.int/news-room/fact-sheets/detail/one-health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DOMANDA CORRETTA
Prima di collegare due dati, chiedi “che cosa misurano?”
Scala, periodo, campione, denominatore e metodo determinano che cosa può essere confrontato.
Chi?
Che cosa?
Dove?
Quando?
Con quale metodo?
Con quale denominatore?
i
La comparabilità è una proprietà documentata, non un effetto grafico della mappa.
Fonti della scheda
WHO · Integrated surveillance guidance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Integrated surveillance guidance ↗: https://www.who.int/publications/b/79427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UN ESEMPIO
Una somiglianza non prova un passaggio
Se una resistenza compare in ospedale e un gene simile in un fiume, servono campionamento, tipizzazione, temporalità e vie plausibili per sostenere un collegamento.
SOMIGLIANZA
→
IPOTESI
→
TEST INDIPENDENTE
→
evidenza convergente
i
Il linguaggio corretto è “compatibile con” finché la relazione non è dimostrata.
Fonti della scheda
WHO · Environmental dimensions of AMR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Environmental dimensions of AMR ↗: https://www.who.int/publications/i/item/9789240052352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COORDINARE
La risposta migliore è distribuita tra ruoli diversi
Laboratori, sanità pubblica, veterinaria, ambiente, gestori idrici e comunità producono pezzi diversi della stessa domanda.
LABORATORIO
CLINICA
VETERINARIA
AMBIENTE
COMUNITÀ
decisione
i
Il coordinamento deve includere regole di qualità, protezione dei dati e responsabilità.
Fonti della scheda
WHO · One Health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One Health ↗: https://www.who.int/health-topics/one-health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REGOLA
Connettere non significa confondere
One Health rende visibili le connessioni e impone di dichiarare i limiti. È più forte quando separa osservazione, interpretazione e azione.
Osservazione
il dato raccolto
Interpretazione
che cosa può significare
Azione
che cosa decidiamo di fare
i
La trasparenza sulle incertezze è parte della salute pubblica.
Fonti della scheda
WHO · One Health fact sheet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One Health fact sheet ↗: https://www.who.int/news-room/fact-sheets/detail/one-health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ho.int/publications/i/item/9789240059139" TargetMode="External"/><Relationship Id="rId4" Type="http://schemas.openxmlformats.org/officeDocument/2006/relationships/hyperlink" Target="https://www.who.int/health-topics/one-health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news-room/fact-sheets/detail/one-health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publications/b/7942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publications/i/item/978924005235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health-topics/one-health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news-room/fact-sheets/detail/one-heal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1_45" descr="WHO · One Health ↗">
            <a:hlinkClick r:id="rId4"/>
            <a:extLst>
              <a:ext uri="{FF2B5EF4-FFF2-40B4-BE49-F238E27FC236}">
                <a16:creationId xmlns:a16="http://schemas.microsoft.com/office/drawing/2014/main" id="{B7435E58-19C0-2C0F-A214-DE65F2FDB21C}"/>
              </a:ext>
            </a:extLst>
          </p:cNvPr>
          <p:cNvSpPr/>
          <p:nvPr/>
        </p:nvSpPr>
        <p:spPr>
          <a:xfrm>
            <a:off x="1660178" y="5586115"/>
            <a:ext cx="1014859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1_46" descr="Quadripartite · One Health Joint Plan ↗">
            <a:hlinkClick r:id="rId5"/>
            <a:extLst>
              <a:ext uri="{FF2B5EF4-FFF2-40B4-BE49-F238E27FC236}">
                <a16:creationId xmlns:a16="http://schemas.microsoft.com/office/drawing/2014/main" id="{28DF4DD2-68C2-10E6-C187-D1946AF13855}"/>
              </a:ext>
            </a:extLst>
          </p:cNvPr>
          <p:cNvSpPr/>
          <p:nvPr/>
        </p:nvSpPr>
        <p:spPr>
          <a:xfrm>
            <a:off x="2796927" y="5586115"/>
            <a:ext cx="1923157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461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2_47" descr="WHO · One Health ↗">
            <a:hlinkClick r:id="rId4"/>
            <a:extLst>
              <a:ext uri="{FF2B5EF4-FFF2-40B4-BE49-F238E27FC236}">
                <a16:creationId xmlns:a16="http://schemas.microsoft.com/office/drawing/2014/main" id="{ADEC16B8-A0D3-4105-DF9E-81074834F465}"/>
              </a:ext>
            </a:extLst>
          </p:cNvPr>
          <p:cNvSpPr/>
          <p:nvPr/>
        </p:nvSpPr>
        <p:spPr>
          <a:xfrm>
            <a:off x="1660178" y="4864596"/>
            <a:ext cx="1014859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66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3_48" descr="WHO · Integrated surveillance guidance ↗">
            <a:hlinkClick r:id="rId4"/>
            <a:extLst>
              <a:ext uri="{FF2B5EF4-FFF2-40B4-BE49-F238E27FC236}">
                <a16:creationId xmlns:a16="http://schemas.microsoft.com/office/drawing/2014/main" id="{B836FD78-55BD-CFF7-7239-985D033EEB46}"/>
              </a:ext>
            </a:extLst>
          </p:cNvPr>
          <p:cNvSpPr/>
          <p:nvPr/>
        </p:nvSpPr>
        <p:spPr>
          <a:xfrm>
            <a:off x="1660178" y="5349180"/>
            <a:ext cx="2080022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029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4_49" descr="WHO · Environmental dimensions of AMR ↗">
            <a:hlinkClick r:id="rId4"/>
            <a:extLst>
              <a:ext uri="{FF2B5EF4-FFF2-40B4-BE49-F238E27FC236}">
                <a16:creationId xmlns:a16="http://schemas.microsoft.com/office/drawing/2014/main" id="{C95B8EF5-52C6-5764-D700-DCEDDB713F9D}"/>
              </a:ext>
            </a:extLst>
          </p:cNvPr>
          <p:cNvSpPr/>
          <p:nvPr/>
        </p:nvSpPr>
        <p:spPr>
          <a:xfrm>
            <a:off x="1660178" y="5101530"/>
            <a:ext cx="2157710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246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5_50" descr="WHO · One Health ↗">
            <a:hlinkClick r:id="rId4"/>
            <a:extLst>
              <a:ext uri="{FF2B5EF4-FFF2-40B4-BE49-F238E27FC236}">
                <a16:creationId xmlns:a16="http://schemas.microsoft.com/office/drawing/2014/main" id="{4240F55B-A8A4-8F40-96B6-C5856D4D3C65}"/>
              </a:ext>
            </a:extLst>
          </p:cNvPr>
          <p:cNvSpPr/>
          <p:nvPr/>
        </p:nvSpPr>
        <p:spPr>
          <a:xfrm>
            <a:off x="1660178" y="4864596"/>
            <a:ext cx="1014859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690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6_51" descr="WHO · One Health fact sheet ↗">
            <a:hlinkClick r:id="rId4"/>
            <a:extLst>
              <a:ext uri="{FF2B5EF4-FFF2-40B4-BE49-F238E27FC236}">
                <a16:creationId xmlns:a16="http://schemas.microsoft.com/office/drawing/2014/main" id="{4A63393B-FB91-9353-C072-55A4C02D2619}"/>
              </a:ext>
            </a:extLst>
          </p:cNvPr>
          <p:cNvSpPr/>
          <p:nvPr/>
        </p:nvSpPr>
        <p:spPr>
          <a:xfrm>
            <a:off x="1660178" y="5162996"/>
            <a:ext cx="1539478" cy="14719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6581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Microsoft Office PowerPoint</Application>
  <DocSecurity>0</DocSecurity>
  <PresentationFormat>Widescreen</PresentationFormat>
  <Paragraphs>25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8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GUARAGLIA Alessandro</cp:lastModifiedBy>
  <cp:revision>1</cp:revision>
  <dcterms:created xsi:type="dcterms:W3CDTF">2026-07-23T19:03:36Z</dcterms:created>
  <dcterms:modified xsi:type="dcterms:W3CDTF">2026-07-23T19:04:46Z</dcterms:modified>
</cp:coreProperties>
</file>