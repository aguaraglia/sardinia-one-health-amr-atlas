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737912eb7d4f80" /><Relationship Type="http://schemas.openxmlformats.org/officeDocument/2006/relationships/extended-properties" Target="/docProps/app.xml" Id="Rbdada2a95da44112" /><Relationship Type="http://schemas.openxmlformats.org/officeDocument/2006/relationships/officeDocument" Target="/ppt/presentation.xml" Id="Ra1a08523ec5c4c8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cca62696a04b42"/>
  </p:sldMasterIdLst>
  <p:notesMasterIdLst>
    <p:notesMasterId xmlns:r="http://schemas.openxmlformats.org/officeDocument/2006/relationships" r:id="Red6f08ed9a47400b"/>
  </p:notesMasterIdLst>
  <p:sldIdLst>
    <p:sldId xmlns:r="http://schemas.openxmlformats.org/officeDocument/2006/relationships" id="256" r:id="Rd44394aef8374a3f"/>
    <p:sldId xmlns:r="http://schemas.openxmlformats.org/officeDocument/2006/relationships" id="257" r:id="Rcbcf3d3de484474b"/>
    <p:sldId xmlns:r="http://schemas.openxmlformats.org/officeDocument/2006/relationships" id="258" r:id="R533071ac189242d4"/>
    <p:sldId xmlns:r="http://schemas.openxmlformats.org/officeDocument/2006/relationships" id="259" r:id="R122022cea3be49d5"/>
    <p:sldId xmlns:r="http://schemas.openxmlformats.org/officeDocument/2006/relationships" id="260" r:id="R8121498491e74e49"/>
    <p:sldId xmlns:r="http://schemas.openxmlformats.org/officeDocument/2006/relationships" id="261" r:id="R29e8dd150764447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42ad40b5cf44cf" /><Relationship Type="http://schemas.openxmlformats.org/officeDocument/2006/relationships/slideMaster" Target="/ppt/slideMasters/slideMaster1.xml" Id="R00cca62696a04b42" /><Relationship Type="http://schemas.openxmlformats.org/officeDocument/2006/relationships/notesMaster" Target="/ppt/notesMasters/notesMaster1.xml" Id="Red6f08ed9a47400b" /><Relationship Type="http://schemas.openxmlformats.org/officeDocument/2006/relationships/presProps" Target="/ppt/presProps.xml" Id="Raf5504890bfb48d5" /><Relationship Type="http://schemas.openxmlformats.org/officeDocument/2006/relationships/tableStyles" Target="/ppt/tableStyles.xml" Id="Ra5d74a3e002045a2" /><Relationship Type="http://schemas.openxmlformats.org/officeDocument/2006/relationships/slide" Target="/ppt/slides/slide1.xml" Id="Rd44394aef8374a3f" /><Relationship Type="http://schemas.openxmlformats.org/officeDocument/2006/relationships/slide" Target="/ppt/slides/slide2.xml" Id="Rcbcf3d3de484474b" /><Relationship Type="http://schemas.openxmlformats.org/officeDocument/2006/relationships/slide" Target="/ppt/slides/slide3.xml" Id="R533071ac189242d4" /><Relationship Type="http://schemas.openxmlformats.org/officeDocument/2006/relationships/slide" Target="/ppt/slides/slide4.xml" Id="R122022cea3be49d5" /><Relationship Type="http://schemas.openxmlformats.org/officeDocument/2006/relationships/slide" Target="/ppt/slides/slide5.xml" Id="R8121498491e74e49" /><Relationship Type="http://schemas.openxmlformats.org/officeDocument/2006/relationships/slide" Target="/ppt/slides/slide6.xml" Id="R29e8dd15076444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ccc7946833347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300b2eb8fe04baa" /><Relationship Type="http://schemas.openxmlformats.org/officeDocument/2006/relationships/notesMaster" Target="/ppt/notesMasters/notesMaster1.xml" Id="Rf6bc5c1251b945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f7409bef45844ed" /><Relationship Type="http://schemas.openxmlformats.org/officeDocument/2006/relationships/notesMaster" Target="/ppt/notesMasters/notesMaster1.xml" Id="R7feef9e1780f41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ffba20fc3e4aa5" /><Relationship Type="http://schemas.openxmlformats.org/officeDocument/2006/relationships/notesMaster" Target="/ppt/notesMasters/notesMaster1.xml" Id="Ra9dd13f25680442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101be194224da0" /><Relationship Type="http://schemas.openxmlformats.org/officeDocument/2006/relationships/notesMaster" Target="/ppt/notesMasters/notesMaster1.xml" Id="R316e45f2532349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b42a6e58164ef9" /><Relationship Type="http://schemas.openxmlformats.org/officeDocument/2006/relationships/notesMaster" Target="/ppt/notesMasters/notesMaster1.xml" Id="R2ed9eee520b0425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ce3a27b2104583" /><Relationship Type="http://schemas.openxmlformats.org/officeDocument/2006/relationships/notesMaster" Target="/ppt/notesMasters/notesMaster1.xml" Id="Rcba013ad9d3746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Salute umana, animale e ambientale sono connesse, ma le cause vanno dimostrate. Introduci il tema con una domanda semplice e collega l’illustrazione al messaggio principale.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Spiega il concetto centrale: One Health mette in dialogo professionisti, dati e decisioni di più settori.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Svela i tre punti uno alla volta. Riprendi: One Health mette in dialogo professionisti, dati e decisioni di più settori. Campioni clinici, alimentari e ambientali hanno scale e metodi diversi. Una vicinanza sulla mappa non dimostra da sola un passaggio o una causa.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Contrasta interpretazione corretta e scorciatoia da evitare. Enfatizza che il contesto è parte del dato.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Concludi con un’azione concreta: Chiedi sempre: quale dato, quale denominatore, quale collegamento è stato provato?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Mostra le fonti cliccabili e invita a verificare il contesto originale prima di riutilizzare un dato.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431921036f486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40ea5dffea4d65" /><Relationship Type="http://schemas.openxmlformats.org/officeDocument/2006/relationships/slideLayout" Target="/ppt/slideLayouts/slideLayout1.xml" Id="R61349061864945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1349061864945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f1aee80f24a38" /><Relationship Type="http://schemas.openxmlformats.org/officeDocument/2006/relationships/image" Target="/ppt/media/image.png" Id="Rd1f373cbd7444fe6" /><Relationship Type="http://schemas.openxmlformats.org/officeDocument/2006/relationships/notesSlide" Target="/ppt/notesSlides/notesSlide1.xml" Id="Re10c1d5fcbea47c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8bf57ae1142e3" /><Relationship Type="http://schemas.openxmlformats.org/officeDocument/2006/relationships/notesSlide" Target="/ppt/notesSlides/notesSlide2.xml" Id="Re8666e287bbf44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5fdb8d6e4a4c74" /><Relationship Type="http://schemas.openxmlformats.org/officeDocument/2006/relationships/notesSlide" Target="/ppt/notesSlides/notesSlide3.xml" Id="R69374faec1f0486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69d596436d43c2" /><Relationship Type="http://schemas.openxmlformats.org/officeDocument/2006/relationships/notesSlide" Target="/ppt/notesSlides/notesSlide4.xml" Id="R8b7c4e49e0d74f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2fe30a2ac447c4" /><Relationship Type="http://schemas.openxmlformats.org/officeDocument/2006/relationships/hyperlink" Target="https://aguaraglia.github.io/sardinia-one-health-amr-atlas/" TargetMode="External" Id="R1d8f7cd5d4554536" /><Relationship Type="http://schemas.openxmlformats.org/officeDocument/2006/relationships/notesSlide" Target="/ppt/notesSlides/notesSlide5.xml" Id="Rdae7e5a068fb412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a3b2e566ae424b" /><Relationship Type="http://schemas.openxmlformats.org/officeDocument/2006/relationships/hyperlink" Target="https://www.who.int/health-topics/one-health" TargetMode="External" Id="Ra852302bb20e4686" /><Relationship Type="http://schemas.openxmlformats.org/officeDocument/2006/relationships/hyperlink" Target="https://www.who.int/health-topics/one-health" TargetMode="External" Id="R874d214b997c4aad" /><Relationship Type="http://schemas.openxmlformats.org/officeDocument/2006/relationships/notesSlide" Target="/ppt/notesSlides/notesSlide6.xml" Id="Ref0dbe2bdbfb48d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f373cbd7444fe6"/>
          <a:srcRect xmlns:a="http://schemas.openxmlformats.org/drawingml/2006/main" l="0" t="12222" r="0" b="12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C1D223-378F-4097-8A24-EFCC9A19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C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99386C-55C3-493B-B86C-C3C4A4CF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466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49C8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50DC32-BB81-4E02-A299-D319007A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85800"/>
            <a:ext cx="1257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333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62C56"/>
                </a:solidFill>
              </a:defRPr>
            </a:pPr>
            <a:r>
              <a:rPr sz="900" b="1">
                <a:solidFill>
                  <a:srgbClr val="062C56"/>
                </a:solidFill>
              </a:rPr>
              <a:t>MODULO 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EC95D0-23D8-446E-A7B1-8D24E24F1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38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One Health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F44BD5-D428-4BC3-9978-B0AAC22D7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81375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6EDF3"/>
                </a:solidFill>
              </a:defRPr>
            </a:pPr>
            <a:r>
              <a:rPr sz="1725" b="0">
                <a:solidFill>
                  <a:srgbClr val="D6EDF3"/>
                </a:solidFill>
              </a:rPr>
              <a:t>Salute umana, animale e ambientale sono connesse, ma le cause vanno dimostrate.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59D1B7-9004-42E7-B3E4-A2C03D354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91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1905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49C8DB"/>
                </a:solidFill>
              </a:defRPr>
            </a:pPr>
            <a:r>
              <a:rPr sz="1050" b="1">
                <a:solidFill>
                  <a:srgbClr val="49C8DB"/>
                </a:solidFill>
              </a:rPr>
              <a:t>Video-slide divulgativo · Sardinia One Health AMR Atlas</a:t>
            </a:r>
          </a:p>
        </p:txBody>
      </p:sp>
    </p:spTree>
    <p:extLst>
      <p:ext uri="{BB962C8B-B14F-4D97-AF65-F5344CB8AC3E}">
        <p14:creationId xmlns:p14="http://schemas.microsoft.com/office/powerpoint/2010/main" val="14736591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249439-3692-487D-9847-B14CF620D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2906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2C56"/>
                </a:solidFill>
              </a:defRPr>
            </a:pPr>
            <a:r>
              <a:rPr sz="3150" b="1">
                <a:solidFill>
                  <a:srgbClr val="062C56"/>
                </a:solidFill>
              </a:rPr>
              <a:t>Salute umana, animale e ambientale sono connesse, ma le cause vanno dimostrate.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7A3CCB-23A7-4720-AB12-9B842516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16F24"/>
                </a:solidFill>
              </a:defRPr>
            </a:pPr>
            <a:r>
              <a:rPr sz="1350" b="1">
                <a:solidFill>
                  <a:srgbClr val="C16F24"/>
                </a:solidFill>
              </a:rPr>
              <a:t>La domanda che guida questo modulo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C80919-6DE2-429F-8757-9F7F29828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5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CCEAF-AA7C-45F1-A744-460BE64CF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19375"/>
            <a:ext cx="10096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2C56"/>
                </a:solidFill>
              </a:defRPr>
            </a:pPr>
            <a:r>
              <a:rPr sz="2325" b="1">
                <a:solidFill>
                  <a:srgbClr val="062C56"/>
                </a:solidFill>
              </a:rPr>
              <a:t>One Health mette in dialogo professionisti, dati e decisioni di più settori.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5F79F2-E661-4111-AC94-C301CE26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0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1465F"/>
                </a:solidFill>
              </a:defRPr>
            </a:pPr>
            <a:r>
              <a:rPr sz="1350" b="0">
                <a:solidFill>
                  <a:srgbClr val="31465F"/>
                </a:solidFill>
              </a:rPr>
              <a:t>Partiamo da un concetto chiaro, poi vediamo come usarlo nella vita reale.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F65EA8-86C9-4ACB-8F57-A1ADDFFE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81D319-F547-4058-8A08-FA9D8E2D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05 · SLIDE</a:t>
            </a:r>
          </a:p>
        </p:txBody>
      </p:sp>
    </p:spTree>
    <p:extLst>
      <p:ext uri="{BB962C8B-B14F-4D97-AF65-F5344CB8AC3E}">
        <p14:creationId xmlns:p14="http://schemas.microsoft.com/office/powerpoint/2010/main" val="20108376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989CAB-B49D-46BE-9203-F027B023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2C56"/>
                </a:solidFill>
              </a:defRPr>
            </a:pPr>
            <a:r>
              <a:rPr sz="3000" b="1">
                <a:solidFill>
                  <a:srgbClr val="062C56"/>
                </a:solidFill>
              </a:rPr>
              <a:t>Tre idee da portare con sé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783C8F-C7F0-4C79-997E-FADB3AD2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49C8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7BDADB-BD9C-4BF5-9B68-C415FB3C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A814A8-5999-4BD1-A4E7-4232111C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43075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One Health mette in dialogo professionisti, dati e decisioni di più settori.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2108C0-3D76-4940-A33D-5A62A661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0821C9-AD77-45FA-BD14-0F787E437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99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51E9C8-911A-426A-BDA2-1823F8F3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76575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62C56"/>
                </a:solidFill>
              </a:defRPr>
            </a:pPr>
            <a:r>
              <a:rPr sz="1875" b="0">
                <a:solidFill>
                  <a:srgbClr val="062C56"/>
                </a:solidFill>
              </a:rPr>
              <a:t>Campioni clinici, alimentari e ambientali hanno scale e metodi diversi.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64F3EE-1881-4707-B525-110EA8E0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3A4F2-65F0-4ACA-BFCB-B0A8FF04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434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35058F-92BF-48B5-9F31-799E5673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10075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62C56"/>
                </a:solidFill>
              </a:defRPr>
            </a:pPr>
            <a:r>
              <a:rPr sz="1875" b="0">
                <a:solidFill>
                  <a:srgbClr val="062C56"/>
                </a:solidFill>
              </a:rPr>
              <a:t>Una vicinanza sulla mappa non dimostra da sola un passaggio o una causa.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98709A-A651-45E5-8C1B-204F5E5A4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C46890-B716-4D54-B290-1C62609B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05 · SLIDE</a:t>
            </a:r>
          </a:p>
        </p:txBody>
      </p:sp>
    </p:spTree>
    <p:extLst>
      <p:ext uri="{BB962C8B-B14F-4D97-AF65-F5344CB8AC3E}">
        <p14:creationId xmlns:p14="http://schemas.microsoft.com/office/powerpoint/2010/main" val="11729294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EDA28C-F313-4347-AF2E-978D32FE4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2C56"/>
                </a:solidFill>
              </a:defRPr>
            </a:pPr>
            <a:r>
              <a:rPr sz="3000" b="1">
                <a:solidFill>
                  <a:srgbClr val="062C56"/>
                </a:solidFill>
              </a:rPr>
              <a:t>Una lettura responsabile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CDE95-FDA8-446D-84BA-6786F4DF4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000625" cy="32385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5843B5-9D70-4FB9-833A-9279EFC96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57350"/>
            <a:ext cx="5448300" cy="32385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062C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EC0E92-C558-46E4-8F77-2C1875E5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383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16F24"/>
                </a:solidFill>
              </a:defRPr>
            </a:pPr>
            <a:r>
              <a:rPr sz="1500" b="1">
                <a:solidFill>
                  <a:srgbClr val="C16F24"/>
                </a:solidFill>
              </a:rPr>
              <a:t>Cosa possiamo dire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831896-B46B-434C-838B-04C7552F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71750"/>
            <a:ext cx="4000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62C56"/>
                </a:solidFill>
              </a:defRPr>
            </a:pPr>
            <a:r>
              <a:rPr sz="2025" b="1">
                <a:solidFill>
                  <a:srgbClr val="062C56"/>
                </a:solidFill>
              </a:rPr>
              <a:t>Campioni clinici, alimentari e ambientali hanno scale e metodi diversi.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6DFCAF-D611-42DF-A17D-6AF84167C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383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49C8DB"/>
                </a:solidFill>
              </a:defRPr>
            </a:pPr>
            <a:r>
              <a:rPr sz="1500" b="1">
                <a:solidFill>
                  <a:srgbClr val="49C8DB"/>
                </a:solidFill>
              </a:rPr>
              <a:t>Cosa non possiamo concludere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60F7BF-7F6C-4D21-B011-F3752790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71750"/>
            <a:ext cx="4286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Una vicinanza sulla mappa non dimostra da sola un passaggio o una causa.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A70181-2FA1-4316-A8A3-24795286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199E1C-5752-4A66-BB2F-B58D1DFF0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05 · SLIDE</a:t>
            </a:r>
          </a:p>
        </p:txBody>
      </p:sp>
    </p:spTree>
    <p:extLst>
      <p:ext uri="{BB962C8B-B14F-4D97-AF65-F5344CB8AC3E}">
        <p14:creationId xmlns:p14="http://schemas.microsoft.com/office/powerpoint/2010/main" val="17962495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D578B0-9649-4456-86AF-9C4E5109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2C56"/>
                </a:solidFill>
              </a:defRPr>
            </a:pPr>
            <a:r>
              <a:rPr sz="3000" b="1">
                <a:solidFill>
                  <a:srgbClr val="062C56"/>
                </a:solidFill>
              </a:rPr>
              <a:t>Dalla conoscenza all’azione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0140C9-5A8A-484F-82D9-EE9A6239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347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62C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D85DB8-536F-4103-AE76-5BABEA62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86000"/>
            <a:ext cx="1000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7312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Chiedi sempre: quale dato, quale denominatore, quale collegamento è stato provato?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B01913-6116-4735-BF2D-97063B4A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16F24"/>
                </a:solidFill>
              </a:defRPr>
            </a:pPr>
            <a:r>
              <a:rPr sz="1350" b="1">
                <a:solidFill>
                  <a:srgbClr val="C16F24"/>
                </a:solidFill>
              </a:rPr>
              <a:t>Approfondisci nel cruscotto pubblico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B88ECF-8CEA-46A4-9A21-1B8F643C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6E8B"/>
                </a:solidFill>
              </a:defRPr>
            </a:pPr>
            <a:r>
              <a:rPr sz="1800" b="1">
                <a:solidFill>
                  <a:srgbClr val="176E8B"/>
                </a:solidFill>
                <a:hlinkClick xmlns:r="http://schemas.openxmlformats.org/officeDocument/2006/relationships" r:id="R1d8f7cd5d4554536"/>
              </a:rPr>
              <a:t>Apri il Sardinia One Health AMR Atlas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40A36E-3506-4630-8609-C6213554C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815978-51FF-4D0D-AACB-EC25F421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05 · SLIDE</a:t>
            </a:r>
          </a:p>
        </p:txBody>
      </p:sp>
    </p:spTree>
    <p:extLst>
      <p:ext uri="{BB962C8B-B14F-4D97-AF65-F5344CB8AC3E}">
        <p14:creationId xmlns:p14="http://schemas.microsoft.com/office/powerpoint/2010/main" val="371876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2C5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D16E37-7E75-4117-BAE1-86929A24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Fonti e approfondimenti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325F77-B6B5-46E5-85B5-9DC4D091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428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49C8DB"/>
                </a:solidFill>
              </a:defRPr>
            </a:pPr>
            <a:r>
              <a:rPr sz="1350" b="1">
                <a:solidFill>
                  <a:srgbClr val="49C8DB"/>
                </a:solidFill>
              </a:rPr>
              <a:t>Fonte essenziale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28E332-E3BC-4BEA-A69C-54087F14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4615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hlinkClick xmlns:r="http://schemas.openxmlformats.org/officeDocument/2006/relationships" r:id="Ra852302bb20e4686"/>
              </a:rPr>
              <a:t>WHO · One Health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8B2C22-15C1-4FFA-BE31-96E43997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14625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C4D7E6"/>
                </a:solidFill>
              </a:defRPr>
            </a:pPr>
            <a:r>
              <a:rPr sz="1350" b="0">
                <a:solidFill>
                  <a:srgbClr val="C4D7E6"/>
                </a:solidFill>
                <a:hlinkClick xmlns:r="http://schemas.openxmlformats.org/officeDocument/2006/relationships" r:id="R874d214b997c4aad"/>
              </a:rPr>
              <a:t>https://www.who.int/health-topics/one-health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D0364D-5523-49F7-A169-5D457258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10810875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D40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9994BB-46FA-47E1-B087-D719C41B2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4815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Questo modulo è divulgativo: non sostituisce indicazioni cliniche, veterinarie o regolatorie.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38F3A9-5E23-4585-B5B2-445C7FAA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C4D7E6"/>
                </a:solidFill>
              </a:defRPr>
            </a:pPr>
            <a:r>
              <a:rPr sz="825" b="1">
                <a:solidFill>
                  <a:srgbClr val="C4D7E6"/>
                </a:solidFill>
              </a:rPr>
              <a:t>Materiale prodotto per Sardinia One Health AMR Atlas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90C686-6A11-4ADE-9B4F-BBA5D26B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C81DAF-B6CF-4946-89FF-825B8B72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05 · SLIDE</a:t>
            </a:r>
          </a:p>
        </p:txBody>
      </p:sp>
    </p:spTree>
    <p:extLst>
      <p:ext uri="{BB962C8B-B14F-4D97-AF65-F5344CB8AC3E}">
        <p14:creationId xmlns:p14="http://schemas.microsoft.com/office/powerpoint/2010/main" val="4318535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2026-07-19T00:16:52.6350000Z</dcterms:created>
  <dcterms:modified xsi:type="dcterms:W3CDTF">2026-07-19T00:16:52.6350000Z</dcterms:modified>
</coreProperties>
</file>