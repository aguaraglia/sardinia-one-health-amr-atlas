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9615486049f4b1e" /><Relationship Type="http://schemas.openxmlformats.org/officeDocument/2006/relationships/extended-properties" Target="/docProps/app.xml" Id="Raf32a2e110c94c50" /><Relationship Type="http://schemas.openxmlformats.org/officeDocument/2006/relationships/officeDocument" Target="/ppt/presentation.xml" Id="R01af0f12b88d40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205339f41604fdb"/>
  </p:sldMasterIdLst>
  <p:notesMasterIdLst>
    <p:notesMasterId xmlns:r="http://schemas.openxmlformats.org/officeDocument/2006/relationships" r:id="R08c21a1b10d94250"/>
  </p:notesMasterIdLst>
  <p:sldIdLst>
    <p:sldId xmlns:r="http://schemas.openxmlformats.org/officeDocument/2006/relationships" id="256" r:id="R6ac4e416217b4c4e"/>
    <p:sldId xmlns:r="http://schemas.openxmlformats.org/officeDocument/2006/relationships" id="257" r:id="R75adc78750704a4f"/>
    <p:sldId xmlns:r="http://schemas.openxmlformats.org/officeDocument/2006/relationships" id="258" r:id="R41b837105edb4bd6"/>
    <p:sldId xmlns:r="http://schemas.openxmlformats.org/officeDocument/2006/relationships" id="259" r:id="R6895784569764fd7"/>
    <p:sldId xmlns:r="http://schemas.openxmlformats.org/officeDocument/2006/relationships" id="260" r:id="R5b4fb198d6e3485e"/>
    <p:sldId xmlns:r="http://schemas.openxmlformats.org/officeDocument/2006/relationships" id="261" r:id="R49e745016138440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42aa32c4dfe426a" /><Relationship Type="http://schemas.openxmlformats.org/officeDocument/2006/relationships/slideMaster" Target="/ppt/slideMasters/slideMaster1.xml" Id="R0205339f41604fdb" /><Relationship Type="http://schemas.openxmlformats.org/officeDocument/2006/relationships/notesMaster" Target="/ppt/notesMasters/notesMaster1.xml" Id="R08c21a1b10d94250" /><Relationship Type="http://schemas.openxmlformats.org/officeDocument/2006/relationships/presProps" Target="/ppt/presProps.xml" Id="Ra5c4f0a4d7384acc" /><Relationship Type="http://schemas.openxmlformats.org/officeDocument/2006/relationships/tableStyles" Target="/ppt/tableStyles.xml" Id="Rb83820258ebf4225" /><Relationship Type="http://schemas.openxmlformats.org/officeDocument/2006/relationships/slide" Target="/ppt/slides/slide1.xml" Id="R6ac4e416217b4c4e" /><Relationship Type="http://schemas.openxmlformats.org/officeDocument/2006/relationships/slide" Target="/ppt/slides/slide2.xml" Id="R75adc78750704a4f" /><Relationship Type="http://schemas.openxmlformats.org/officeDocument/2006/relationships/slide" Target="/ppt/slides/slide3.xml" Id="R41b837105edb4bd6" /><Relationship Type="http://schemas.openxmlformats.org/officeDocument/2006/relationships/slide" Target="/ppt/slides/slide4.xml" Id="R6895784569764fd7" /><Relationship Type="http://schemas.openxmlformats.org/officeDocument/2006/relationships/slide" Target="/ppt/slides/slide5.xml" Id="R5b4fb198d6e3485e" /><Relationship Type="http://schemas.openxmlformats.org/officeDocument/2006/relationships/slide" Target="/ppt/slides/slide6.xml" Id="R49e745016138440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54a158b63f9492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57b5e635364391" /><Relationship Type="http://schemas.openxmlformats.org/officeDocument/2006/relationships/notesMaster" Target="/ppt/notesMasters/notesMaster1.xml" Id="R4b5c3ccafc75453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ba7c8bb3f3f443e" /><Relationship Type="http://schemas.openxmlformats.org/officeDocument/2006/relationships/notesMaster" Target="/ppt/notesMasters/notesMaster1.xml" Id="R1b7dbb8a5d1d4c0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a5fa20df8d44091" /><Relationship Type="http://schemas.openxmlformats.org/officeDocument/2006/relationships/notesMaster" Target="/ppt/notesMasters/notesMaster1.xml" Id="R3da2248a7e6443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2eb0537eb8d45c6" /><Relationship Type="http://schemas.openxmlformats.org/officeDocument/2006/relationships/notesMaster" Target="/ppt/notesMasters/notesMaster1.xml" Id="Rb3c4f2ca4ad2457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d4673d0df3a4f73" /><Relationship Type="http://schemas.openxmlformats.org/officeDocument/2006/relationships/notesMaster" Target="/ppt/notesMasters/notesMaster1.xml" Id="Rfbef91b1c97241c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f64e724bfe54015" /><Relationship Type="http://schemas.openxmlformats.org/officeDocument/2006/relationships/notesMaster" Target="/ppt/notesMasters/notesMaster1.xml" Id="Rf9a07e1e517f4fe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La terapia efficace parte dalla diagnosi, non dall’abitudine. Introduci il tema con una domanda semplice e collega l’illustrazione al messaggio principale.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Spiega il concetto centrale: Batteri e virus sono diversi: gli antibiotici hanno un bersaglio batterico.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Svela i tre punti uno alla volta. Riprendi: Batteri e virus sono diversi: gli antibiotici hanno un bersaglio batterico. Uso appropriato significa farmaco giusto, dose giusta, durata giusta, quando serve. Conservare, condividere o riutilizzare antibiotici può ritardare la cura corretta.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Contrasta interpretazione corretta e scorciatoia da evitare. Enfatizza che il contesto è parte del dato.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Concludi con un’azione concreta: Segui prescrizione e durata; non usare avanzamenti di terapie precedenti.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Mostra le fonti cliccabili e invita a verificare il contesto originale prima di riutilizzare un dato.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1c8ec1883b4c0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311a6faa7c4d31" /><Relationship Type="http://schemas.openxmlformats.org/officeDocument/2006/relationships/slideLayout" Target="/ppt/slideLayouts/slideLayout1.xml" Id="R606df9089451469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06df9089451469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90359f7fc447f0" /><Relationship Type="http://schemas.openxmlformats.org/officeDocument/2006/relationships/image" Target="/ppt/media/image.png" Id="R7bb475e97b234965" /><Relationship Type="http://schemas.openxmlformats.org/officeDocument/2006/relationships/notesSlide" Target="/ppt/notesSlides/notesSlide1.xml" Id="Rd59dd1e993dc4b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7873853f91414d" /><Relationship Type="http://schemas.openxmlformats.org/officeDocument/2006/relationships/notesSlide" Target="/ppt/notesSlides/notesSlide2.xml" Id="Rf02a6b2f5c3f4b2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760707f4944502" /><Relationship Type="http://schemas.openxmlformats.org/officeDocument/2006/relationships/notesSlide" Target="/ppt/notesSlides/notesSlide3.xml" Id="R730acf37d38b4cc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f0dc4d7da74019" /><Relationship Type="http://schemas.openxmlformats.org/officeDocument/2006/relationships/notesSlide" Target="/ppt/notesSlides/notesSlide4.xml" Id="Re762d7606f554eb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48b9e3ae1c460a" /><Relationship Type="http://schemas.openxmlformats.org/officeDocument/2006/relationships/hyperlink" Target="https://aguaraglia.github.io/sardinia-one-health-amr-atlas/" TargetMode="External" Id="Raf8df554b40e4b83" /><Relationship Type="http://schemas.openxmlformats.org/officeDocument/2006/relationships/notesSlide" Target="/ppt/notesSlides/notesSlide5.xml" Id="R79013f0cca2b451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5176aea8cc46b4" /><Relationship Type="http://schemas.openxmlformats.org/officeDocument/2006/relationships/hyperlink" Target="https://www.who.int/news-room/fact-sheets/detail/antimicrobial-resistance" TargetMode="External" Id="Rea9c35d21bc34609" /><Relationship Type="http://schemas.openxmlformats.org/officeDocument/2006/relationships/hyperlink" Target="https://www.who.int/news-room/fact-sheets/detail/antimicrobial-resistance" TargetMode="External" Id="R1151c41eaace4062" /><Relationship Type="http://schemas.openxmlformats.org/officeDocument/2006/relationships/notesSlide" Target="/ppt/notesSlides/notesSlide6.xml" Id="R2c500b2426bc4d3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b475e97b234965"/>
          <a:srcRect xmlns:a="http://schemas.openxmlformats.org/drawingml/2006/main" l="0" t="12222" r="0" b="12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558BD6-7674-456A-9547-ABF8CE12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2C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E0FAA6-BA5C-4231-AE20-8E2AA62B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466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49C8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DC341-F7E6-4A59-8E47-07764AA0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85800"/>
            <a:ext cx="1257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333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62C56"/>
                </a:solidFill>
              </a:defRPr>
            </a:pPr>
            <a:r>
              <a:rPr sz="900" b="1">
                <a:solidFill>
                  <a:srgbClr val="062C56"/>
                </a:solidFill>
              </a:rPr>
              <a:t>MODULO 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E6297A-C1A1-4980-A900-D050824E3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38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2901"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Batteri, virus e uso appropriato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229737-4956-4D3D-AA30-3747FFBD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81375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6EDF3"/>
                </a:solidFill>
              </a:defRPr>
            </a:pPr>
            <a:r>
              <a:rPr sz="1725" b="0">
                <a:solidFill>
                  <a:srgbClr val="D6EDF3"/>
                </a:solidFill>
              </a:rPr>
              <a:t>La terapia efficace parte dalla diagnosi, non dall’abitudine.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99DC24-0FBC-4EA9-8E5D-BD1CE064C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91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1905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49C8DB"/>
                </a:solidFill>
              </a:defRPr>
            </a:pPr>
            <a:r>
              <a:rPr sz="1050" b="1">
                <a:solidFill>
                  <a:srgbClr val="49C8DB"/>
                </a:solidFill>
              </a:rPr>
              <a:t>Video-slide divulgativo · Sardinia One Health AMR Atlas</a:t>
            </a:r>
          </a:p>
        </p:txBody>
      </p:sp>
    </p:spTree>
    <p:extLst>
      <p:ext uri="{BB962C8B-B14F-4D97-AF65-F5344CB8AC3E}">
        <p14:creationId xmlns:p14="http://schemas.microsoft.com/office/powerpoint/2010/main" val="3871366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5DADF0-99A1-4B26-A9B0-26CD3199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2C56"/>
                </a:solidFill>
              </a:defRPr>
            </a:pPr>
            <a:r>
              <a:rPr sz="3150" b="1">
                <a:solidFill>
                  <a:srgbClr val="062C56"/>
                </a:solidFill>
              </a:rPr>
              <a:t>La terapia efficace parte dalla diagnosi, non dall’abitudine.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22C9DD-3392-4B16-AB19-941D54E1B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16F24"/>
                </a:solidFill>
              </a:defRPr>
            </a:pPr>
            <a:r>
              <a:rPr sz="1350" b="1">
                <a:solidFill>
                  <a:srgbClr val="C16F24"/>
                </a:solidFill>
              </a:rPr>
              <a:t>La domanda che guida questo modulo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004D53-E71B-490E-AA58-774E2A0A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53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384357-5C7D-4603-8C72-B064AD439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19375"/>
            <a:ext cx="10096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62C56"/>
                </a:solidFill>
              </a:defRPr>
            </a:pPr>
            <a:r>
              <a:rPr sz="2325" b="1">
                <a:solidFill>
                  <a:srgbClr val="062C56"/>
                </a:solidFill>
              </a:rPr>
              <a:t>Batteri e virus sono diversi: gli antibiotici hanno un bersaglio batterico.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398643-11E6-4EAA-A803-96BBCDEF1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0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1465F"/>
                </a:solidFill>
              </a:defRPr>
            </a:pPr>
            <a:r>
              <a:rPr sz="1350" b="0">
                <a:solidFill>
                  <a:srgbClr val="31465F"/>
                </a:solidFill>
              </a:rPr>
              <a:t>Partiamo da un concetto chiaro, poi vediamo come usarlo nella vita reale.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741DC4-1028-459C-BB25-B31DE8AB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CE1BD8-3FBB-48EB-807D-821AF4EAF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02 · SLIDE</a:t>
            </a:r>
          </a:p>
        </p:txBody>
      </p:sp>
    </p:spTree>
    <p:extLst>
      <p:ext uri="{BB962C8B-B14F-4D97-AF65-F5344CB8AC3E}">
        <p14:creationId xmlns:p14="http://schemas.microsoft.com/office/powerpoint/2010/main" val="3729426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71B0B3-1F75-4BEF-B242-63B584468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2C56"/>
                </a:solidFill>
              </a:defRPr>
            </a:pPr>
            <a:r>
              <a:rPr sz="3000" b="1">
                <a:solidFill>
                  <a:srgbClr val="062C56"/>
                </a:solidFill>
              </a:rPr>
              <a:t>Tre idee da portare con sé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75AEEC-A541-4F83-AD15-C02A914A0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49C8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ED47BB-5CCD-44EA-ABFA-92C711AA7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62C56"/>
                </a:solidFill>
              </a:defRPr>
            </a:pPr>
            <a:r>
              <a:rPr sz="1875" b="1">
                <a:solidFill>
                  <a:srgbClr val="062C56"/>
                </a:solidFill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2A2A49-43CB-446D-A0DC-834125E3B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43075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62C56"/>
                </a:solidFill>
              </a:defRPr>
            </a:pPr>
            <a:r>
              <a:rPr sz="1875" b="1">
                <a:solidFill>
                  <a:srgbClr val="062C56"/>
                </a:solidFill>
              </a:rPr>
              <a:t>Batteri e virus sono diversi: gli antibiotici hanno un bersaglio batterico.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639744-8B2E-4690-AFD8-90C8B0EEF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DFCEEC-A387-4494-A4E5-5DA8F44D7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99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62C56"/>
                </a:solidFill>
              </a:defRPr>
            </a:pPr>
            <a:r>
              <a:rPr sz="1875" b="1">
                <a:solidFill>
                  <a:srgbClr val="062C56"/>
                </a:solidFill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401CEC-393D-4875-9CD5-8D31C4656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76575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62C56"/>
                </a:solidFill>
              </a:defRPr>
            </a:pPr>
            <a:r>
              <a:rPr sz="1875" b="0">
                <a:solidFill>
                  <a:srgbClr val="062C56"/>
                </a:solidFill>
              </a:rPr>
              <a:t>Uso appropriato significa farmaco giusto, dose giusta, durata giusta, quando serve.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399A44-3811-47B6-A71B-060C83207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F44F08-2093-46EB-B214-0118B4A38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434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62C56"/>
                </a:solidFill>
              </a:defRPr>
            </a:pPr>
            <a:r>
              <a:rPr sz="1875" b="1">
                <a:solidFill>
                  <a:srgbClr val="062C56"/>
                </a:solidFill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C80AF6-5280-4F93-B37E-EF6C4B23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10075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62C56"/>
                </a:solidFill>
              </a:defRPr>
            </a:pPr>
            <a:r>
              <a:rPr sz="1875" b="0">
                <a:solidFill>
                  <a:srgbClr val="062C56"/>
                </a:solidFill>
              </a:rPr>
              <a:t>Conservare, condividere o riutilizzare antibiotici può ritardare la cura corretta.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C0C80D-C246-4030-8E21-BC7E98D0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EFC684-52DF-4851-A436-BABDB66E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02 · SLIDE</a:t>
            </a:r>
          </a:p>
        </p:txBody>
      </p:sp>
    </p:spTree>
    <p:extLst>
      <p:ext uri="{BB962C8B-B14F-4D97-AF65-F5344CB8AC3E}">
        <p14:creationId xmlns:p14="http://schemas.microsoft.com/office/powerpoint/2010/main" val="2804546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FB9D95-DD76-4B2A-A131-D8158AEA6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2C56"/>
                </a:solidFill>
              </a:defRPr>
            </a:pPr>
            <a:r>
              <a:rPr sz="3000" b="1">
                <a:solidFill>
                  <a:srgbClr val="062C56"/>
                </a:solidFill>
              </a:rPr>
              <a:t>Una lettura responsabile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C72505-6D8C-4BD0-A5F5-9BD29B0DB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000625" cy="323850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26EFC4-2C16-4727-8318-627DB290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57350"/>
            <a:ext cx="5448300" cy="323850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062C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3C2C8A-D2E6-4BB3-9DEB-44136DFD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3835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666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16F24"/>
                </a:solidFill>
              </a:defRPr>
            </a:pPr>
            <a:r>
              <a:rPr sz="1500" b="1">
                <a:solidFill>
                  <a:srgbClr val="C16F24"/>
                </a:solidFill>
              </a:rPr>
              <a:t>Cosa possiamo dire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9F0044-0836-4500-A1A0-0D6D3831A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71750"/>
            <a:ext cx="4000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62C56"/>
                </a:solidFill>
              </a:defRPr>
            </a:pPr>
            <a:r>
              <a:rPr sz="2025" b="1">
                <a:solidFill>
                  <a:srgbClr val="062C56"/>
                </a:solidFill>
              </a:rPr>
              <a:t>Uso appropriato significa farmaco giusto, dose giusta, durata giusta, quando serve.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4E2E56-34E6-4B92-879D-364A39BE7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383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666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49C8DB"/>
                </a:solidFill>
              </a:defRPr>
            </a:pPr>
            <a:r>
              <a:rPr sz="1500" b="1">
                <a:solidFill>
                  <a:srgbClr val="49C8DB"/>
                </a:solidFill>
              </a:rPr>
              <a:t>Cosa non possiamo concludere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08D241-05EB-4D2F-981E-45BCF3E01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71750"/>
            <a:ext cx="42862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Conservare, condividere o riutilizzare antibiotici può ritardare la cura corretta.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B2BFC7-7DAA-4EA9-8F2D-72C43342C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CD33D4-65E4-4C32-8AF6-283D6837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02 · SLIDE</a:t>
            </a:r>
          </a:p>
        </p:txBody>
      </p:sp>
    </p:spTree>
    <p:extLst>
      <p:ext uri="{BB962C8B-B14F-4D97-AF65-F5344CB8AC3E}">
        <p14:creationId xmlns:p14="http://schemas.microsoft.com/office/powerpoint/2010/main" val="13855484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DAECEE-BAA6-459B-AF96-A28E4A6A0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2C56"/>
                </a:solidFill>
              </a:defRPr>
            </a:pPr>
            <a:r>
              <a:rPr sz="3000" b="1">
                <a:solidFill>
                  <a:srgbClr val="062C56"/>
                </a:solidFill>
              </a:rPr>
              <a:t>Dalla conoscenza all’azione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639B08-8596-4718-984B-C35327A1D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347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62C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512909-A4A5-4989-A3E9-A362601A6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86000"/>
            <a:ext cx="1000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Segui prescrizione e durata; non usare avanzamenti di terapie precedenti.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AB7E7B-4CB1-4C44-BBA0-E818AC3A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16F24"/>
                </a:solidFill>
              </a:defRPr>
            </a:pPr>
            <a:r>
              <a:rPr sz="1350" b="1">
                <a:solidFill>
                  <a:srgbClr val="C16F24"/>
                </a:solidFill>
              </a:rPr>
              <a:t>Approfondisci nel cruscotto pubblico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DCD741-E19C-4819-AC12-0BDD0451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6E8B"/>
                </a:solidFill>
              </a:defRPr>
            </a:pPr>
            <a:r>
              <a:rPr sz="1800" b="1">
                <a:solidFill>
                  <a:srgbClr val="176E8B"/>
                </a:solidFill>
                <a:hlinkClick xmlns:r="http://schemas.openxmlformats.org/officeDocument/2006/relationships" r:id="Raf8df554b40e4b83"/>
              </a:rPr>
              <a:t>Apri il Sardinia One Health AMR Atlas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44DA1E-C50B-455F-9570-00DB4332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94335E-CBFD-4E5E-9634-3B82DAC93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02 · SLIDE</a:t>
            </a:r>
          </a:p>
        </p:txBody>
      </p:sp>
    </p:spTree>
    <p:extLst>
      <p:ext uri="{BB962C8B-B14F-4D97-AF65-F5344CB8AC3E}">
        <p14:creationId xmlns:p14="http://schemas.microsoft.com/office/powerpoint/2010/main" val="4374944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2C5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8B830D-59A8-40BC-AA21-D4C63B5C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Fonti e approfondimenti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43ADE3-8A3A-4E9D-AF63-830929828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428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49C8DB"/>
                </a:solidFill>
              </a:defRPr>
            </a:pPr>
            <a:r>
              <a:rPr sz="1350" b="1">
                <a:solidFill>
                  <a:srgbClr val="49C8DB"/>
                </a:solidFill>
              </a:rPr>
              <a:t>Fonte essenziale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2118C5-1D95-46B5-853F-0AFAA754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4615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  <a:hlinkClick xmlns:r="http://schemas.openxmlformats.org/officeDocument/2006/relationships" r:id="Rea9c35d21bc34609"/>
              </a:rPr>
              <a:t>WHO · AMR fact sheet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F61F85-24B4-4633-BA74-D08ACEC1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14625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C4D7E6"/>
                </a:solidFill>
              </a:defRPr>
            </a:pPr>
            <a:r>
              <a:rPr sz="1350" b="0">
                <a:solidFill>
                  <a:srgbClr val="C4D7E6"/>
                </a:solidFill>
                <a:hlinkClick xmlns:r="http://schemas.openxmlformats.org/officeDocument/2006/relationships" r:id="R1151c41eaace4062"/>
              </a:rPr>
              <a:t>https://www.who.int/news-room/fact-sheets/detail/antimicrobial-resistance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30F8E9-5EDA-4434-A8BF-3C537CD7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57625"/>
            <a:ext cx="10810875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D40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ABFC4C-0F8D-4C03-93EA-4496BE08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4815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Questo modulo è divulgativo: non sostituisce indicazioni cliniche, veterinarie o regolatorie.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50C882-C68B-4D7F-9DE1-466DD1FD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C4D7E6"/>
                </a:solidFill>
              </a:defRPr>
            </a:pPr>
            <a:r>
              <a:rPr sz="825" b="1">
                <a:solidFill>
                  <a:srgbClr val="C4D7E6"/>
                </a:solidFill>
              </a:rPr>
              <a:t>Materiale prodotto per Sardinia One Health AMR Atlas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BD00B5-5C9E-4089-880A-19C230C60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A57B2A-C818-4126-A8EA-A83A0FE1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02 · SLIDE</a:t>
            </a:r>
          </a:p>
        </p:txBody>
      </p:sp>
    </p:spTree>
    <p:extLst>
      <p:ext uri="{BB962C8B-B14F-4D97-AF65-F5344CB8AC3E}">
        <p14:creationId xmlns:p14="http://schemas.microsoft.com/office/powerpoint/2010/main" val="6622107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2026-07-19T00:16:50.5330000Z</dcterms:created>
  <dcterms:modified xsi:type="dcterms:W3CDTF">2026-07-19T00:16:50.5330000Z</dcterms:modified>
</coreProperties>
</file>