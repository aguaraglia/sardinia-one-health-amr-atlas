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PRIMA DISTINZIONE
Batteri e virus: due biologie diverse
I batteri sono cellule. I virus non sono cellule e, per produrre nuove particelle virali, usano i meccanismi delle cellule che infettano. Questa differenza cambia completamente i possibili bersagli dei farmaci.
BATTERI
Organismi cellulari
Possiedono strutture e processi propri, come parete, membrane e ribosomi. Molti sono innocui o utili; alcuni possono causare infezioni.
VIRUS
Parassiti intracellulari obbligati
Contengono materiale genetico in un involucro e si replicano soltanto entrando in cellule ospiti compatibili.
i
“Microrganismo” non significa automaticamente “batterio”: identificare il tipo di agente è essenziale per parlare correttamente di terapia.
Fonti della scheda
ECDC · Factsheet per il pubblico ↗
WHO · AMR fact sheet, 2026 ↗</a:t>
            </a:r>
          </a:p>
          <a:p>
            <a:endParaRPr lang="it-IT"/>
          </a:p>
          <a:p>
            <a:r>
              <a:rPr lang="it-IT"/>
              <a:t>Fonti cliccabili:</a:t>
            </a:r>
          </a:p>
          <a:p>
            <a:r>
              <a:rPr lang="it-IT"/>
              <a:t>ECDC · Factsheet per il pubblico ↗: https://www.ecdc.europa.eu/en/antimicrobial-resistance/facts/factsheets/general-public</a:t>
            </a:r>
          </a:p>
          <a:p>
            <a:r>
              <a:rPr lang="it-IT"/>
              <a:t>WHO · AMR fact sheet, 2026 ↗: https://www.who.int/news-room/fact-sheets/detail/antimicrobial-resistance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BERSAGLIO
Un antibiotico cerca strutture batteriche
Le diverse classi di antibiotici interferiscono con bersagli presenti nei batteri. Un virus non possiede quegli stessi apparati: per questo un antibiotico non può eliminare raffreddore o influenza.
BERSAGLI POSSIBILI NEL BATTERIO
Parete
costruzione dell’involucro
Ribosoma
sintesi delle proteine
DNA e metabolismo
replicazione e vie essenziali
Nel virus questi bersagli non ci sono
Le infezioni virali, quando richiedono una terapia specifica, si trattano con antivirali adatti a quel virus e a quel quadro clinico.
i
“Non funziona contro i virus” non significa che gli antibiotici siano deboli: significa che sono progettati per altri bersagli biologici.
Fonti della scheda
ECDC · Che cosa sono gli antibiotici ↗
WHO Europe · Antimicrobial resistance ↗</a:t>
            </a:r>
          </a:p>
          <a:p>
            <a:endParaRPr lang="it-IT"/>
          </a:p>
          <a:p>
            <a:r>
              <a:rPr lang="it-IT"/>
              <a:t>Fonti cliccabili:</a:t>
            </a:r>
          </a:p>
          <a:p>
            <a:r>
              <a:rPr lang="it-IT"/>
              <a:t>ECDC · Che cosa sono gli antibiotici ↗: https://www.ecdc.europa.eu/en/antimicrobial-resistance/facts/factsheets/general-public</a:t>
            </a:r>
          </a:p>
          <a:p>
            <a:r>
              <a:rPr lang="it-IT"/>
              <a:t>WHO Europe · Antimicrobial resistance ↗: https://www.who.int/europe/news-room/fact-sheets/item/antimicrobial-resistance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DAL SINTOMO ALLA CAUSA
Il sintomo non identifica il microrganismo
Febbre, tosse o mal di gola descrivono ciò che una persona avverte, non la causa. Quadri simili possono dipendere da virus, batteri o condizioni non infettive.
SEGNALI OSSERVATI
febbre
tosse
mal di gola
Possibile causa virale
Per esempio influenza o molte infezioni respiratorie comuni.
Possibile causa batterica
Per esempio alcune polmoniti, faringiti o infezioni urinarie.
Possibile causa non infettiva
Infiammazione, allergia o altre condizioni possono produrre segnali sovrapposti.
i
La scelta non può essere “sintomo = antibiotico”: servono valutazione clinica e, quando appropriato, esami diagnostici.
Fonti della scheda
AIFA · Uso consapevole degli antibiotici 2025 ↗
WHO Europe · Stewardship e diagnostica ↗</a:t>
            </a:r>
          </a:p>
          <a:p>
            <a:endParaRPr lang="it-IT"/>
          </a:p>
          <a:p>
            <a:r>
              <a:rPr lang="it-IT"/>
              <a:t>Fonti cliccabili:</a:t>
            </a:r>
          </a:p>
          <a:p>
            <a:r>
              <a:rPr lang="it-IT"/>
              <a:t>AIFA · Uso consapevole degli antibiotici 2025 ↗: https://www.aifa.gov.it/campagna-sull-uso-consapevole-degli-antibiotici-2025</a:t>
            </a:r>
          </a:p>
          <a:p>
            <a:r>
              <a:rPr lang="it-IT"/>
              <a:t>WHO Europe · Stewardship e diagnostica ↗: https://www.who.int/europe/news-room/fact-sheets/item/antimicrobial-resistance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UN ERRORE FREQUENTE
Raffreddore e influenza non si curano con antibiotici
Raffreddore e influenza sono causati da virus. Prendere un antibiotico non elimina il virus e non abbassa automaticamente febbre, tosse o starnuti.
INFEZIONE VIRALE
Raffreddore
Gli antibiotici non agiscono sui virus responsabili.
Influenza
Un antibiotico non sostituisce la valutazione né un eventuale antivirale indicato.
La cautela che conta
Un’infezione virale può talvolta complicarsi o coesistere con un’infezione batterica. Solo la valutazione professionale distingue i quadri.
i
Assumere un antibiotico “per sicurezza” espone a effetti indesiderati e aumenta la pressione selettiva senza offrire beneficio contro il virus.
Fonti della scheda
ECDC · Uso inappropriato ↗
AIFA · Campagna 2025 ↗</a:t>
            </a:r>
          </a:p>
          <a:p>
            <a:endParaRPr lang="it-IT"/>
          </a:p>
          <a:p>
            <a:r>
              <a:rPr lang="it-IT"/>
              <a:t>Fonti cliccabili:</a:t>
            </a:r>
          </a:p>
          <a:p>
            <a:r>
              <a:rPr lang="it-IT"/>
              <a:t>ECDC · Uso inappropriato ↗: https://www.ecdc.europa.eu/en/antimicrobial-resistance/facts/factsheets/general-public</a:t>
            </a:r>
          </a:p>
          <a:p>
            <a:r>
              <a:rPr lang="it-IT"/>
              <a:t>AIFA · Campagna 2025 ↗: https://www.aifa.gov.it/campagna-sull-uso-consapevole-degli-antibiotici-2025</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LA DECISIONE
La prescrizione è un percorso, non un automatismo
L’uso appropriato integra la probabilità di un’infezione batterica, la gravità, le caratteristiche della persona, le linee guida e, quando utili, i test diagnostici.
01
Valutare
Sintomi, esame clinico, durata, fattori di rischio e possibili diagnosi alternative.
→
02
Documentare
Usare test microbiologici o altri esami quando possono cambiare la decisione.
→
03
Scegliere
Se necessario, selezionare farmaco, dose, via e durata secondo evidenze e dati locali.
→
04
Rivalutare
Controllare risposta ed esiti; modificare la strategia quando emergono nuove informazioni.
i
Appropriato non significa “mai antibiotici”: significa usarli quando il beneficio atteso supera i rischi, con il farmaco e il regime più adatti.
Fonti della scheda
WHO Europe · AMR e stewardship ↗
AIFA · Uso consapevole 2025 ↗</a:t>
            </a:r>
          </a:p>
          <a:p>
            <a:endParaRPr lang="it-IT"/>
          </a:p>
          <a:p>
            <a:r>
              <a:rPr lang="it-IT"/>
              <a:t>Fonti cliccabili:</a:t>
            </a:r>
          </a:p>
          <a:p>
            <a:r>
              <a:rPr lang="it-IT"/>
              <a:t>WHO Europe · AMR e stewardship ↗: https://www.who.int/europe/news-room/fact-sheets/item/antimicrobial-resistance</a:t>
            </a:r>
          </a:p>
          <a:p>
            <a:r>
              <a:rPr lang="it-IT"/>
              <a:t>AIFA · Uso consapevole 2025 ↗: https://www.aifa.gov.it/campagna-sull-uso-consapevole-degli-antibiotici-2025</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COMPORTAMENTI UTILI
Sei regole proteggono persone e terapie
L’efficacia degli antibiotici è una risorsa condivisa. Le azioni individuali non sostituiscono la responsabilità dei sistemi sanitari, ma contribuiscono a ridurre uso improprio e infezioni evitabili.
1
Consultare medico o professionista sanitario prima di assumere un antibiotico.
2
Seguire dose, orari e durata prescritti; chiedere chiarimenti se qualcosa non è comprensibile.
3
Non condividere antibiotici con altre persone, anche se i sintomi sembrano uguali.
4
Non riutilizzare avanzi per una nuova malattia senza una nuova valutazione.
5
Smaltire correttamente i medicinali residui chiedendo indicazioni al farmacista.
6
Prevenire le infezioni con igiene, vaccinazioni appropriate e comportamenti raccomandati.
i
Non interrompere, prolungare o modificare autonomamente una terapia: se compaiono problemi o dubbi, contattare chi l’ha prescritta.
Fonti della scheda
ECDC · Cosa possono fare i pazienti ↗
AIFA · Uso consapevole 2025 ↗</a:t>
            </a:r>
          </a:p>
          <a:p>
            <a:endParaRPr lang="it-IT"/>
          </a:p>
          <a:p>
            <a:r>
              <a:rPr lang="it-IT"/>
              <a:t>Fonti cliccabili:</a:t>
            </a:r>
          </a:p>
          <a:p>
            <a:r>
              <a:rPr lang="it-IT"/>
              <a:t>ECDC · Cosa possono fare i pazienti ↗: https://www.ecdc.europa.eu/en/antimicrobial-resistance/facts/factsheets/general-public</a:t>
            </a:r>
          </a:p>
          <a:p>
            <a:r>
              <a:rPr lang="it-IT"/>
              <a:t>AIFA · Uso consapevole 2025 ↗: https://www.aifa.gov.it/campagna-sull-uso-consapevole-degli-antibiotici-2025</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who.int/news-room/fact-sheets/detail/antimicrobial-resistance" TargetMode="External"/><Relationship Id="rId4" Type="http://schemas.openxmlformats.org/officeDocument/2006/relationships/hyperlink" Target="https://www.ecdc.europa.eu/en/antimicrobial-resistance/facts/factsheets/general-public"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www.who.int/europe/news-room/fact-sheets/item/antimicrobial-resistance" TargetMode="External"/><Relationship Id="rId4" Type="http://schemas.openxmlformats.org/officeDocument/2006/relationships/hyperlink" Target="https://www.ecdc.europa.eu/en/antimicrobial-resistance/facts/factsheets/general-public"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who.int/europe/news-room/fact-sheets/item/antimicrobial-resistance" TargetMode="External"/><Relationship Id="rId4" Type="http://schemas.openxmlformats.org/officeDocument/2006/relationships/hyperlink" Target="https://www.aifa.gov.it/campagna-sull-uso-consapevole-degli-antibiotici-2025"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www.aifa.gov.it/campagna-sull-uso-consapevole-degli-antibiotici-2025" TargetMode="External"/><Relationship Id="rId4" Type="http://schemas.openxmlformats.org/officeDocument/2006/relationships/hyperlink" Target="https://www.ecdc.europa.eu/en/antimicrobial-resistance/facts/factsheets/general-public"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www.aifa.gov.it/campagna-sull-uso-consapevole-degli-antibiotici-2025" TargetMode="External"/><Relationship Id="rId4" Type="http://schemas.openxmlformats.org/officeDocument/2006/relationships/hyperlink" Target="https://www.who.int/europe/news-room/fact-sheets/item/antimicrobial-resista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www.aifa.gov.it/campagna-sull-uso-consapevole-degli-antibiotici-2025" TargetMode="External"/><Relationship Id="rId4" Type="http://schemas.openxmlformats.org/officeDocument/2006/relationships/hyperlink" Target="https://www.ecdc.europa.eu/en/antimicrobial-resistance/facts/factsheets/general-publi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1_11" descr="ECDC · Factsheet per il pubblico ↗">
            <a:hlinkClick r:id="rId4"/>
            <a:extLst>
              <a:ext uri="{FF2B5EF4-FFF2-40B4-BE49-F238E27FC236}">
                <a16:creationId xmlns:a16="http://schemas.microsoft.com/office/drawing/2014/main" id="{E7A7C83B-86D4-0A99-889B-E2905D3229FE}"/>
              </a:ext>
            </a:extLst>
          </p:cNvPr>
          <p:cNvSpPr/>
          <p:nvPr/>
        </p:nvSpPr>
        <p:spPr>
          <a:xfrm>
            <a:off x="1660178" y="5101530"/>
            <a:ext cx="1709886"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1_12" descr="WHO · AMR fact sheet, 2026 ↗">
            <a:hlinkClick r:id="rId5"/>
            <a:extLst>
              <a:ext uri="{FF2B5EF4-FFF2-40B4-BE49-F238E27FC236}">
                <a16:creationId xmlns:a16="http://schemas.microsoft.com/office/drawing/2014/main" id="{74E9BAC8-ACCB-DB32-F818-04898470FFC6}"/>
              </a:ext>
            </a:extLst>
          </p:cNvPr>
          <p:cNvSpPr/>
          <p:nvPr/>
        </p:nvSpPr>
        <p:spPr>
          <a:xfrm>
            <a:off x="3491954" y="5101530"/>
            <a:ext cx="1537841"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3575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2_13" descr="ECDC · Che cosa sono gli antibiotici ↗">
            <a:hlinkClick r:id="rId4"/>
            <a:extLst>
              <a:ext uri="{FF2B5EF4-FFF2-40B4-BE49-F238E27FC236}">
                <a16:creationId xmlns:a16="http://schemas.microsoft.com/office/drawing/2014/main" id="{4B9BC577-B5D4-1CB2-6135-BC9748958768}"/>
              </a:ext>
            </a:extLst>
          </p:cNvPr>
          <p:cNvSpPr/>
          <p:nvPr/>
        </p:nvSpPr>
        <p:spPr>
          <a:xfrm>
            <a:off x="1660178" y="5101530"/>
            <a:ext cx="1883717"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2_14" descr="WHO Europe · Antimicrobial resistance ↗">
            <a:hlinkClick r:id="rId5"/>
            <a:extLst>
              <a:ext uri="{FF2B5EF4-FFF2-40B4-BE49-F238E27FC236}">
                <a16:creationId xmlns:a16="http://schemas.microsoft.com/office/drawing/2014/main" id="{E9544E5F-2DAD-D476-A819-82E8CF52C916}"/>
              </a:ext>
            </a:extLst>
          </p:cNvPr>
          <p:cNvSpPr/>
          <p:nvPr/>
        </p:nvSpPr>
        <p:spPr>
          <a:xfrm>
            <a:off x="3665786" y="5101530"/>
            <a:ext cx="2030015"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759827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3_15" descr="AIFA · Uso consapevole degli antibiotici 2025 ↗">
            <a:hlinkClick r:id="rId4"/>
            <a:extLst>
              <a:ext uri="{FF2B5EF4-FFF2-40B4-BE49-F238E27FC236}">
                <a16:creationId xmlns:a16="http://schemas.microsoft.com/office/drawing/2014/main" id="{F35FEF03-03D4-DF20-FF21-E8519AA3FB6D}"/>
              </a:ext>
            </a:extLst>
          </p:cNvPr>
          <p:cNvSpPr/>
          <p:nvPr/>
        </p:nvSpPr>
        <p:spPr>
          <a:xfrm>
            <a:off x="1660178" y="5111055"/>
            <a:ext cx="2344936"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3_16" descr="WHO Europe · Stewardship e diagnostica ↗">
            <a:hlinkClick r:id="rId5"/>
            <a:extLst>
              <a:ext uri="{FF2B5EF4-FFF2-40B4-BE49-F238E27FC236}">
                <a16:creationId xmlns:a16="http://schemas.microsoft.com/office/drawing/2014/main" id="{628E040F-EE6A-1421-C8AB-9D13B218FD43}"/>
              </a:ext>
            </a:extLst>
          </p:cNvPr>
          <p:cNvSpPr/>
          <p:nvPr/>
        </p:nvSpPr>
        <p:spPr>
          <a:xfrm>
            <a:off x="4127004" y="5111055"/>
            <a:ext cx="2149525"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21571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4_17" descr="ECDC · Uso inappropriato ↗">
            <a:hlinkClick r:id="rId4"/>
            <a:extLst>
              <a:ext uri="{FF2B5EF4-FFF2-40B4-BE49-F238E27FC236}">
                <a16:creationId xmlns:a16="http://schemas.microsoft.com/office/drawing/2014/main" id="{4E83EC4F-B3C3-7748-6666-22FCF60DD09D}"/>
              </a:ext>
            </a:extLst>
          </p:cNvPr>
          <p:cNvSpPr/>
          <p:nvPr/>
        </p:nvSpPr>
        <p:spPr>
          <a:xfrm>
            <a:off x="1660178" y="5643265"/>
            <a:ext cx="1377553"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4_18" descr="AIFA · Campagna 2025 ↗">
            <a:hlinkClick r:id="rId5"/>
            <a:extLst>
              <a:ext uri="{FF2B5EF4-FFF2-40B4-BE49-F238E27FC236}">
                <a16:creationId xmlns:a16="http://schemas.microsoft.com/office/drawing/2014/main" id="{6E01924D-C830-52CA-1A10-255471E52B1D}"/>
              </a:ext>
            </a:extLst>
          </p:cNvPr>
          <p:cNvSpPr/>
          <p:nvPr/>
        </p:nvSpPr>
        <p:spPr>
          <a:xfrm>
            <a:off x="3159621" y="5643265"/>
            <a:ext cx="1246733"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11408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5_19" descr="WHO Europe · AMR e stewardship ↗">
            <a:hlinkClick r:id="rId4"/>
            <a:extLst>
              <a:ext uri="{FF2B5EF4-FFF2-40B4-BE49-F238E27FC236}">
                <a16:creationId xmlns:a16="http://schemas.microsoft.com/office/drawing/2014/main" id="{D1EDB340-589B-A245-D947-E8DF007F8650}"/>
              </a:ext>
            </a:extLst>
          </p:cNvPr>
          <p:cNvSpPr/>
          <p:nvPr/>
        </p:nvSpPr>
        <p:spPr>
          <a:xfrm>
            <a:off x="1660178" y="5586115"/>
            <a:ext cx="1798736"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5_20" descr="AIFA · Uso consapevole 2025 ↗">
            <a:hlinkClick r:id="rId5"/>
            <a:extLst>
              <a:ext uri="{FF2B5EF4-FFF2-40B4-BE49-F238E27FC236}">
                <a16:creationId xmlns:a16="http://schemas.microsoft.com/office/drawing/2014/main" id="{EB2C21C8-B954-3E80-A2BF-6A3A1D2252AC}"/>
              </a:ext>
            </a:extLst>
          </p:cNvPr>
          <p:cNvSpPr/>
          <p:nvPr/>
        </p:nvSpPr>
        <p:spPr>
          <a:xfrm>
            <a:off x="3580805" y="5586115"/>
            <a:ext cx="1565374"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2882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6_21" descr="ECDC · Cosa possono fare i pazienti ↗">
            <a:hlinkClick r:id="rId4"/>
            <a:extLst>
              <a:ext uri="{FF2B5EF4-FFF2-40B4-BE49-F238E27FC236}">
                <a16:creationId xmlns:a16="http://schemas.microsoft.com/office/drawing/2014/main" id="{E00D0962-C951-9C6C-7D00-91D2B723E4B1}"/>
              </a:ext>
            </a:extLst>
          </p:cNvPr>
          <p:cNvSpPr/>
          <p:nvPr/>
        </p:nvSpPr>
        <p:spPr>
          <a:xfrm>
            <a:off x="1660178" y="5101530"/>
            <a:ext cx="1900535"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6_22" descr="AIFA · Uso consapevole 2025 ↗">
            <a:hlinkClick r:id="rId5"/>
            <a:extLst>
              <a:ext uri="{FF2B5EF4-FFF2-40B4-BE49-F238E27FC236}">
                <a16:creationId xmlns:a16="http://schemas.microsoft.com/office/drawing/2014/main" id="{1DE0B2EF-34CD-70AA-3435-A5BE67D7B41D}"/>
              </a:ext>
            </a:extLst>
          </p:cNvPr>
          <p:cNvSpPr/>
          <p:nvPr/>
        </p:nvSpPr>
        <p:spPr>
          <a:xfrm>
            <a:off x="3682603" y="5101530"/>
            <a:ext cx="1565374"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8980072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DocSecurity>0</DocSecurity>
  <PresentationFormat>Widescreen</PresentationFormat>
  <Paragraphs>30</Paragraphs>
  <Slides>6</Slides>
  <Notes>6</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6</vt:i4>
      </vt:variant>
    </vt:vector>
  </HeadingPairs>
  <TitlesOfParts>
    <vt:vector size="8" baseType="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GUARAGLIA Alessandro</cp:lastModifiedBy>
  <cp:revision>1</cp:revision>
  <dcterms:created xsi:type="dcterms:W3CDTF">2026-07-23T19:03:34Z</dcterms:created>
  <dcterms:modified xsi:type="dcterms:W3CDTF">2026-07-23T19:04:45Z</dcterms:modified>
</cp:coreProperties>
</file>