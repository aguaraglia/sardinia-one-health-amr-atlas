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79b5c9de88488f" /><Relationship Type="http://schemas.openxmlformats.org/officeDocument/2006/relationships/extended-properties" Target="/docProps/app.xml" Id="R49d49c2ab8c94331" /><Relationship Type="http://schemas.openxmlformats.org/officeDocument/2006/relationships/officeDocument" Target="/ppt/presentation.xml" Id="R258c7d8140a8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852df54144544"/>
  </p:sldMasterIdLst>
  <p:notesMasterIdLst>
    <p:notesMasterId xmlns:r="http://schemas.openxmlformats.org/officeDocument/2006/relationships" r:id="R878333c9df9a4a14"/>
  </p:notesMasterIdLst>
  <p:sldIdLst>
    <p:sldId xmlns:r="http://schemas.openxmlformats.org/officeDocument/2006/relationships" id="256" r:id="R771421674f1c4aee"/>
    <p:sldId xmlns:r="http://schemas.openxmlformats.org/officeDocument/2006/relationships" id="257" r:id="R0887f7d7523d4c6a"/>
    <p:sldId xmlns:r="http://schemas.openxmlformats.org/officeDocument/2006/relationships" id="258" r:id="Ra1ba6e69ab9c4c27"/>
    <p:sldId xmlns:r="http://schemas.openxmlformats.org/officeDocument/2006/relationships" id="259" r:id="R9f3c9442725e4843"/>
    <p:sldId xmlns:r="http://schemas.openxmlformats.org/officeDocument/2006/relationships" id="260" r:id="R38b526da11cf4a0a"/>
    <p:sldId xmlns:r="http://schemas.openxmlformats.org/officeDocument/2006/relationships" id="261" r:id="R79c31ad0248348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49551fd8934e7a" /><Relationship Type="http://schemas.openxmlformats.org/officeDocument/2006/relationships/slideMaster" Target="/ppt/slideMasters/slideMaster1.xml" Id="Rc1a852df54144544" /><Relationship Type="http://schemas.openxmlformats.org/officeDocument/2006/relationships/notesMaster" Target="/ppt/notesMasters/notesMaster1.xml" Id="R878333c9df9a4a14" /><Relationship Type="http://schemas.openxmlformats.org/officeDocument/2006/relationships/presProps" Target="/ppt/presProps.xml" Id="R06eba3a1f990461b" /><Relationship Type="http://schemas.openxmlformats.org/officeDocument/2006/relationships/tableStyles" Target="/ppt/tableStyles.xml" Id="R09cbc73fa6874740" /><Relationship Type="http://schemas.openxmlformats.org/officeDocument/2006/relationships/slide" Target="/ppt/slides/slide1.xml" Id="R771421674f1c4aee" /><Relationship Type="http://schemas.openxmlformats.org/officeDocument/2006/relationships/slide" Target="/ppt/slides/slide2.xml" Id="R0887f7d7523d4c6a" /><Relationship Type="http://schemas.openxmlformats.org/officeDocument/2006/relationships/slide" Target="/ppt/slides/slide3.xml" Id="Ra1ba6e69ab9c4c27" /><Relationship Type="http://schemas.openxmlformats.org/officeDocument/2006/relationships/slide" Target="/ppt/slides/slide4.xml" Id="R9f3c9442725e4843" /><Relationship Type="http://schemas.openxmlformats.org/officeDocument/2006/relationships/slide" Target="/ppt/slides/slide5.xml" Id="R38b526da11cf4a0a" /><Relationship Type="http://schemas.openxmlformats.org/officeDocument/2006/relationships/slide" Target="/ppt/slides/slide6.xml" Id="R79c31ad02483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0b711d7d84c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b6d8583a454eb1" /><Relationship Type="http://schemas.openxmlformats.org/officeDocument/2006/relationships/notesMaster" Target="/ppt/notesMasters/notesMaster1.xml" Id="R9cd15deedd63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cdb61d17724272" /><Relationship Type="http://schemas.openxmlformats.org/officeDocument/2006/relationships/notesMaster" Target="/ppt/notesMasters/notesMaster1.xml" Id="R9090656fc016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4314e0709549a8" /><Relationship Type="http://schemas.openxmlformats.org/officeDocument/2006/relationships/notesMaster" Target="/ppt/notesMasters/notesMaster1.xml" Id="R94691b6127d149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036918ef6b4c99" /><Relationship Type="http://schemas.openxmlformats.org/officeDocument/2006/relationships/notesMaster" Target="/ppt/notesMasters/notesMaster1.xml" Id="R4e128f6c755d4a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c008e224b948e2" /><Relationship Type="http://schemas.openxmlformats.org/officeDocument/2006/relationships/notesMaster" Target="/ppt/notesMasters/notesMaster1.xml" Id="R8e53d56946cb47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25ad627e934dbc" /><Relationship Type="http://schemas.openxmlformats.org/officeDocument/2006/relationships/notesMaster" Target="/ppt/notesMasters/notesMaster1.xml" Id="R3cfa44d9043949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La resistenza nasce nei microrganismi e si diffonde in contesti reali. Introduci il tema con una domanda semplice e collega l’illustrazione al messaggio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Spiega il concetto centrale: Nelle popolazioni batteriche esistono differenze: alcuni ceppi possono sopravvivere al trattamento.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Svela i tre punti uno alla volta. Riprendi: Nelle popolazioni batteriche esistono differenze: alcuni ceppi possono sopravvivere al trattamento. Geni e plasmidi possono favorire la trasmissione di caratteristiche di resistenza. Non sono le persone a diventare resistenti: lo diventano alcuni batteri.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Contrasta interpretazione corretta e scorciatoia da evitare. Enfatizza che il contesto è parte del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Concludi con un’azione concreta: Ridurre usi non necessari e prevenire infezioni riduce la pressione selettiva.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Mostra le fonti cliccabili e invita a verificare il contesto originale prima di riutilizzare un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69bf1a7c845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b7e17786b94d81" /><Relationship Type="http://schemas.openxmlformats.org/officeDocument/2006/relationships/slideLayout" Target="/ppt/slideLayouts/slideLayout1.xml" Id="R20a64a532e144e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a64a532e144e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7446b7b564acc" /><Relationship Type="http://schemas.openxmlformats.org/officeDocument/2006/relationships/image" Target="/ppt/media/image.png" Id="R07b8c5e433404d66" /><Relationship Type="http://schemas.openxmlformats.org/officeDocument/2006/relationships/notesSlide" Target="/ppt/notesSlides/notesSlide1.xml" Id="R974f27b4f4f449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9d03dd4f4844" /><Relationship Type="http://schemas.openxmlformats.org/officeDocument/2006/relationships/notesSlide" Target="/ppt/notesSlides/notesSlide2.xml" Id="R4fcdea1053e5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3a51b69774874" /><Relationship Type="http://schemas.openxmlformats.org/officeDocument/2006/relationships/notesSlide" Target="/ppt/notesSlides/notesSlide3.xml" Id="Re03d4a9446c4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6fda81434872" /><Relationship Type="http://schemas.openxmlformats.org/officeDocument/2006/relationships/notesSlide" Target="/ppt/notesSlides/notesSlide4.xml" Id="R0858e1b664a14c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38f2c7f274f44" /><Relationship Type="http://schemas.openxmlformats.org/officeDocument/2006/relationships/hyperlink" Target="https://aguaraglia.github.io/sardinia-one-health-amr-atlas/" TargetMode="External" Id="R03d723f197fa4cd0" /><Relationship Type="http://schemas.openxmlformats.org/officeDocument/2006/relationships/notesSlide" Target="/ppt/notesSlides/notesSlide5.xml" Id="R5869058d14fd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49fcaae0a4b75" /><Relationship Type="http://schemas.openxmlformats.org/officeDocument/2006/relationships/hyperlink" Target="https://www.who.int/health-topics/antimicrobial-resistance" TargetMode="External" Id="R2ff4d7e2ae974df7" /><Relationship Type="http://schemas.openxmlformats.org/officeDocument/2006/relationships/hyperlink" Target="https://www.who.int/health-topics/antimicrobial-resistance" TargetMode="External" Id="R1b7c9fb0288943ca" /><Relationship Type="http://schemas.openxmlformats.org/officeDocument/2006/relationships/notesSlide" Target="/ppt/notesSlides/notesSlide6.xml" Id="R8477c762d4104b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8c5e433404d66"/>
          <a:srcRect xmlns:a="http://schemas.openxmlformats.org/drawingml/2006/main" l="0" t="12222" r="0" b="1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91B96-7662-44A7-AD0F-9BE99AEF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69049-FDC1-43B3-814C-CA339D89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B466D-3CD2-4D23-B14D-350CBEB4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2C56"/>
                </a:solidFill>
              </a:defRPr>
            </a:pPr>
            <a:r>
              <a:rPr sz="900" b="1">
                <a:solidFill>
                  <a:srgbClr val="062C56"/>
                </a:solidFill>
              </a:rPr>
              <a:t>MODULO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F5B9E-3058-4652-A5E1-5B2044A5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Come nasce l’AMR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3C90A-6733-4365-A1AA-E64D0D6B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DF3"/>
                </a:solidFill>
              </a:defRPr>
            </a:pPr>
            <a:r>
              <a:rPr sz="1725" b="0">
                <a:solidFill>
                  <a:srgbClr val="D6EDF3"/>
                </a:solidFill>
              </a:rPr>
              <a:t>La resistenza nasce nei microrganismi e si diffonde in contesti reali.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5B61E-5592-4008-AE74-123E561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9C8DB"/>
                </a:solidFill>
              </a:defRPr>
            </a:pPr>
            <a:r>
              <a:rPr sz="1050" b="1">
                <a:solidFill>
                  <a:srgbClr val="49C8DB"/>
                </a:solidFill>
              </a:rPr>
              <a:t>Video-slide divulgativo · Sardinia One Health AMR Atlas</a:t>
            </a:r>
          </a:p>
        </p:txBody>
      </p:sp>
    </p:spTree>
    <p:extLst>
      <p:ext uri="{BB962C8B-B14F-4D97-AF65-F5344CB8AC3E}">
        <p14:creationId xmlns:p14="http://schemas.microsoft.com/office/powerpoint/2010/main" val="2085239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04183-AAC6-466D-B590-7F1D61E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32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62C56"/>
                </a:solidFill>
              </a:defRPr>
            </a:pPr>
            <a:r>
              <a:rPr sz="3150" b="1">
                <a:solidFill>
                  <a:srgbClr val="062C56"/>
                </a:solidFill>
              </a:rPr>
              <a:t>La resistenza nasce nei microrganismi e si diffonde in contesti reali.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88469-24E0-4809-9B44-BE232A5E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La domanda che guida questo modulo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235F-94E7-4966-BAB9-46D1F7D2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C92A9-E902-4523-BB7A-D65B58F2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2C56"/>
                </a:solidFill>
              </a:defRPr>
            </a:pPr>
            <a:r>
              <a:rPr sz="2325" b="1">
                <a:solidFill>
                  <a:srgbClr val="062C56"/>
                </a:solidFill>
              </a:rPr>
              <a:t>Nelle popolazioni batteriche esistono differenze: alcuni ceppi possono sopravvivere al trattamento.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087C0-5335-45B3-A01A-C9528E40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65F"/>
                </a:solidFill>
              </a:defRPr>
            </a:pPr>
            <a:r>
              <a:rPr sz="1350" b="0">
                <a:solidFill>
                  <a:srgbClr val="31465F"/>
                </a:solidFill>
              </a:rPr>
              <a:t>Partiamo da un concetto chiaro, poi vediamo come usarlo nella vita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5E243-1F30-4180-81EB-F1775C60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59277-AABE-4F24-BD9E-1BBAEEA4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03 · SLIDE</a:t>
            </a:r>
          </a:p>
        </p:txBody>
      </p:sp>
    </p:spTree>
    <p:extLst>
      <p:ext uri="{BB962C8B-B14F-4D97-AF65-F5344CB8AC3E}">
        <p14:creationId xmlns:p14="http://schemas.microsoft.com/office/powerpoint/2010/main" val="192103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D51F3-C898-4D89-9E7F-FA63E141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Tre idee da portare con sé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F44E4-64F8-4EF1-8B13-80FC3E61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ECB64-26F5-4655-A286-08B6BE38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FB0FC-238D-4CFF-A2D3-EE0C2BCD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Nelle popolazioni batteriche esistono differenze: alcuni ceppi possono sopravvivere al trattamento.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F0955-6608-445B-999C-73F78D98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634EC-CD73-493D-8FFE-BEB86F85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885D0-4E70-4240-87B0-CFD8967D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Geni e plasmidi possono favorire la trasmissione di caratteristiche di resistenza.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5F58E-5327-4A59-BB86-031AD24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3A5D6-1BD4-4635-AEA2-515A801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C2CB8-5F91-416E-80A3-FD920076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Non sono le persone a diventare resistenti: lo diventano alcuni batteri.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4B438-2094-44FC-8A9C-23E45539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721DF-7D85-4E5D-99AA-9FB8CAE5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03 · SLIDE</a:t>
            </a:r>
          </a:p>
        </p:txBody>
      </p:sp>
    </p:spTree>
    <p:extLst>
      <p:ext uri="{BB962C8B-B14F-4D97-AF65-F5344CB8AC3E}">
        <p14:creationId xmlns:p14="http://schemas.microsoft.com/office/powerpoint/2010/main" val="1642493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084C0-1EE8-4A52-B900-3B2796B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Una lettura responsabile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90B64-BDAE-4C08-BCAC-D2ACDF7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7ACDF-18B7-45B3-BD51-173AB0F9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4483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902E1-86F6-4B81-A79E-FEF7B40C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16F24"/>
                </a:solidFill>
              </a:defRPr>
            </a:pPr>
            <a:r>
              <a:rPr sz="1500" b="1">
                <a:solidFill>
                  <a:srgbClr val="C16F24"/>
                </a:solidFill>
              </a:rPr>
              <a:t>Cosa possiamo dire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A4FCF-B4D1-471F-8787-8C631E10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2C56"/>
                </a:solidFill>
              </a:defRPr>
            </a:pPr>
            <a:r>
              <a:rPr sz="2025" b="1">
                <a:solidFill>
                  <a:srgbClr val="062C56"/>
                </a:solidFill>
              </a:rPr>
              <a:t>Geni e plasmidi possono favorire la trasmissione di caratteristiche di resistenza.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76DA7-67A5-4BFA-926B-76644907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DB"/>
                </a:solidFill>
              </a:defRPr>
            </a:pPr>
            <a:r>
              <a:rPr sz="1500" b="1">
                <a:solidFill>
                  <a:srgbClr val="49C8DB"/>
                </a:solidFill>
              </a:rPr>
              <a:t>Cosa non possiamo concludere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65082-2017-4945-A111-E86290E5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Non sono le persone a diventare resistenti: lo diventano alcuni batteri.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71CFB-22D5-47C4-8A8C-E218645E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3C5F5-F121-4882-B6C5-C21F5C8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03 · SLIDE</a:t>
            </a:r>
          </a:p>
        </p:txBody>
      </p:sp>
    </p:spTree>
    <p:extLst>
      <p:ext uri="{BB962C8B-B14F-4D97-AF65-F5344CB8AC3E}">
        <p14:creationId xmlns:p14="http://schemas.microsoft.com/office/powerpoint/2010/main" val="425952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88DF1-04FE-43AB-9F56-C1CB06C2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Dalla conoscenza all’azione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64FB4-4957-4129-A6CE-15C5B4C6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0F9A5-99B7-411E-8C0D-85BE3328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Ridurre usi non necessari e prevenire infezioni riduce la pressione selettiva.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075C6-F1B2-48DF-AA92-FE7D8B89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Approfondisci nel cruscotto pubblico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CA200-2768-434D-83A5-59E4E172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E8B"/>
                </a:solidFill>
              </a:defRPr>
            </a:pPr>
            <a:r>
              <a:rPr sz="1800" b="1">
                <a:solidFill>
                  <a:srgbClr val="176E8B"/>
                </a:solidFill>
                <a:hlinkClick xmlns:r="http://schemas.openxmlformats.org/officeDocument/2006/relationships" r:id="R03d723f197fa4cd0"/>
              </a:rPr>
              <a:t>Apri il Sardinia One Health AMR 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92792-0425-4D41-87BF-6D8CAEB8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6DDD3-DA4D-4411-8633-BD5CA687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03 · SLIDE</a:t>
            </a:r>
          </a:p>
        </p:txBody>
      </p:sp>
    </p:spTree>
    <p:extLst>
      <p:ext uri="{BB962C8B-B14F-4D97-AF65-F5344CB8AC3E}">
        <p14:creationId xmlns:p14="http://schemas.microsoft.com/office/powerpoint/2010/main" val="106066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A946B-7EF2-4E6E-90AC-15739889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Fonti e approfondimenti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6497B-6AC6-48C4-95D1-F7FD156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8DB"/>
                </a:solidFill>
              </a:defRPr>
            </a:pPr>
            <a:r>
              <a:rPr sz="1350" b="1">
                <a:solidFill>
                  <a:srgbClr val="49C8DB"/>
                </a:solidFill>
              </a:rPr>
              <a:t>Fonte essenziale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062AF-6AFC-4DE0-967D-0137237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hlinkClick xmlns:r="http://schemas.openxmlformats.org/officeDocument/2006/relationships" r:id="R2ff4d7e2ae974df7"/>
              </a:rPr>
              <a:t>WHO · Antimicrobial resistance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A0D3B-9C54-432B-B0BA-6AC8BD1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7E6"/>
                </a:solidFill>
              </a:defRPr>
            </a:pPr>
            <a:r>
              <a:rPr sz="1350" b="0">
                <a:solidFill>
                  <a:srgbClr val="C4D7E6"/>
                </a:solidFill>
                <a:hlinkClick xmlns:r="http://schemas.openxmlformats.org/officeDocument/2006/relationships" r:id="R1b7c9fb0288943ca"/>
              </a:rPr>
              <a:t>https://www.who.int/health-topics/antimicrobial-resistance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80C3D-58D1-4CCC-A320-6313EB72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10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4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A7C83-1846-4312-A01D-2D8F1F9F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Questo modulo è divulgativo: non sostituisce indicazioni cliniche, veterinarie o regolatorie.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24C4C-E30F-40CA-BE91-38D319C0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D7E6"/>
                </a:solidFill>
              </a:defRPr>
            </a:pPr>
            <a:r>
              <a:rPr sz="825" b="1">
                <a:solidFill>
                  <a:srgbClr val="C4D7E6"/>
                </a:solidFill>
              </a:rPr>
              <a:t>Materiale prodotto per Sardinia One Health AMR Atlas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63394-92D5-44FC-9831-19C4458E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74539-427F-4F14-87AD-FC8A900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03 · SLIDE</a:t>
            </a:r>
          </a:p>
        </p:txBody>
      </p:sp>
    </p:spTree>
    <p:extLst>
      <p:ext uri="{BB962C8B-B14F-4D97-AF65-F5344CB8AC3E}">
        <p14:creationId xmlns:p14="http://schemas.microsoft.com/office/powerpoint/2010/main" val="1040366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2026-07-19T00:16:51.2510000Z</dcterms:created>
  <dcterms:modified xsi:type="dcterms:W3CDTF">2026-07-19T00:16:51.2510000Z</dcterms:modified>
</coreProperties>
</file>