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VARIAZIONE
La resistenza non nasce perché il farmaco “insegna” al microbo
In una popolazione microbica esistono differenze genetiche. Quando un antimicrobico elimina i sensibili, le varianti che sopravvivono possono lasciare più discendenti.
POPOLAZIONE
variabilità
→
PRESSIONEantimicrobico
i sensibili diminuiscono
→
SELEZIONE
i resistenti diventano più frequenti
i
Il farmaco seleziona varianti già presenti o emerse: non rende resistente la persona.
Fonti della scheda
WHO · AMR fact sheet ↗
ECDC · Factsheet per il pubblico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AMR fact sheet ↗: https://www.who.int/news-room/fact-sheets/detail/antimicrobial-resistance</a:t>
            </a:r>
          </a:p>
          <a:p>
            <a:r>
              <a:rPr lang="it-IT"/>
              <a:t>ECDC · Factsheet per il pubblico ↗: https://www.ecdc.europa.eu/en/antimicrobial-resistance/facts/factsheets/general-public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GENE
La resistenza può essere un tratto del microrganismo
Un gene o una mutazione può cambiare il bersaglio del farmaco, impedirne l’ingresso o favorirne l’espulsione. Il fenotipo osservato è il risultato di questi meccanismi.
Bersaglio modificato
Il farmaco non si lega più bene.
Barriera
La molecola entra meno nella cellula.
Pompa di efflusso
Il composto viene espulso.
i
“Resistente” descrive una risposta misurata al farmaco; “gene di resistenza” descrive una possibile base molecolare.
Fonti della scheda
WHO · AMR ↗
ECDC · Antimicrobial resistance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AMR ↗: https://www.who.int/health-topics/antimicrobial-resistance</a:t>
            </a:r>
          </a:p>
          <a:p>
            <a:r>
              <a:rPr lang="it-IT"/>
              <a:t>ECDC · Antimicrobial resistance ↗: https://www.ecdc.europa.eu/en/antimicrobial-resistance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IL TRASFERIMENTO
I plasmidi possono portare geni tra batteri
Alcuni geni di resistenza sono su elementi genetici mobili. Il trasferimento orizzontale può avvenire tra batteri compatibili, ma non è automatico né uniforme.
Donatore
plasmide con gene AMR
→
gene
→
Ricevente
nuovo contesto genetico
i
La presenza di un gene non dimostra da sola che sia stato trasferito, espresso o trasmesso a una persona.
Fonti della scheda
WHO · Environmental dimensions of AMR ↗
NCBI Bookshelf · Horizontal gene transfer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Environmental dimensions of AMR ↗: https://www.who.int/publications/i/item/9789240052352</a:t>
            </a:r>
          </a:p>
          <a:p>
            <a:r>
              <a:rPr lang="it-IT"/>
              <a:t>NCBI Bookshelf · Horizontal gene transfer ↗: https://www.ncbi.nlm.nih.gov/books/NBK7908/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LA TRASMISSIONE
Per diffondersi servono contatti e condizioni favorevoli
Un microrganismo resistente può passare tra persone, animali o ambienti attraverso vie diverse. Igiene, isolamento, vaccinazione e uso appropriato interrompono anelli distinti della catena.
SELEZIONE
→
ESCREZIONE
→
CONTATTO
→
COLONIZZAZIONE
→
INFEZIONE
i
Una mappa di osservazioni non ricostruisce automaticamente la catena di trasmissione.
Fonti della scheda
WHO · AMR fact sheet ↗
ECDC · Infection prevention and control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AMR fact sheet ↗: https://www.who.int/news-room/fact-sheets/detail/antimicrobial-resistance</a:t>
            </a:r>
          </a:p>
          <a:p>
            <a:r>
              <a:rPr lang="it-IT"/>
              <a:t>ECDC · Infection prevention and control ↗: https://www.ecdc.europa.eu/en/antimicrobial-resistance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CHE COSA CAMBIA
Ogni intervento agisce su un anello diverso
Non esiste una singola soluzione. Diagnostica, stewardship, prevenzione delle infezioni, acqua sicura e sorveglianza riducono pressioni e opportunità in contesti diversi.
01
Prevenire
Vaccini, igiene, WASH.
02
Diagnosticare
Test prima della terapia quando appropriato.
03
Usare bene
Farmaco, dose e durata adeguati.
04
Sorvegliare
Dati comparabili e denominatori.
i
L’AMR è un problema biologico e organizzativo: le risposte devono essere coordinate.
Fonti della scheda
WHO · AMR work ↗
WHO · GAP-AMR 2026–2036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AMR work ↗: https://www.who.int/our-work/antimicrobial-resistance</a:t>
            </a:r>
          </a:p>
          <a:p>
            <a:r>
              <a:rPr lang="it-IT"/>
              <a:t>WHO · GAP-AMR 2026–2036 ↗: https://www.who.int/news/item/25-05-2026-the-world-health-assembly-adopts-updated-global-action-plan-on-antimicrobial-resistance-%282026-2036%29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UNA FRASE DA RICORDARE
La resistenza è una proprietà dei microrganismi
Le persone non diventano “resistenti agli antibiotici”. Possono però contrarre o ospitare microrganismi resistenti, e trasmetterli in condizioni favorevoli.
“Resistente”
descrive il microrganismo e la sua risposta al farmaco
“A rischio”
descrive una persona o un contesto, e richiede evidenze diverse
i
Usare parole precise evita stigma, allarmismo e interpretazioni sbagliate dei dati.
Fonti della scheda
WHO · AMR ↗</a:t>
            </a:r>
          </a:p>
          <a:p>
            <a:endParaRPr lang="it-IT"/>
          </a:p>
          <a:p>
            <a:r>
              <a:rPr lang="it-IT"/>
              <a:t>Fonti cliccabili:</a:t>
            </a:r>
          </a:p>
          <a:p>
            <a:r>
              <a:rPr lang="it-IT"/>
              <a:t>WHO · AMR ↗: https://www.who.int/health-topics/antimicrobial-resistance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ecdc.europa.eu/en/antimicrobial-resistance/facts/factsheets/general-public" TargetMode="External"/><Relationship Id="rId4" Type="http://schemas.openxmlformats.org/officeDocument/2006/relationships/hyperlink" Target="https://www.who.int/news-room/fact-sheets/detail/antimicrobial-resistance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ecdc.europa.eu/en/antimicrobial-resistance" TargetMode="External"/><Relationship Id="rId4" Type="http://schemas.openxmlformats.org/officeDocument/2006/relationships/hyperlink" Target="https://www.who.int/health-topics/antimicrobial-resistanc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ncbi.nlm.nih.gov/books/NBK7908/" TargetMode="External"/><Relationship Id="rId4" Type="http://schemas.openxmlformats.org/officeDocument/2006/relationships/hyperlink" Target="https://www.who.int/publications/i/item/9789240052352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ecdc.europa.eu/en/antimicrobial-resistance" TargetMode="External"/><Relationship Id="rId4" Type="http://schemas.openxmlformats.org/officeDocument/2006/relationships/hyperlink" Target="https://www.who.int/news-room/fact-sheets/detail/antimicrobial-resistanc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who.int/news/item/25-05-2026-the-world-health-assembly-adopts-updated-global-action-plan-on-antimicrobial-resistance-%282026-2036%29" TargetMode="External"/><Relationship Id="rId4" Type="http://schemas.openxmlformats.org/officeDocument/2006/relationships/hyperlink" Target="https://www.who.int/our-work/antimicrobial-resistanc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who.int/health-topics/antimicrobial-resistanc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1_23" descr="WHO · AMR fact sheet ↗">
            <a:hlinkClick r:id="rId4"/>
            <a:extLst>
              <a:ext uri="{FF2B5EF4-FFF2-40B4-BE49-F238E27FC236}">
                <a16:creationId xmlns:a16="http://schemas.microsoft.com/office/drawing/2014/main" id="{EB9EF668-9678-AC43-B58D-5D81D142F3B1}"/>
              </a:ext>
            </a:extLst>
          </p:cNvPr>
          <p:cNvSpPr/>
          <p:nvPr/>
        </p:nvSpPr>
        <p:spPr>
          <a:xfrm>
            <a:off x="1660178" y="5586115"/>
            <a:ext cx="1218158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1_24" descr="ECDC · Factsheet per il pubblico ↗">
            <a:hlinkClick r:id="rId5"/>
            <a:extLst>
              <a:ext uri="{FF2B5EF4-FFF2-40B4-BE49-F238E27FC236}">
                <a16:creationId xmlns:a16="http://schemas.microsoft.com/office/drawing/2014/main" id="{3E66E40E-57BB-386B-7EF2-76DDB43337E1}"/>
              </a:ext>
            </a:extLst>
          </p:cNvPr>
          <p:cNvSpPr/>
          <p:nvPr/>
        </p:nvSpPr>
        <p:spPr>
          <a:xfrm>
            <a:off x="3000226" y="5586115"/>
            <a:ext cx="1709887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2714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2_25" descr="WHO · AMR ↗">
            <a:hlinkClick r:id="rId4"/>
            <a:extLst>
              <a:ext uri="{FF2B5EF4-FFF2-40B4-BE49-F238E27FC236}">
                <a16:creationId xmlns:a16="http://schemas.microsoft.com/office/drawing/2014/main" id="{409D9960-8A33-2F05-F234-1A137BE4F4A6}"/>
              </a:ext>
            </a:extLst>
          </p:cNvPr>
          <p:cNvSpPr/>
          <p:nvPr/>
        </p:nvSpPr>
        <p:spPr>
          <a:xfrm>
            <a:off x="1660178" y="5586115"/>
            <a:ext cx="693539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2_26" descr="ECDC · Antimicrobial resistance ↗">
            <a:hlinkClick r:id="rId5"/>
            <a:extLst>
              <a:ext uri="{FF2B5EF4-FFF2-40B4-BE49-F238E27FC236}">
                <a16:creationId xmlns:a16="http://schemas.microsoft.com/office/drawing/2014/main" id="{A884B30F-9786-B09A-8E4D-A9C934136E3C}"/>
              </a:ext>
            </a:extLst>
          </p:cNvPr>
          <p:cNvSpPr/>
          <p:nvPr/>
        </p:nvSpPr>
        <p:spPr>
          <a:xfrm>
            <a:off x="2475607" y="5586115"/>
            <a:ext cx="1679079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3186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3_27" descr="WHO · Environmental dimensions of AMR ↗">
            <a:hlinkClick r:id="rId4"/>
            <a:extLst>
              <a:ext uri="{FF2B5EF4-FFF2-40B4-BE49-F238E27FC236}">
                <a16:creationId xmlns:a16="http://schemas.microsoft.com/office/drawing/2014/main" id="{1840E557-7456-6070-CA84-B75943DF2EDE}"/>
              </a:ext>
            </a:extLst>
          </p:cNvPr>
          <p:cNvSpPr/>
          <p:nvPr/>
        </p:nvSpPr>
        <p:spPr>
          <a:xfrm>
            <a:off x="1660178" y="5101530"/>
            <a:ext cx="215771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3_28" descr="NCBI Bookshelf · Horizontal gene transfer ↗">
            <a:hlinkClick r:id="rId5"/>
            <a:extLst>
              <a:ext uri="{FF2B5EF4-FFF2-40B4-BE49-F238E27FC236}">
                <a16:creationId xmlns:a16="http://schemas.microsoft.com/office/drawing/2014/main" id="{54D28153-E391-37F9-7ED2-C7B2A8079AA3}"/>
              </a:ext>
            </a:extLst>
          </p:cNvPr>
          <p:cNvSpPr/>
          <p:nvPr/>
        </p:nvSpPr>
        <p:spPr>
          <a:xfrm>
            <a:off x="3939778" y="5101530"/>
            <a:ext cx="2178993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04424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4_29" descr="WHO · AMR fact sheet ↗">
            <a:hlinkClick r:id="rId4"/>
            <a:extLst>
              <a:ext uri="{FF2B5EF4-FFF2-40B4-BE49-F238E27FC236}">
                <a16:creationId xmlns:a16="http://schemas.microsoft.com/office/drawing/2014/main" id="{966A2279-3474-5814-8ABB-CE5BB1FED5AC}"/>
              </a:ext>
            </a:extLst>
          </p:cNvPr>
          <p:cNvSpPr/>
          <p:nvPr/>
        </p:nvSpPr>
        <p:spPr>
          <a:xfrm>
            <a:off x="1660178" y="5586115"/>
            <a:ext cx="1218158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4_30" descr="ECDC · Infection prevention and control ↗">
            <a:hlinkClick r:id="rId5"/>
            <a:extLst>
              <a:ext uri="{FF2B5EF4-FFF2-40B4-BE49-F238E27FC236}">
                <a16:creationId xmlns:a16="http://schemas.microsoft.com/office/drawing/2014/main" id="{1B52ADAD-7C52-CECE-0657-76CFF528F21B}"/>
              </a:ext>
            </a:extLst>
          </p:cNvPr>
          <p:cNvSpPr/>
          <p:nvPr/>
        </p:nvSpPr>
        <p:spPr>
          <a:xfrm>
            <a:off x="3000226" y="5586115"/>
            <a:ext cx="2068860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566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5_31" descr="WHO · AMR work ↗">
            <a:hlinkClick r:id="rId4"/>
            <a:extLst>
              <a:ext uri="{FF2B5EF4-FFF2-40B4-BE49-F238E27FC236}">
                <a16:creationId xmlns:a16="http://schemas.microsoft.com/office/drawing/2014/main" id="{0527F6FE-6DDD-4ED3-6B62-879B6EED84FF}"/>
              </a:ext>
            </a:extLst>
          </p:cNvPr>
          <p:cNvSpPr/>
          <p:nvPr/>
        </p:nvSpPr>
        <p:spPr>
          <a:xfrm>
            <a:off x="1660178" y="5101530"/>
            <a:ext cx="969317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urceLink_5_32" descr="WHO · GAP-AMR 2026–2036 ↗">
            <a:hlinkClick r:id="rId5"/>
            <a:extLst>
              <a:ext uri="{FF2B5EF4-FFF2-40B4-BE49-F238E27FC236}">
                <a16:creationId xmlns:a16="http://schemas.microsoft.com/office/drawing/2014/main" id="{84332DE4-7000-1D51-8C19-5B6C78E074C0}"/>
              </a:ext>
            </a:extLst>
          </p:cNvPr>
          <p:cNvSpPr/>
          <p:nvPr/>
        </p:nvSpPr>
        <p:spPr>
          <a:xfrm>
            <a:off x="2751386" y="5101530"/>
            <a:ext cx="1551979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2839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ourceLink_6_33" descr="WHO · AMR ↗">
            <a:hlinkClick r:id="rId4"/>
            <a:extLst>
              <a:ext uri="{FF2B5EF4-FFF2-40B4-BE49-F238E27FC236}">
                <a16:creationId xmlns:a16="http://schemas.microsoft.com/office/drawing/2014/main" id="{7FE26BCA-1143-F7E4-C700-327E03B37C44}"/>
              </a:ext>
            </a:extLst>
          </p:cNvPr>
          <p:cNvSpPr/>
          <p:nvPr/>
        </p:nvSpPr>
        <p:spPr>
          <a:xfrm>
            <a:off x="1660178" y="5101530"/>
            <a:ext cx="693539" cy="147191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82227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902</Words>
  <Application>Microsoft Office PowerPoint</Application>
  <DocSecurity>0</DocSecurity>
  <PresentationFormat>Widescreen</PresentationFormat>
  <Paragraphs>29</Paragraphs>
  <Slides>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8" baseType="lpstr">
      <vt:lpstr>Calibri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GUARAGLIA Alessandro</cp:lastModifiedBy>
  <cp:revision>1</cp:revision>
  <dcterms:created xsi:type="dcterms:W3CDTF">2026-07-23T19:03:35Z</dcterms:created>
  <dcterms:modified xsi:type="dcterms:W3CDTF">2026-07-23T19:04:45Z</dcterms:modified>
</cp:coreProperties>
</file>